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312"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Thông tin bìa theo yêu cầu người dùng và báo cáo DOCX cuối.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DOCX: phần Tóm tắt, Chương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Ảnh demo: D:\OOP\Hệ thống đăng kí môn học\ho-so-nop-bai\anh-demo\Ảnh chụp màn hình (332).png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DOCX: bảng Repository nguồn, Chương 5, Chương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Diagram source: ho-so-nop-bai/so-do/component-diagram.mmd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Nguồn kỹ thuật: origin/main @ 7618c01</a:t>
            </a:r>
          </a:p>
          <a:p>
            <a:r>
              <a:t>backend/src/main/java/vn/edu/phenikaa/courseregistration/service/RegistrationService.java</a:t>
            </a:r>
          </a:p>
          <a:p>
            <a:r>
              <a:t>backend/src/main/java/vn/edu/phenikaa/courseregistration/interfaces/CourseValidator.java</a:t>
            </a:r>
          </a:p>
          <a:p>
            <a:r>
              <a:t>backend/src/main/java/vn/edu/phenikaa/courseregistration/utils/JsonFileUtils.java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Nguồn kỹ thuật: origin/main @ 7618c01</a:t>
            </a:r>
          </a:p>
          <a:p>
            <a:r>
              <a:t>backend/src/main/java/vn/edu/phenikaa/courseregistration/model/User.java</a:t>
            </a:r>
          </a:p>
          <a:p>
            <a:r>
              <a:t>backend/src/main/java/vn/edu/phenikaa/courseregistration/model/Student.java</a:t>
            </a:r>
          </a:p>
          <a:p>
            <a:r>
              <a:t>backend/src/main/java/vn/edu/phenikaa/courseregistration/model/Lecturer.java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Nguồn kỹ thuật: origin/main @ 7618c01</a:t>
            </a:r>
          </a:p>
          <a:p>
            <a:r>
              <a:t>backend/src/main/java/vn/edu/phenikaa/courseregistration/interfaces/CourseValidator.java</a:t>
            </a:r>
          </a:p>
          <a:p>
            <a:r>
              <a:t>backend/src/main/java/vn/edu/phenikaa/courseregistration/interfaces/Registrable.java</a:t>
            </a:r>
          </a:p>
          <a:p>
            <a:r>
              <a:t>backend/src/main/java/vn/edu/phenikaa/courseregistration/service/RegistrationService.java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Nguồn kỹ thuật: origin/main @ 7618c01</a:t>
            </a:r>
          </a:p>
          <a:p>
            <a:r>
              <a:t>backend/src/main/java/vn/edu/phenikaa/courseregistration/service/RegistrationService.java</a:t>
            </a:r>
          </a:p>
          <a:p>
            <a:r>
              <a:t>backend/src/main/java/vn/edu/phenikaa/courseregistration/validator/CourseExistenceValidator.java</a:t>
            </a:r>
          </a:p>
          <a:p>
            <a:r>
              <a:t>backend/src/main/java/vn/edu/phenikaa/courseregistration/validator/DuplicateCourseValidator.java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Nguồn kỹ thuật: origin/main @ 7618c01</a:t>
            </a:r>
          </a:p>
          <a:p>
            <a:r>
              <a:t>backend/src/main/java/vn/edu/phenikaa/courseregistration/model/Course.java</a:t>
            </a:r>
          </a:p>
          <a:p>
            <a:r>
              <a:t>backend/src/main/java/vn/edu/phenikaa/courseregistration/validator/context/RegistrationValidationContext.java</a:t>
            </a:r>
          </a:p>
          <a:p>
            <a:r>
              <a:t>backend/src/main/java/vn/edu/phenikaa/courseregistration/service/RegistrationService.java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Nguồn kỹ thuật: origin/main @ 7618c01</a:t>
            </a:r>
          </a:p>
          <a:p>
            <a:r>
              <a:t>backend/src/main/java/vn/edu/phenikaa/courseregistration/exception/BusinessException.java</a:t>
            </a:r>
          </a:p>
          <a:p>
            <a:r>
              <a:t>backend/src/main/java/vn/edu/phenikaa/courseregistration/exception/GlobalExceptionHandler.java</a:t>
            </a:r>
          </a:p>
          <a:p>
            <a:r>
              <a:t>backend/src/main/java/vn/edu/phenikaa/courseregistration/dto/response/ApiErrorResponse.java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Nguồn kỹ thuật: origin/main @ 7618c01</a:t>
            </a:r>
          </a:p>
          <a:p>
            <a:r>
              <a:t>backend/src/main/java/vn/edu/phenikaa/courseregistration/utils/JsonFileUtils.java</a:t>
            </a:r>
          </a:p>
          <a:p>
            <a:r>
              <a:t>backend/src/main/java/vn/edu/phenikaa/courseregistration/repository/JsonCourseRepository.java</a:t>
            </a:r>
          </a:p>
          <a:p>
            <a:r>
              <a:t>backend/src/main/resources/application.properties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Nguồn kỹ thuật: origin/main @ 7618c01</a:t>
            </a:r>
          </a:p>
          <a:p>
            <a:r>
              <a:t>backend/src/main/java/vn/edu/phenikaa/courseregistration/model/Student.java</a:t>
            </a:r>
          </a:p>
          <a:p>
            <a:r>
              <a:t>backend/src/main/java/vn/edu/phenikaa/courseregistration/model/Registration.java</a:t>
            </a:r>
          </a:p>
          <a:p>
            <a:r>
              <a:t>backend/src/main/java/vn/edu/phenikaa/courseregistration/model/RegistrationDetail.java</a:t>
            </a:r>
          </a:p>
          <a:p>
            <a:r>
              <a:t>backend/src/main/java/vn/edu/phenikaa/courseregistration/model/Course.java</a:t>
            </a:r>
          </a:p>
          <a:p>
            <a:r>
              <a:t>backend/src/main/java/vn/edu/phenikaa/courseregistration/model/Schedule.java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Nguồn kỹ thuật: origin/main @ 7618c01</a:t>
            </a:r>
          </a:p>
          <a:p>
            <a:r>
              <a:t>tai-lieu/02-kien-truc/kien-truc-tong-the.md</a:t>
            </a:r>
          </a:p>
          <a:p>
            <a:r>
              <a:t>tai-lieu/02-kien-truc/kien-truc-du-lieu-va-file-io.md</a:t>
            </a:r>
          </a:p>
          <a:p>
            <a:r>
              <a:t>tai-lieu/03-thiet-ke/thiet-ke-validator.md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Diagram source: ho-so-nop-bai/so-do/class-diagram.mmd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Source data: data/students.json, lecturers.json, courses.json, registrations.json.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Diagram source: ho-so-nop-bai/use-case/use-case-tong-the.mmd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Ảnh login: D:\OOP\Hệ thống đăng kí môn học\ho-so-nop-bai\anh-demo\Ảnh chụp màn hình (344).png</a:t>
            </a:r>
          </a:p>
          <a:p>
            <a:r>
              <a:t>Ảnh profile: D:\OOP\Hệ thống đăng kí môn học\ho-so-nop-bai\anh-demo\Ảnh chụp màn hình (342).png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Ảnh course list: D:\OOP\Hệ thống đăng kí môn học\ho-so-nop-bai\anh-demo\Ảnh chụp màn hình (334).png</a:t>
            </a:r>
          </a:p>
          <a:p>
            <a:r>
              <a:t>Ảnh search/pagination: D:\OOP\Hệ thống đăng kí môn học\ho-so-nop-bai\anh-demo\Ảnh chụp màn hình (345).png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Diagram source: ho-so-nop-bai/flowchart/flowchart-dang-ky-mon.mmd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DOCX: Chương 2, Chương 3 - quy tắc nghiệp vụ.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Ảnh registered: D:\OOP\Hệ thống đăng kí môn học\ho-so-nop-bai\anh-demo\Ảnh chụp màn hình (336).png</a:t>
            </a:r>
          </a:p>
          <a:p>
            <a:r>
              <a:t>Ảnh timetable: D:\OOP\Hệ thống đăng kí môn học\ho-so-nop-bai\anh-demo\Ảnh chụp màn hình (337).png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Ảnh dashboard: D:\OOP\Hệ thống đăng kí môn học\ho-so-nop-bai\anh-demo\Ảnh chụp màn hình (332).png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DOCX: Chương 6 - Kết quả kiểm tra origin/main.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DOCX: Kết luận và hạn chế.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DOCX: Chương 8 - Hạn chế.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DOCX: Chương 8 - Hướng phát triển.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DOCX báo cáo: D:\OOP\Hệ thống đăng kí môn học\ho-so-nop-bai\bao-cao\Bao_cao_BTL_he_thong_dang_ky_mon_hoc_trinh_bay_dep.docx</a:t>
            </a:r>
          </a:p>
          <a:p>
            <a:r>
              <a:t>Repository: https://github.com/Shuuma4869/He-thong-dang-ki-mon-cho-sinh-vien-dai-hoc.git</a:t>
            </a:r>
          </a:p>
          <a:p>
            <a:r>
              <a:t>Nguồn source: origin/main @ 7618c01fa9e07a07847c737205e6559c2b7ea65b</a:t>
            </a:r>
          </a:p>
          <a:p>
            <a:r>
              <a:t>Slide kết thúc.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638489F-9A38-4241-8776-1E56BC6BF416}"/>
              </a:ext>
            </a:extLst>
          </p:cNvPr>
          <p:cNvSpPr>
            <a:spLocks noGrp="1"/>
          </p:cNvSpPr>
          <p:nvPr/>
        </p:nvSpPr>
        <p:spPr>
          <a:xfrm>
            <a:off x="0" y="0"/>
            <a:ext cx="12192000" cy="6858000"/>
          </a:xfrm>
          <a:prstGeom prst="rect">
            <a:avLst/>
          </a:prstGeom>
          <a:solidFill>
            <a:srgbClr val="F8FBFF"/>
          </a:solidFill>
          <a:ln w="0">
            <a:noFill/>
            <a:prstDash val="solid"/>
          </a:ln>
        </p:spPr>
      </p:sp>
      <p:sp>
        <p:nvSpPr>
          <p:cNvPr id="2" name="Rectangle 1">
            <a:extLst>
              <a:ext uri="{FF2B5EF4-FFF2-40B4-BE49-F238E27FC236}">
                <a16:creationId xmlns:a16="http://schemas.microsoft.com/office/drawing/2014/main" id="{7F8AFEF0-5352-49B0-BC72-BE6FFDB402D7}"/>
              </a:ext>
            </a:extLst>
          </p:cNvPr>
          <p:cNvSpPr>
            <a:spLocks noGrp="1"/>
          </p:cNvSpPr>
          <p:nvPr/>
        </p:nvSpPr>
        <p:spPr>
          <a:xfrm>
            <a:off x="0" y="0"/>
            <a:ext cx="4762500" cy="6858000"/>
          </a:xfrm>
          <a:prstGeom prst="rect">
            <a:avLst/>
          </a:prstGeom>
          <a:solidFill>
            <a:srgbClr val="0B2A6F"/>
          </a:solidFill>
          <a:ln w="0">
            <a:noFill/>
            <a:prstDash val="solid"/>
          </a:ln>
        </p:spPr>
      </p:sp>
      <p:sp>
        <p:nvSpPr>
          <p:cNvPr id="3" name="Rectangle 2">
            <a:extLst>
              <a:ext uri="{FF2B5EF4-FFF2-40B4-BE49-F238E27FC236}">
                <a16:creationId xmlns:a16="http://schemas.microsoft.com/office/drawing/2014/main" id="{AAEAFE1A-5B59-4166-9C55-B05967DE4BE9}"/>
              </a:ext>
            </a:extLst>
          </p:cNvPr>
          <p:cNvSpPr>
            <a:spLocks noGrp="1"/>
          </p:cNvSpPr>
          <p:nvPr/>
        </p:nvSpPr>
        <p:spPr>
          <a:xfrm>
            <a:off x="552450" y="514350"/>
            <a:ext cx="3810000" cy="666750"/>
          </a:xfrm>
          <a:prstGeom prst="rect">
            <a:avLst/>
          </a:prstGeom>
          <a:noFill/>
          <a:ln w="0">
            <a:noFill/>
            <a:prstDash val="solid"/>
          </a:ln>
        </p:spPr>
        <p:txBody>
          <a:bodyPr/>
          <a:lstStyle/>
          <a:p>
            <a:pPr algn="l">
              <a:buNone/>
              <a:defRPr sz="1650" b="1">
                <a:solidFill>
                  <a:srgbClr val="FFFFFF"/>
                </a:solidFill>
              </a:defRPr>
            </a:pPr>
            <a:r>
              <a:rPr sz="1650" b="1">
                <a:solidFill>
                  <a:srgbClr val="FFFFFF"/>
                </a:solidFill>
              </a:rPr>
              <a:t>ĐẠI HỌC PHENIKAA</a:t>
            </a:r>
          </a:p>
          <a:p>
            <a:pPr algn="l">
              <a:buNone/>
              <a:defRPr sz="1650" b="1">
                <a:solidFill>
                  <a:srgbClr val="FFFFFF"/>
                </a:solidFill>
              </a:defRPr>
            </a:pPr>
            <a:r>
              <a:rPr sz="1650" b="1">
                <a:solidFill>
                  <a:srgbClr val="FFFFFF"/>
                </a:solidFill>
              </a:rPr>
              <a:t>TRƯỜNG CÔNG NGHỆ THÔNG TIN</a:t>
            </a:r>
          </a:p>
        </p:txBody>
      </p:sp>
      <p:sp>
        <p:nvSpPr>
          <p:cNvPr id="4" name="Rectangle 3">
            <a:extLst>
              <a:ext uri="{FF2B5EF4-FFF2-40B4-BE49-F238E27FC236}">
                <a16:creationId xmlns:a16="http://schemas.microsoft.com/office/drawing/2014/main" id="{50848F12-84BA-42BD-A6B3-93B5FDE62502}"/>
              </a:ext>
            </a:extLst>
          </p:cNvPr>
          <p:cNvSpPr>
            <a:spLocks noGrp="1"/>
          </p:cNvSpPr>
          <p:nvPr/>
        </p:nvSpPr>
        <p:spPr>
          <a:xfrm>
            <a:off x="552450" y="1771650"/>
            <a:ext cx="3714750" cy="514350"/>
          </a:xfrm>
          <a:prstGeom prst="rect">
            <a:avLst/>
          </a:prstGeom>
          <a:noFill/>
          <a:ln w="0">
            <a:noFill/>
            <a:prstDash val="solid"/>
          </a:ln>
        </p:spPr>
        <p:txBody>
          <a:bodyPr/>
          <a:lstStyle/>
          <a:p>
            <a:pPr algn="l">
              <a:buNone/>
              <a:defRPr sz="3600" b="1">
                <a:solidFill>
                  <a:srgbClr val="FFFFFF"/>
                </a:solidFill>
              </a:defRPr>
            </a:pPr>
            <a:r>
              <a:rPr sz="3600" b="1">
                <a:solidFill>
                  <a:srgbClr val="FFFFFF"/>
                </a:solidFill>
              </a:rPr>
              <a:t>BÀI TẬP LỚN</a:t>
            </a:r>
          </a:p>
        </p:txBody>
      </p:sp>
      <p:sp>
        <p:nvSpPr>
          <p:cNvPr id="5" name="Rectangle 4">
            <a:extLst>
              <a:ext uri="{FF2B5EF4-FFF2-40B4-BE49-F238E27FC236}">
                <a16:creationId xmlns:a16="http://schemas.microsoft.com/office/drawing/2014/main" id="{C7E1B553-C24B-4A9F-8B1A-97D80CF0FA4E}"/>
              </a:ext>
            </a:extLst>
          </p:cNvPr>
          <p:cNvSpPr>
            <a:spLocks noGrp="1"/>
          </p:cNvSpPr>
          <p:nvPr/>
        </p:nvSpPr>
        <p:spPr>
          <a:xfrm>
            <a:off x="552450" y="2495550"/>
            <a:ext cx="3619500" cy="2190750"/>
          </a:xfrm>
          <a:prstGeom prst="rect">
            <a:avLst/>
          </a:prstGeom>
          <a:noFill/>
          <a:ln w="0">
            <a:noFill/>
            <a:prstDash val="solid"/>
          </a:ln>
        </p:spPr>
        <p:txBody>
          <a:bodyPr/>
          <a:lstStyle/>
          <a:p>
            <a:pPr algn="l">
              <a:buNone/>
              <a:defRPr sz="3000" b="1">
                <a:solidFill>
                  <a:srgbClr val="FFFFFF"/>
                </a:solidFill>
              </a:defRPr>
            </a:pPr>
            <a:r>
              <a:rPr sz="3000" b="1">
                <a:solidFill>
                  <a:srgbClr val="FFFFFF"/>
                </a:solidFill>
              </a:rPr>
              <a:t>HỆ THỐNG</a:t>
            </a:r>
          </a:p>
          <a:p>
            <a:pPr algn="l">
              <a:buNone/>
              <a:defRPr sz="3000" b="1">
                <a:solidFill>
                  <a:srgbClr val="FFFFFF"/>
                </a:solidFill>
              </a:defRPr>
            </a:pPr>
            <a:r>
              <a:rPr sz="3000" b="1">
                <a:solidFill>
                  <a:srgbClr val="FFFFFF"/>
                </a:solidFill>
              </a:rPr>
              <a:t>ĐĂNG KÝ</a:t>
            </a:r>
          </a:p>
          <a:p>
            <a:pPr algn="l">
              <a:buNone/>
              <a:defRPr sz="3000" b="1">
                <a:solidFill>
                  <a:srgbClr val="FFFFFF"/>
                </a:solidFill>
              </a:defRPr>
            </a:pPr>
            <a:r>
              <a:rPr sz="3000" b="1">
                <a:solidFill>
                  <a:srgbClr val="FFFFFF"/>
                </a:solidFill>
              </a:rPr>
              <a:t>MÔN HỌC</a:t>
            </a:r>
          </a:p>
          <a:p>
            <a:pPr algn="l">
              <a:buNone/>
              <a:defRPr sz="3000" b="1">
                <a:solidFill>
                  <a:srgbClr val="FFFFFF"/>
                </a:solidFill>
              </a:defRPr>
            </a:pPr>
            <a:r>
              <a:rPr sz="3000" b="1">
                <a:solidFill>
                  <a:srgbClr val="FFFFFF"/>
                </a:solidFill>
              </a:rPr>
              <a:t>CHO SINH VIÊN</a:t>
            </a:r>
          </a:p>
        </p:txBody>
      </p:sp>
      <p:sp>
        <p:nvSpPr>
          <p:cNvPr id="6" name="Rectangle: Rounded Corners 5">
            <a:extLst>
              <a:ext uri="{FF2B5EF4-FFF2-40B4-BE49-F238E27FC236}">
                <a16:creationId xmlns:a16="http://schemas.microsoft.com/office/drawing/2014/main" id="{5CACCD43-CBD2-4BBC-9AA0-8EDC96ECDCA7}"/>
              </a:ext>
            </a:extLst>
          </p:cNvPr>
          <p:cNvSpPr>
            <a:spLocks noGrp="1"/>
          </p:cNvSpPr>
          <p:nvPr/>
        </p:nvSpPr>
        <p:spPr>
          <a:xfrm>
            <a:off x="5334000" y="1066800"/>
            <a:ext cx="5619750" cy="4191000"/>
          </a:xfrm>
          <a:prstGeom prst="roundRect">
            <a:avLst>
              <a:gd name="adj" fmla="val 3636"/>
            </a:avLst>
          </a:prstGeom>
          <a:solidFill>
            <a:srgbClr val="FFFFFF"/>
          </a:solidFill>
          <a:ln w="9525">
            <a:solidFill>
              <a:srgbClr val="E2E8F0"/>
            </a:solidFill>
            <a:prstDash val="solid"/>
          </a:ln>
        </p:spPr>
        <p:txBody>
          <a:bodyPr/>
          <a:lstStyle/>
          <a:p>
            <a:endParaRPr lang="en-US" dirty="0"/>
          </a:p>
        </p:txBody>
      </p:sp>
      <p:sp>
        <p:nvSpPr>
          <p:cNvPr id="7" name="Rectangle 6">
            <a:extLst>
              <a:ext uri="{FF2B5EF4-FFF2-40B4-BE49-F238E27FC236}">
                <a16:creationId xmlns:a16="http://schemas.microsoft.com/office/drawing/2014/main" id="{E6A74CC1-17EF-4968-98BF-0F941013AB64}"/>
              </a:ext>
            </a:extLst>
          </p:cNvPr>
          <p:cNvSpPr>
            <a:spLocks noGrp="1"/>
          </p:cNvSpPr>
          <p:nvPr/>
        </p:nvSpPr>
        <p:spPr>
          <a:xfrm>
            <a:off x="5791200" y="1504950"/>
            <a:ext cx="1428750" cy="285750"/>
          </a:xfrm>
          <a:prstGeom prst="rect">
            <a:avLst/>
          </a:prstGeom>
          <a:noFill/>
          <a:ln w="0">
            <a:noFill/>
            <a:prstDash val="solid"/>
          </a:ln>
        </p:spPr>
        <p:txBody>
          <a:bodyPr/>
          <a:lstStyle/>
          <a:p>
            <a:pPr algn="l">
              <a:buNone/>
              <a:defRPr sz="1350" b="0">
                <a:solidFill>
                  <a:srgbClr val="45556C"/>
                </a:solidFill>
              </a:defRPr>
            </a:pPr>
            <a:r>
              <a:rPr sz="1350" b="0">
                <a:solidFill>
                  <a:srgbClr val="45556C"/>
                </a:solidFill>
              </a:rPr>
              <a:t>Học phần</a:t>
            </a:r>
          </a:p>
        </p:txBody>
      </p:sp>
      <p:sp>
        <p:nvSpPr>
          <p:cNvPr id="8" name="Rectangle 7">
            <a:extLst>
              <a:ext uri="{FF2B5EF4-FFF2-40B4-BE49-F238E27FC236}">
                <a16:creationId xmlns:a16="http://schemas.microsoft.com/office/drawing/2014/main" id="{1DE78BBB-36BB-4216-85E5-14AEE6E2BD71}"/>
              </a:ext>
            </a:extLst>
          </p:cNvPr>
          <p:cNvSpPr>
            <a:spLocks noGrp="1"/>
          </p:cNvSpPr>
          <p:nvPr/>
        </p:nvSpPr>
        <p:spPr>
          <a:xfrm>
            <a:off x="5791200" y="1790700"/>
            <a:ext cx="4572000" cy="323850"/>
          </a:xfrm>
          <a:prstGeom prst="rect">
            <a:avLst/>
          </a:prstGeom>
          <a:noFill/>
          <a:ln w="0">
            <a:noFill/>
            <a:prstDash val="solid"/>
          </a:ln>
        </p:spPr>
        <p:txBody>
          <a:bodyPr/>
          <a:lstStyle/>
          <a:p>
            <a:pPr algn="l">
              <a:buNone/>
              <a:defRPr sz="2100" b="1">
                <a:solidFill>
                  <a:srgbClr val="020618"/>
                </a:solidFill>
              </a:defRPr>
            </a:pPr>
            <a:r>
              <a:rPr sz="2100" b="1">
                <a:solidFill>
                  <a:srgbClr val="020618"/>
                </a:solidFill>
              </a:rPr>
              <a:t>Lập trình hướng đối tượng</a:t>
            </a:r>
          </a:p>
        </p:txBody>
      </p:sp>
      <p:sp>
        <p:nvSpPr>
          <p:cNvPr id="9" name="Rectangle 8">
            <a:extLst>
              <a:ext uri="{FF2B5EF4-FFF2-40B4-BE49-F238E27FC236}">
                <a16:creationId xmlns:a16="http://schemas.microsoft.com/office/drawing/2014/main" id="{65CAA53E-6D2B-4966-B7A1-264F695D6529}"/>
              </a:ext>
            </a:extLst>
          </p:cNvPr>
          <p:cNvSpPr>
            <a:spLocks noGrp="1"/>
          </p:cNvSpPr>
          <p:nvPr/>
        </p:nvSpPr>
        <p:spPr>
          <a:xfrm>
            <a:off x="5791200" y="2343150"/>
            <a:ext cx="1524000" cy="285750"/>
          </a:xfrm>
          <a:prstGeom prst="rect">
            <a:avLst/>
          </a:prstGeom>
          <a:noFill/>
          <a:ln w="0">
            <a:noFill/>
            <a:prstDash val="solid"/>
          </a:ln>
        </p:spPr>
        <p:txBody>
          <a:bodyPr/>
          <a:lstStyle/>
          <a:p>
            <a:pPr algn="l">
              <a:buNone/>
              <a:defRPr sz="1350" b="0">
                <a:solidFill>
                  <a:srgbClr val="45556C"/>
                </a:solidFill>
              </a:defRPr>
            </a:pPr>
            <a:r>
              <a:rPr sz="1350" b="0">
                <a:solidFill>
                  <a:srgbClr val="45556C"/>
                </a:solidFill>
              </a:rPr>
              <a:t>Lớp học phần</a:t>
            </a:r>
          </a:p>
        </p:txBody>
      </p:sp>
      <p:sp>
        <p:nvSpPr>
          <p:cNvPr id="10" name="Rectangle 9">
            <a:extLst>
              <a:ext uri="{FF2B5EF4-FFF2-40B4-BE49-F238E27FC236}">
                <a16:creationId xmlns:a16="http://schemas.microsoft.com/office/drawing/2014/main" id="{C2F3450D-A349-4D94-83F4-F404EEC471D0}"/>
              </a:ext>
            </a:extLst>
          </p:cNvPr>
          <p:cNvSpPr>
            <a:spLocks noGrp="1"/>
          </p:cNvSpPr>
          <p:nvPr/>
        </p:nvSpPr>
        <p:spPr>
          <a:xfrm>
            <a:off x="5791200" y="2628900"/>
            <a:ext cx="4381500" cy="323850"/>
          </a:xfrm>
          <a:prstGeom prst="rect">
            <a:avLst/>
          </a:prstGeom>
          <a:noFill/>
          <a:ln w="0">
            <a:noFill/>
            <a:prstDash val="solid"/>
          </a:ln>
        </p:spPr>
        <p:txBody>
          <a:bodyPr/>
          <a:lstStyle/>
          <a:p>
            <a:pPr algn="l">
              <a:buNone/>
              <a:defRPr sz="2025" b="1">
                <a:solidFill>
                  <a:srgbClr val="020618"/>
                </a:solidFill>
              </a:defRPr>
            </a:pPr>
            <a:r>
              <a:rPr sz="2025" b="1">
                <a:solidFill>
                  <a:srgbClr val="020618"/>
                </a:solidFill>
              </a:rPr>
              <a:t>CSE703029-3-3-25(N02)</a:t>
            </a:r>
          </a:p>
        </p:txBody>
      </p:sp>
      <p:sp>
        <p:nvSpPr>
          <p:cNvPr id="11" name="Rectangle 10">
            <a:extLst>
              <a:ext uri="{FF2B5EF4-FFF2-40B4-BE49-F238E27FC236}">
                <a16:creationId xmlns:a16="http://schemas.microsoft.com/office/drawing/2014/main" id="{9887CB5C-0F05-4779-AF2D-62C911CA6CEA}"/>
              </a:ext>
            </a:extLst>
          </p:cNvPr>
          <p:cNvSpPr>
            <a:spLocks noGrp="1"/>
          </p:cNvSpPr>
          <p:nvPr/>
        </p:nvSpPr>
        <p:spPr>
          <a:xfrm>
            <a:off x="5791200" y="3200400"/>
            <a:ext cx="4572000" cy="609600"/>
          </a:xfrm>
          <a:prstGeom prst="rect">
            <a:avLst/>
          </a:prstGeom>
          <a:noFill/>
          <a:ln w="0">
            <a:noFill/>
            <a:prstDash val="solid"/>
          </a:ln>
        </p:spPr>
        <p:txBody>
          <a:bodyPr/>
          <a:lstStyle/>
          <a:p>
            <a:pPr algn="l">
              <a:buNone/>
              <a:defRPr sz="1800" b="0">
                <a:solidFill>
                  <a:srgbClr val="020618"/>
                </a:solidFill>
              </a:defRPr>
            </a:pPr>
            <a:r>
              <a:rPr sz="1800" b="0" dirty="0" err="1">
                <a:solidFill>
                  <a:srgbClr val="020618"/>
                </a:solidFill>
              </a:rPr>
              <a:t>Giảng</a:t>
            </a:r>
            <a:r>
              <a:rPr sz="1800" b="0" dirty="0">
                <a:solidFill>
                  <a:srgbClr val="020618"/>
                </a:solidFill>
              </a:rPr>
              <a:t> </a:t>
            </a:r>
            <a:r>
              <a:rPr sz="1800" b="0" dirty="0" err="1">
                <a:solidFill>
                  <a:srgbClr val="020618"/>
                </a:solidFill>
              </a:rPr>
              <a:t>viên</a:t>
            </a:r>
            <a:r>
              <a:rPr sz="1800" b="0" dirty="0">
                <a:solidFill>
                  <a:srgbClr val="020618"/>
                </a:solidFill>
              </a:rPr>
              <a:t>: </a:t>
            </a:r>
            <a:r>
              <a:rPr sz="1800" b="0" dirty="0" err="1">
                <a:solidFill>
                  <a:srgbClr val="020618"/>
                </a:solidFill>
              </a:rPr>
              <a:t>Trần</a:t>
            </a:r>
            <a:r>
              <a:rPr sz="1800" b="0" dirty="0">
                <a:solidFill>
                  <a:srgbClr val="020618"/>
                </a:solidFill>
              </a:rPr>
              <a:t> </a:t>
            </a:r>
            <a:r>
              <a:rPr sz="1800" b="0" dirty="0" err="1">
                <a:solidFill>
                  <a:srgbClr val="020618"/>
                </a:solidFill>
              </a:rPr>
              <a:t>Đình</a:t>
            </a:r>
            <a:r>
              <a:rPr sz="1800" b="0" dirty="0">
                <a:solidFill>
                  <a:srgbClr val="020618"/>
                </a:solidFill>
              </a:rPr>
              <a:t> Nam</a:t>
            </a:r>
            <a:r>
              <a:rPr lang="vi-VN" sz="1800" b="0">
                <a:solidFill>
                  <a:srgbClr val="020618"/>
                </a:solidFill>
              </a:rPr>
              <a:t> Sơn</a:t>
            </a:r>
            <a:endParaRPr sz="1800" b="0" dirty="0">
              <a:solidFill>
                <a:srgbClr val="020618"/>
              </a:solidFill>
            </a:endParaRPr>
          </a:p>
          <a:p>
            <a:pPr algn="l">
              <a:buNone/>
              <a:defRPr sz="1800" b="0">
                <a:solidFill>
                  <a:srgbClr val="020618"/>
                </a:solidFill>
              </a:defRPr>
            </a:pPr>
            <a:r>
              <a:rPr sz="1800" b="0" dirty="0" err="1">
                <a:solidFill>
                  <a:srgbClr val="020618"/>
                </a:solidFill>
              </a:rPr>
              <a:t>Nhóm</a:t>
            </a:r>
            <a:r>
              <a:rPr sz="1800" b="0" dirty="0">
                <a:solidFill>
                  <a:srgbClr val="020618"/>
                </a:solidFill>
              </a:rPr>
              <a:t> 2</a:t>
            </a:r>
          </a:p>
        </p:txBody>
      </p:sp>
      <p:sp>
        <p:nvSpPr>
          <p:cNvPr id="12" name="Rectangle 11">
            <a:extLst>
              <a:ext uri="{FF2B5EF4-FFF2-40B4-BE49-F238E27FC236}">
                <a16:creationId xmlns:a16="http://schemas.microsoft.com/office/drawing/2014/main" id="{357C936B-9E8F-4FEC-BC97-335922BBE2BD}"/>
              </a:ext>
            </a:extLst>
          </p:cNvPr>
          <p:cNvSpPr>
            <a:spLocks noGrp="1"/>
          </p:cNvSpPr>
          <p:nvPr/>
        </p:nvSpPr>
        <p:spPr>
          <a:xfrm>
            <a:off x="5791200" y="4038600"/>
            <a:ext cx="4762500" cy="1066800"/>
          </a:xfrm>
          <a:prstGeom prst="rect">
            <a:avLst/>
          </a:prstGeom>
          <a:noFill/>
          <a:ln w="0">
            <a:noFill/>
            <a:prstDash val="solid"/>
          </a:ln>
        </p:spPr>
        <p:txBody>
          <a:bodyPr/>
          <a:lstStyle/>
          <a:p>
            <a:pPr algn="l">
              <a:buNone/>
              <a:defRPr sz="1500" b="0">
                <a:solidFill>
                  <a:srgbClr val="45556C"/>
                </a:solidFill>
              </a:defRPr>
            </a:pPr>
            <a:r>
              <a:rPr sz="1500" b="0">
                <a:solidFill>
                  <a:srgbClr val="45556C"/>
                </a:solidFill>
              </a:rPr>
              <a:t>Nguyễn Trọng Tuấn - 23010690</a:t>
            </a:r>
          </a:p>
          <a:p>
            <a:pPr algn="l">
              <a:buNone/>
              <a:defRPr sz="1500" b="0">
                <a:solidFill>
                  <a:srgbClr val="45556C"/>
                </a:solidFill>
              </a:defRPr>
            </a:pPr>
            <a:r>
              <a:rPr sz="1500" b="0">
                <a:solidFill>
                  <a:srgbClr val="45556C"/>
                </a:solidFill>
              </a:rPr>
              <a:t>Nguyễn Thành Trung - 24100217</a:t>
            </a:r>
          </a:p>
          <a:p>
            <a:pPr algn="l">
              <a:buNone/>
              <a:defRPr sz="1500" b="0">
                <a:solidFill>
                  <a:srgbClr val="45556C"/>
                </a:solidFill>
              </a:defRPr>
            </a:pPr>
            <a:r>
              <a:rPr sz="1500" b="0">
                <a:solidFill>
                  <a:srgbClr val="45556C"/>
                </a:solidFill>
              </a:rPr>
              <a:t>Nguyễn Xuân Tùng - 24100169</a:t>
            </a:r>
          </a:p>
          <a:p>
            <a:pPr algn="l">
              <a:buNone/>
              <a:defRPr sz="1500" b="0">
                <a:solidFill>
                  <a:srgbClr val="45556C"/>
                </a:solidFill>
              </a:defRPr>
            </a:pPr>
            <a:r>
              <a:rPr sz="1500" b="0">
                <a:solidFill>
                  <a:srgbClr val="45556C"/>
                </a:solidFill>
              </a:rPr>
              <a:t>Nguyễn Thành Vinh - 24100189</a:t>
            </a:r>
          </a:p>
        </p:txBody>
      </p:sp>
    </p:spTree>
    <p:extLst>
      <p:ext uri="{BB962C8B-B14F-4D97-AF65-F5344CB8AC3E}">
        <p14:creationId xmlns:p14="http://schemas.microsoft.com/office/powerpoint/2010/main" val="302735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2EEBFFA-0EAA-4238-88AE-808A445306F1}"/>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2BF064A8-D751-4C61-8D2D-9FBF7DA8B22E}"/>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Mục tiêu của BTL</a:t>
            </a:r>
          </a:p>
        </p:txBody>
      </p:sp>
      <p:sp>
        <p:nvSpPr>
          <p:cNvPr id="3" name="Straight Connector 2">
            <a:extLst>
              <a:ext uri="{FF2B5EF4-FFF2-40B4-BE49-F238E27FC236}">
                <a16:creationId xmlns:a16="http://schemas.microsoft.com/office/drawing/2014/main" id="{B1F246C7-2DA0-43EF-8B25-96921E28FEF1}"/>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0397CAF3-8CD2-4E69-82AE-8A4546DDED49}"/>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4F756527-31DB-4DF6-87A6-6272ABB0F302}"/>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02</a:t>
            </a:r>
          </a:p>
        </p:txBody>
      </p:sp>
      <p:sp>
        <p:nvSpPr>
          <p:cNvPr id="6" name="Rectangle: Rounded Corners 5">
            <a:extLst>
              <a:ext uri="{FF2B5EF4-FFF2-40B4-BE49-F238E27FC236}">
                <a16:creationId xmlns:a16="http://schemas.microsoft.com/office/drawing/2014/main" id="{6549BEA7-E170-4B46-99A9-EC4D85ADFE8D}"/>
              </a:ext>
            </a:extLst>
          </p:cNvPr>
          <p:cNvSpPr>
            <a:spLocks noGrp="1"/>
          </p:cNvSpPr>
          <p:nvPr/>
        </p:nvSpPr>
        <p:spPr>
          <a:xfrm>
            <a:off x="723900" y="1657350"/>
            <a:ext cx="3143250" cy="1085850"/>
          </a:xfrm>
          <a:prstGeom prst="roundRect">
            <a:avLst>
              <a:gd name="adj" fmla="val 14035"/>
            </a:avLst>
          </a:prstGeom>
          <a:solidFill>
            <a:srgbClr val="FFFFFF"/>
          </a:solidFill>
          <a:ln w="9525">
            <a:solidFill>
              <a:srgbClr val="E2E8F0"/>
            </a:solidFill>
            <a:prstDash val="solid"/>
          </a:ln>
        </p:spPr>
      </p:sp>
      <p:sp>
        <p:nvSpPr>
          <p:cNvPr id="7" name="Rectangle 6">
            <a:extLst>
              <a:ext uri="{FF2B5EF4-FFF2-40B4-BE49-F238E27FC236}">
                <a16:creationId xmlns:a16="http://schemas.microsoft.com/office/drawing/2014/main" id="{8CB0DCF8-07D4-4203-9C47-C0618CD32DA7}"/>
              </a:ext>
            </a:extLst>
          </p:cNvPr>
          <p:cNvSpPr>
            <a:spLocks noGrp="1"/>
          </p:cNvSpPr>
          <p:nvPr/>
        </p:nvSpPr>
        <p:spPr>
          <a:xfrm>
            <a:off x="933450" y="1828800"/>
            <a:ext cx="2724150" cy="419100"/>
          </a:xfrm>
          <a:prstGeom prst="rect">
            <a:avLst/>
          </a:prstGeom>
          <a:noFill/>
          <a:ln w="0">
            <a:noFill/>
            <a:prstDash val="solid"/>
          </a:ln>
        </p:spPr>
        <p:txBody>
          <a:bodyPr/>
          <a:lstStyle/>
          <a:p>
            <a:pPr algn="l">
              <a:buNone/>
              <a:defRPr sz="2550" b="1">
                <a:solidFill>
                  <a:srgbClr val="0B5FFF"/>
                </a:solidFill>
              </a:defRPr>
            </a:pPr>
            <a:r>
              <a:rPr sz="2550" b="1">
                <a:solidFill>
                  <a:srgbClr val="0B5FFF"/>
                </a:solidFill>
              </a:rPr>
              <a:t>01</a:t>
            </a:r>
          </a:p>
        </p:txBody>
      </p:sp>
      <p:sp>
        <p:nvSpPr>
          <p:cNvPr id="8" name="Rectangle 7">
            <a:extLst>
              <a:ext uri="{FF2B5EF4-FFF2-40B4-BE49-F238E27FC236}">
                <a16:creationId xmlns:a16="http://schemas.microsoft.com/office/drawing/2014/main" id="{0140ACE9-2408-4BE4-9097-821B9720A395}"/>
              </a:ext>
            </a:extLst>
          </p:cNvPr>
          <p:cNvSpPr>
            <a:spLocks noGrp="1"/>
          </p:cNvSpPr>
          <p:nvPr/>
        </p:nvSpPr>
        <p:spPr>
          <a:xfrm>
            <a:off x="933450" y="2305050"/>
            <a:ext cx="2724150" cy="266700"/>
          </a:xfrm>
          <a:prstGeom prst="rect">
            <a:avLst/>
          </a:prstGeom>
          <a:noFill/>
          <a:ln w="0">
            <a:noFill/>
            <a:prstDash val="solid"/>
          </a:ln>
        </p:spPr>
        <p:txBody>
          <a:bodyPr/>
          <a:lstStyle/>
          <a:p>
            <a:pPr algn="l">
              <a:buNone/>
              <a:defRPr sz="1350" b="0">
                <a:solidFill>
                  <a:srgbClr val="45556C"/>
                </a:solidFill>
              </a:defRPr>
            </a:pPr>
            <a:r>
              <a:rPr sz="1350" b="0">
                <a:solidFill>
                  <a:srgbClr val="45556C"/>
                </a:solidFill>
              </a:rPr>
              <a:t>Giải quyết quy trình đăng ký học phần</a:t>
            </a:r>
          </a:p>
        </p:txBody>
      </p:sp>
      <p:sp>
        <p:nvSpPr>
          <p:cNvPr id="9" name="Rectangle: Rounded Corners 8">
            <a:extLst>
              <a:ext uri="{FF2B5EF4-FFF2-40B4-BE49-F238E27FC236}">
                <a16:creationId xmlns:a16="http://schemas.microsoft.com/office/drawing/2014/main" id="{A84511AF-2CCA-48AB-A133-E7ABBC0BE65F}"/>
              </a:ext>
            </a:extLst>
          </p:cNvPr>
          <p:cNvSpPr>
            <a:spLocks noGrp="1"/>
          </p:cNvSpPr>
          <p:nvPr/>
        </p:nvSpPr>
        <p:spPr>
          <a:xfrm>
            <a:off x="4514850" y="1657350"/>
            <a:ext cx="3143250" cy="1085850"/>
          </a:xfrm>
          <a:prstGeom prst="roundRect">
            <a:avLst>
              <a:gd name="adj" fmla="val 14035"/>
            </a:avLst>
          </a:prstGeom>
          <a:solidFill>
            <a:srgbClr val="FFFFFF"/>
          </a:solidFill>
          <a:ln w="9525">
            <a:solidFill>
              <a:srgbClr val="E2E8F0"/>
            </a:solidFill>
            <a:prstDash val="solid"/>
          </a:ln>
        </p:spPr>
      </p:sp>
      <p:sp>
        <p:nvSpPr>
          <p:cNvPr id="10" name="Rectangle 9">
            <a:extLst>
              <a:ext uri="{FF2B5EF4-FFF2-40B4-BE49-F238E27FC236}">
                <a16:creationId xmlns:a16="http://schemas.microsoft.com/office/drawing/2014/main" id="{DA4D347D-4143-4667-B5F2-F7AC14B375C9}"/>
              </a:ext>
            </a:extLst>
          </p:cNvPr>
          <p:cNvSpPr>
            <a:spLocks noGrp="1"/>
          </p:cNvSpPr>
          <p:nvPr/>
        </p:nvSpPr>
        <p:spPr>
          <a:xfrm>
            <a:off x="4724400" y="1828800"/>
            <a:ext cx="2724150" cy="419100"/>
          </a:xfrm>
          <a:prstGeom prst="rect">
            <a:avLst/>
          </a:prstGeom>
          <a:noFill/>
          <a:ln w="0">
            <a:noFill/>
            <a:prstDash val="solid"/>
          </a:ln>
        </p:spPr>
        <p:txBody>
          <a:bodyPr/>
          <a:lstStyle/>
          <a:p>
            <a:pPr algn="l">
              <a:buNone/>
              <a:defRPr sz="2550" b="1">
                <a:solidFill>
                  <a:srgbClr val="16A34A"/>
                </a:solidFill>
              </a:defRPr>
            </a:pPr>
            <a:r>
              <a:rPr sz="2550" b="1">
                <a:solidFill>
                  <a:srgbClr val="16A34A"/>
                </a:solidFill>
              </a:rPr>
              <a:t>02</a:t>
            </a:r>
          </a:p>
        </p:txBody>
      </p:sp>
      <p:sp>
        <p:nvSpPr>
          <p:cNvPr id="11" name="Rectangle 10">
            <a:extLst>
              <a:ext uri="{FF2B5EF4-FFF2-40B4-BE49-F238E27FC236}">
                <a16:creationId xmlns:a16="http://schemas.microsoft.com/office/drawing/2014/main" id="{1F96F038-2E8C-4849-89B4-B36F664ED20C}"/>
              </a:ext>
            </a:extLst>
          </p:cNvPr>
          <p:cNvSpPr>
            <a:spLocks noGrp="1"/>
          </p:cNvSpPr>
          <p:nvPr/>
        </p:nvSpPr>
        <p:spPr>
          <a:xfrm>
            <a:off x="4724400" y="2305050"/>
            <a:ext cx="2724150" cy="266700"/>
          </a:xfrm>
          <a:prstGeom prst="rect">
            <a:avLst/>
          </a:prstGeom>
          <a:noFill/>
          <a:ln w="0">
            <a:noFill/>
            <a:prstDash val="solid"/>
          </a:ln>
        </p:spPr>
        <p:txBody>
          <a:bodyPr/>
          <a:lstStyle/>
          <a:p>
            <a:pPr algn="l">
              <a:buNone/>
              <a:defRPr sz="1350" b="0">
                <a:solidFill>
                  <a:srgbClr val="45556C"/>
                </a:solidFill>
              </a:defRPr>
            </a:pPr>
            <a:r>
              <a:rPr sz="1350" b="0">
                <a:solidFill>
                  <a:srgbClr val="45556C"/>
                </a:solidFill>
              </a:rPr>
              <a:t>Hướng tới người dùng sinh viên</a:t>
            </a:r>
          </a:p>
        </p:txBody>
      </p:sp>
      <p:sp>
        <p:nvSpPr>
          <p:cNvPr id="12" name="Rectangle: Rounded Corners 11">
            <a:extLst>
              <a:ext uri="{FF2B5EF4-FFF2-40B4-BE49-F238E27FC236}">
                <a16:creationId xmlns:a16="http://schemas.microsoft.com/office/drawing/2014/main" id="{0C5FBF85-ACA4-42C5-B75B-5CC89B9058C0}"/>
              </a:ext>
            </a:extLst>
          </p:cNvPr>
          <p:cNvSpPr>
            <a:spLocks noGrp="1"/>
          </p:cNvSpPr>
          <p:nvPr/>
        </p:nvSpPr>
        <p:spPr>
          <a:xfrm>
            <a:off x="8305800" y="1657350"/>
            <a:ext cx="3143250" cy="1085850"/>
          </a:xfrm>
          <a:prstGeom prst="roundRect">
            <a:avLst>
              <a:gd name="adj" fmla="val 14035"/>
            </a:avLst>
          </a:prstGeom>
          <a:solidFill>
            <a:srgbClr val="FFFFFF"/>
          </a:solidFill>
          <a:ln w="9525">
            <a:solidFill>
              <a:srgbClr val="E2E8F0"/>
            </a:solidFill>
            <a:prstDash val="solid"/>
          </a:ln>
        </p:spPr>
      </p:sp>
      <p:sp>
        <p:nvSpPr>
          <p:cNvPr id="13" name="Rectangle 12">
            <a:extLst>
              <a:ext uri="{FF2B5EF4-FFF2-40B4-BE49-F238E27FC236}">
                <a16:creationId xmlns:a16="http://schemas.microsoft.com/office/drawing/2014/main" id="{A6346EAD-1E2F-4779-A1A0-4B89F49234A3}"/>
              </a:ext>
            </a:extLst>
          </p:cNvPr>
          <p:cNvSpPr>
            <a:spLocks noGrp="1"/>
          </p:cNvSpPr>
          <p:nvPr/>
        </p:nvSpPr>
        <p:spPr>
          <a:xfrm>
            <a:off x="8515350" y="1828800"/>
            <a:ext cx="2724150" cy="419100"/>
          </a:xfrm>
          <a:prstGeom prst="rect">
            <a:avLst/>
          </a:prstGeom>
          <a:noFill/>
          <a:ln w="0">
            <a:noFill/>
            <a:prstDash val="solid"/>
          </a:ln>
        </p:spPr>
        <p:txBody>
          <a:bodyPr/>
          <a:lstStyle/>
          <a:p>
            <a:pPr algn="l">
              <a:buNone/>
              <a:defRPr sz="2550" b="1">
                <a:solidFill>
                  <a:srgbClr val="D97706"/>
                </a:solidFill>
              </a:defRPr>
            </a:pPr>
            <a:r>
              <a:rPr sz="2550" b="1">
                <a:solidFill>
                  <a:srgbClr val="D97706"/>
                </a:solidFill>
              </a:rPr>
              <a:t>03</a:t>
            </a:r>
          </a:p>
        </p:txBody>
      </p:sp>
      <p:sp>
        <p:nvSpPr>
          <p:cNvPr id="14" name="Rectangle 13">
            <a:extLst>
              <a:ext uri="{FF2B5EF4-FFF2-40B4-BE49-F238E27FC236}">
                <a16:creationId xmlns:a16="http://schemas.microsoft.com/office/drawing/2014/main" id="{6B7AE097-4659-4A40-9140-E0C9B8005C1E}"/>
              </a:ext>
            </a:extLst>
          </p:cNvPr>
          <p:cNvSpPr>
            <a:spLocks noGrp="1"/>
          </p:cNvSpPr>
          <p:nvPr/>
        </p:nvSpPr>
        <p:spPr>
          <a:xfrm>
            <a:off x="8515350" y="2305050"/>
            <a:ext cx="2724150" cy="266700"/>
          </a:xfrm>
          <a:prstGeom prst="rect">
            <a:avLst/>
          </a:prstGeom>
          <a:noFill/>
          <a:ln w="0">
            <a:noFill/>
            <a:prstDash val="solid"/>
          </a:ln>
        </p:spPr>
        <p:txBody>
          <a:bodyPr/>
          <a:lstStyle/>
          <a:p>
            <a:pPr algn="l">
              <a:buNone/>
              <a:defRPr sz="1350" b="0">
                <a:solidFill>
                  <a:srgbClr val="45556C"/>
                </a:solidFill>
              </a:defRPr>
            </a:pPr>
            <a:r>
              <a:rPr sz="1350" b="0">
                <a:solidFill>
                  <a:srgbClr val="45556C"/>
                </a:solidFill>
              </a:rPr>
              <a:t>Có UI, API, dữ liệu và kiểm thử</a:t>
            </a:r>
          </a:p>
        </p:txBody>
      </p:sp>
      <p:sp>
        <p:nvSpPr>
          <p:cNvPr id="15" name="Rectangle 14">
            <a:extLst>
              <a:ext uri="{FF2B5EF4-FFF2-40B4-BE49-F238E27FC236}">
                <a16:creationId xmlns:a16="http://schemas.microsoft.com/office/drawing/2014/main" id="{54A0E5F8-EAAE-471A-A345-69A870E13952}"/>
              </a:ext>
            </a:extLst>
          </p:cNvPr>
          <p:cNvSpPr>
            <a:spLocks noGrp="1"/>
          </p:cNvSpPr>
          <p:nvPr/>
        </p:nvSpPr>
        <p:spPr>
          <a:xfrm>
            <a:off x="1123950" y="3486150"/>
            <a:ext cx="228600" cy="285750"/>
          </a:xfrm>
          <a:prstGeom prst="rect">
            <a:avLst/>
          </a:prstGeom>
          <a:noFill/>
          <a:ln w="0">
            <a:noFill/>
            <a:prstDash val="solid"/>
          </a:ln>
        </p:spPr>
        <p:txBody>
          <a:bodyPr/>
          <a:lstStyle/>
          <a:p>
            <a:pPr algn="l">
              <a:buNone/>
              <a:defRPr sz="1800" b="1">
                <a:solidFill>
                  <a:srgbClr val="0B5FFF"/>
                </a:solidFill>
              </a:defRPr>
            </a:pPr>
            <a:r>
              <a:rPr sz="1800" b="1">
                <a:solidFill>
                  <a:srgbClr val="0B5FFF"/>
                </a:solidFill>
              </a:rPr>
              <a:t>•</a:t>
            </a:r>
          </a:p>
        </p:txBody>
      </p:sp>
      <p:sp>
        <p:nvSpPr>
          <p:cNvPr id="16" name="Rectangle 15">
            <a:extLst>
              <a:ext uri="{FF2B5EF4-FFF2-40B4-BE49-F238E27FC236}">
                <a16:creationId xmlns:a16="http://schemas.microsoft.com/office/drawing/2014/main" id="{80063D35-0663-4601-8ED5-9B022DA4A33C}"/>
              </a:ext>
            </a:extLst>
          </p:cNvPr>
          <p:cNvSpPr>
            <a:spLocks noGrp="1"/>
          </p:cNvSpPr>
          <p:nvPr/>
        </p:nvSpPr>
        <p:spPr>
          <a:xfrm>
            <a:off x="1428750" y="3476625"/>
            <a:ext cx="9601200" cy="514350"/>
          </a:xfrm>
          <a:prstGeom prst="rect">
            <a:avLst/>
          </a:prstGeom>
          <a:noFill/>
          <a:ln w="0">
            <a:noFill/>
            <a:prstDash val="solid"/>
          </a:ln>
        </p:spPr>
        <p:txBody>
          <a:bodyPr/>
          <a:lstStyle/>
          <a:p>
            <a:pPr algn="l">
              <a:buNone/>
              <a:defRPr sz="1800" b="0">
                <a:solidFill>
                  <a:srgbClr val="020618"/>
                </a:solidFill>
              </a:defRPr>
            </a:pPr>
            <a:r>
              <a:rPr sz="1800" b="0">
                <a:solidFill>
                  <a:srgbClr val="020618"/>
                </a:solidFill>
              </a:rPr>
              <a:t>Mô phỏng các thao tác thường gặp: xem môn, đăng ký, hủy, xem lịch.</a:t>
            </a:r>
          </a:p>
        </p:txBody>
      </p:sp>
      <p:sp>
        <p:nvSpPr>
          <p:cNvPr id="17" name="Rectangle 16">
            <a:extLst>
              <a:ext uri="{FF2B5EF4-FFF2-40B4-BE49-F238E27FC236}">
                <a16:creationId xmlns:a16="http://schemas.microsoft.com/office/drawing/2014/main" id="{1DFE85AF-6EA0-4E1D-BBE5-8DDF4457727D}"/>
              </a:ext>
            </a:extLst>
          </p:cNvPr>
          <p:cNvSpPr>
            <a:spLocks noGrp="1"/>
          </p:cNvSpPr>
          <p:nvPr/>
        </p:nvSpPr>
        <p:spPr>
          <a:xfrm>
            <a:off x="1123950" y="4000500"/>
            <a:ext cx="228600" cy="285750"/>
          </a:xfrm>
          <a:prstGeom prst="rect">
            <a:avLst/>
          </a:prstGeom>
          <a:noFill/>
          <a:ln w="0">
            <a:noFill/>
            <a:prstDash val="solid"/>
          </a:ln>
        </p:spPr>
        <p:txBody>
          <a:bodyPr/>
          <a:lstStyle/>
          <a:p>
            <a:pPr algn="l">
              <a:buNone/>
              <a:defRPr sz="1800" b="1">
                <a:solidFill>
                  <a:srgbClr val="0B5FFF"/>
                </a:solidFill>
              </a:defRPr>
            </a:pPr>
            <a:r>
              <a:rPr sz="1800" b="1">
                <a:solidFill>
                  <a:srgbClr val="0B5FFF"/>
                </a:solidFill>
              </a:rPr>
              <a:t>•</a:t>
            </a:r>
          </a:p>
        </p:txBody>
      </p:sp>
      <p:sp>
        <p:nvSpPr>
          <p:cNvPr id="18" name="Rectangle 17">
            <a:extLst>
              <a:ext uri="{FF2B5EF4-FFF2-40B4-BE49-F238E27FC236}">
                <a16:creationId xmlns:a16="http://schemas.microsoft.com/office/drawing/2014/main" id="{93F632A2-311A-4F75-B644-3B150F14F9A1}"/>
              </a:ext>
            </a:extLst>
          </p:cNvPr>
          <p:cNvSpPr>
            <a:spLocks noGrp="1"/>
          </p:cNvSpPr>
          <p:nvPr/>
        </p:nvSpPr>
        <p:spPr>
          <a:xfrm>
            <a:off x="1428750" y="3990975"/>
            <a:ext cx="9601200" cy="514350"/>
          </a:xfrm>
          <a:prstGeom prst="rect">
            <a:avLst/>
          </a:prstGeom>
          <a:noFill/>
          <a:ln w="0">
            <a:noFill/>
            <a:prstDash val="solid"/>
          </a:ln>
        </p:spPr>
        <p:txBody>
          <a:bodyPr/>
          <a:lstStyle/>
          <a:p>
            <a:pPr algn="l">
              <a:buNone/>
              <a:defRPr sz="1800" b="0">
                <a:solidFill>
                  <a:srgbClr val="020618"/>
                </a:solidFill>
              </a:defRPr>
            </a:pPr>
            <a:r>
              <a:rPr sz="1800" b="0">
                <a:solidFill>
                  <a:srgbClr val="020618"/>
                </a:solidFill>
              </a:rPr>
              <a:t>Thể hiện rõ các nguyên lý OOP qua model, service, validator và repository.</a:t>
            </a:r>
          </a:p>
        </p:txBody>
      </p:sp>
      <p:sp>
        <p:nvSpPr>
          <p:cNvPr id="19" name="Rectangle 18">
            <a:extLst>
              <a:ext uri="{FF2B5EF4-FFF2-40B4-BE49-F238E27FC236}">
                <a16:creationId xmlns:a16="http://schemas.microsoft.com/office/drawing/2014/main" id="{CEBBDF1E-5535-46BC-BB0C-D3B1068AA4EC}"/>
              </a:ext>
            </a:extLst>
          </p:cNvPr>
          <p:cNvSpPr>
            <a:spLocks noGrp="1"/>
          </p:cNvSpPr>
          <p:nvPr/>
        </p:nvSpPr>
        <p:spPr>
          <a:xfrm>
            <a:off x="1123950" y="4514850"/>
            <a:ext cx="228600" cy="285750"/>
          </a:xfrm>
          <a:prstGeom prst="rect">
            <a:avLst/>
          </a:prstGeom>
          <a:noFill/>
          <a:ln w="0">
            <a:noFill/>
            <a:prstDash val="solid"/>
          </a:ln>
        </p:spPr>
        <p:txBody>
          <a:bodyPr/>
          <a:lstStyle/>
          <a:p>
            <a:pPr algn="l">
              <a:buNone/>
              <a:defRPr sz="1800" b="1">
                <a:solidFill>
                  <a:srgbClr val="0B5FFF"/>
                </a:solidFill>
              </a:defRPr>
            </a:pPr>
            <a:r>
              <a:rPr sz="1800" b="1">
                <a:solidFill>
                  <a:srgbClr val="0B5FFF"/>
                </a:solidFill>
              </a:rPr>
              <a:t>•</a:t>
            </a:r>
          </a:p>
        </p:txBody>
      </p:sp>
      <p:sp>
        <p:nvSpPr>
          <p:cNvPr id="20" name="Rectangle 19">
            <a:extLst>
              <a:ext uri="{FF2B5EF4-FFF2-40B4-BE49-F238E27FC236}">
                <a16:creationId xmlns:a16="http://schemas.microsoft.com/office/drawing/2014/main" id="{96640AB4-2D8F-4C13-98CE-6EB03898E8E6}"/>
              </a:ext>
            </a:extLst>
          </p:cNvPr>
          <p:cNvSpPr>
            <a:spLocks noGrp="1"/>
          </p:cNvSpPr>
          <p:nvPr/>
        </p:nvSpPr>
        <p:spPr>
          <a:xfrm>
            <a:off x="1428750" y="4505325"/>
            <a:ext cx="9601200" cy="514350"/>
          </a:xfrm>
          <a:prstGeom prst="rect">
            <a:avLst/>
          </a:prstGeom>
          <a:noFill/>
          <a:ln w="0">
            <a:noFill/>
            <a:prstDash val="solid"/>
          </a:ln>
        </p:spPr>
        <p:txBody>
          <a:bodyPr/>
          <a:lstStyle/>
          <a:p>
            <a:pPr algn="l">
              <a:buNone/>
              <a:defRPr sz="1800" b="0">
                <a:solidFill>
                  <a:srgbClr val="020618"/>
                </a:solidFill>
              </a:defRPr>
            </a:pPr>
            <a:r>
              <a:rPr sz="1800" b="0">
                <a:solidFill>
                  <a:srgbClr val="020618"/>
                </a:solidFill>
              </a:rPr>
              <a:t>Dùng JSON File IO để phù hợp phạm vi bài tập lớn và dễ kiểm chứng dữ liệu.</a:t>
            </a:r>
          </a:p>
        </p:txBody>
      </p:sp>
    </p:spTree>
    <p:extLst>
      <p:ext uri="{BB962C8B-B14F-4D97-AF65-F5344CB8AC3E}">
        <p14:creationId xmlns:p14="http://schemas.microsoft.com/office/powerpoint/2010/main" val="2005144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DF9084A-D5F3-4492-B653-62392004F379}"/>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348A7695-2D8B-4AA5-AA6B-DC4243845108}"/>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Hệ thống tập trung vào luồng sinh viên</a:t>
            </a:r>
          </a:p>
        </p:txBody>
      </p:sp>
      <p:sp>
        <p:nvSpPr>
          <p:cNvPr id="3" name="Straight Connector 2">
            <a:extLst>
              <a:ext uri="{FF2B5EF4-FFF2-40B4-BE49-F238E27FC236}">
                <a16:creationId xmlns:a16="http://schemas.microsoft.com/office/drawing/2014/main" id="{772CEA6C-2001-4899-B0AF-AA8BA27208BB}"/>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E3F6F493-D1DF-47BE-B588-DCC41FE27300}"/>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E6753049-FE48-4F06-AE1A-60D840F184F2}"/>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03</a:t>
            </a:r>
          </a:p>
        </p:txBody>
      </p:sp>
      <p:sp>
        <p:nvSpPr>
          <p:cNvPr id="6" name="Rectangle 5">
            <a:extLst>
              <a:ext uri="{FF2B5EF4-FFF2-40B4-BE49-F238E27FC236}">
                <a16:creationId xmlns:a16="http://schemas.microsoft.com/office/drawing/2014/main" id="{9CC3F886-B2FB-4832-B6E5-51CA7DD22E60}"/>
              </a:ext>
            </a:extLst>
          </p:cNvPr>
          <p:cNvSpPr>
            <a:spLocks noGrp="1"/>
          </p:cNvSpPr>
          <p:nvPr/>
        </p:nvSpPr>
        <p:spPr>
          <a:xfrm>
            <a:off x="742950" y="1638300"/>
            <a:ext cx="228600" cy="285750"/>
          </a:xfrm>
          <a:prstGeom prst="rect">
            <a:avLst/>
          </a:prstGeom>
          <a:noFill/>
          <a:ln w="0">
            <a:noFill/>
            <a:prstDash val="solid"/>
          </a:ln>
        </p:spPr>
        <p:txBody>
          <a:bodyPr/>
          <a:lstStyle/>
          <a:p>
            <a:pPr algn="l">
              <a:buNone/>
              <a:defRPr sz="1800" b="1">
                <a:solidFill>
                  <a:srgbClr val="0B5FFF"/>
                </a:solidFill>
              </a:defRPr>
            </a:pPr>
            <a:r>
              <a:rPr sz="1800" b="1">
                <a:solidFill>
                  <a:srgbClr val="0B5FFF"/>
                </a:solidFill>
              </a:rPr>
              <a:t>•</a:t>
            </a:r>
          </a:p>
        </p:txBody>
      </p:sp>
      <p:sp>
        <p:nvSpPr>
          <p:cNvPr id="7" name="Rectangle 6">
            <a:extLst>
              <a:ext uri="{FF2B5EF4-FFF2-40B4-BE49-F238E27FC236}">
                <a16:creationId xmlns:a16="http://schemas.microsoft.com/office/drawing/2014/main" id="{379D21CE-7170-445A-A0B6-4065036596FF}"/>
              </a:ext>
            </a:extLst>
          </p:cNvPr>
          <p:cNvSpPr>
            <a:spLocks noGrp="1"/>
          </p:cNvSpPr>
          <p:nvPr/>
        </p:nvSpPr>
        <p:spPr>
          <a:xfrm>
            <a:off x="1047750" y="1628775"/>
            <a:ext cx="4552950" cy="552450"/>
          </a:xfrm>
          <a:prstGeom prst="rect">
            <a:avLst/>
          </a:prstGeom>
          <a:noFill/>
          <a:ln w="0">
            <a:noFill/>
            <a:prstDash val="solid"/>
          </a:ln>
        </p:spPr>
        <p:txBody>
          <a:bodyPr/>
          <a:lstStyle/>
          <a:p>
            <a:pPr algn="l">
              <a:buNone/>
              <a:defRPr sz="1800" b="0">
                <a:solidFill>
                  <a:srgbClr val="020618"/>
                </a:solidFill>
              </a:defRPr>
            </a:pPr>
            <a:r>
              <a:rPr sz="1800" b="0">
                <a:solidFill>
                  <a:srgbClr val="020618"/>
                </a:solidFill>
              </a:rPr>
              <a:t>Đăng nhập bằng mã sinh viên demo.</a:t>
            </a:r>
          </a:p>
        </p:txBody>
      </p:sp>
      <p:sp>
        <p:nvSpPr>
          <p:cNvPr id="8" name="Rectangle 7">
            <a:extLst>
              <a:ext uri="{FF2B5EF4-FFF2-40B4-BE49-F238E27FC236}">
                <a16:creationId xmlns:a16="http://schemas.microsoft.com/office/drawing/2014/main" id="{F6DF344A-10B4-49AE-B3E3-0F673C8420D7}"/>
              </a:ext>
            </a:extLst>
          </p:cNvPr>
          <p:cNvSpPr>
            <a:spLocks noGrp="1"/>
          </p:cNvSpPr>
          <p:nvPr/>
        </p:nvSpPr>
        <p:spPr>
          <a:xfrm>
            <a:off x="742950" y="2190750"/>
            <a:ext cx="228600" cy="285750"/>
          </a:xfrm>
          <a:prstGeom prst="rect">
            <a:avLst/>
          </a:prstGeom>
          <a:noFill/>
          <a:ln w="0">
            <a:noFill/>
            <a:prstDash val="solid"/>
          </a:ln>
        </p:spPr>
        <p:txBody>
          <a:bodyPr/>
          <a:lstStyle/>
          <a:p>
            <a:pPr algn="l">
              <a:buNone/>
              <a:defRPr sz="1800" b="1">
                <a:solidFill>
                  <a:srgbClr val="0B5FFF"/>
                </a:solidFill>
              </a:defRPr>
            </a:pPr>
            <a:r>
              <a:rPr sz="1800" b="1">
                <a:solidFill>
                  <a:srgbClr val="0B5FFF"/>
                </a:solidFill>
              </a:rPr>
              <a:t>•</a:t>
            </a:r>
          </a:p>
        </p:txBody>
      </p:sp>
      <p:sp>
        <p:nvSpPr>
          <p:cNvPr id="9" name="Rectangle 8">
            <a:extLst>
              <a:ext uri="{FF2B5EF4-FFF2-40B4-BE49-F238E27FC236}">
                <a16:creationId xmlns:a16="http://schemas.microsoft.com/office/drawing/2014/main" id="{CE8BC63F-2652-42F1-B210-4A33A5781646}"/>
              </a:ext>
            </a:extLst>
          </p:cNvPr>
          <p:cNvSpPr>
            <a:spLocks noGrp="1"/>
          </p:cNvSpPr>
          <p:nvPr/>
        </p:nvSpPr>
        <p:spPr>
          <a:xfrm>
            <a:off x="1047750" y="2181225"/>
            <a:ext cx="4552950" cy="552450"/>
          </a:xfrm>
          <a:prstGeom prst="rect">
            <a:avLst/>
          </a:prstGeom>
          <a:noFill/>
          <a:ln w="0">
            <a:noFill/>
            <a:prstDash val="solid"/>
          </a:ln>
        </p:spPr>
        <p:txBody>
          <a:bodyPr/>
          <a:lstStyle/>
          <a:p>
            <a:pPr algn="l">
              <a:buNone/>
              <a:defRPr sz="1800" b="0">
                <a:solidFill>
                  <a:srgbClr val="020618"/>
                </a:solidFill>
              </a:defRPr>
            </a:pPr>
            <a:r>
              <a:rPr sz="1800" b="0">
                <a:solidFill>
                  <a:srgbClr val="020618"/>
                </a:solidFill>
              </a:rPr>
              <a:t>Tra cứu 40 học phần mở, tìm kiếm và phân trang.</a:t>
            </a:r>
          </a:p>
        </p:txBody>
      </p:sp>
      <p:sp>
        <p:nvSpPr>
          <p:cNvPr id="10" name="Rectangle 9">
            <a:extLst>
              <a:ext uri="{FF2B5EF4-FFF2-40B4-BE49-F238E27FC236}">
                <a16:creationId xmlns:a16="http://schemas.microsoft.com/office/drawing/2014/main" id="{4D20AA48-F9E6-4BEF-B60D-334DF1ED00BD}"/>
              </a:ext>
            </a:extLst>
          </p:cNvPr>
          <p:cNvSpPr>
            <a:spLocks noGrp="1"/>
          </p:cNvSpPr>
          <p:nvPr/>
        </p:nvSpPr>
        <p:spPr>
          <a:xfrm>
            <a:off x="742950" y="2743200"/>
            <a:ext cx="228600" cy="285750"/>
          </a:xfrm>
          <a:prstGeom prst="rect">
            <a:avLst/>
          </a:prstGeom>
          <a:noFill/>
          <a:ln w="0">
            <a:noFill/>
            <a:prstDash val="solid"/>
          </a:ln>
        </p:spPr>
        <p:txBody>
          <a:bodyPr/>
          <a:lstStyle/>
          <a:p>
            <a:pPr algn="l">
              <a:buNone/>
              <a:defRPr sz="1800" b="1">
                <a:solidFill>
                  <a:srgbClr val="0B5FFF"/>
                </a:solidFill>
              </a:defRPr>
            </a:pPr>
            <a:r>
              <a:rPr sz="1800" b="1">
                <a:solidFill>
                  <a:srgbClr val="0B5FFF"/>
                </a:solidFill>
              </a:rPr>
              <a:t>•</a:t>
            </a:r>
          </a:p>
        </p:txBody>
      </p:sp>
      <p:sp>
        <p:nvSpPr>
          <p:cNvPr id="11" name="Rectangle 10">
            <a:extLst>
              <a:ext uri="{FF2B5EF4-FFF2-40B4-BE49-F238E27FC236}">
                <a16:creationId xmlns:a16="http://schemas.microsoft.com/office/drawing/2014/main" id="{CE664CA8-1AC6-4A42-82A7-418973BAA842}"/>
              </a:ext>
            </a:extLst>
          </p:cNvPr>
          <p:cNvSpPr>
            <a:spLocks noGrp="1"/>
          </p:cNvSpPr>
          <p:nvPr/>
        </p:nvSpPr>
        <p:spPr>
          <a:xfrm>
            <a:off x="1047750" y="2733675"/>
            <a:ext cx="4552950" cy="552450"/>
          </a:xfrm>
          <a:prstGeom prst="rect">
            <a:avLst/>
          </a:prstGeom>
          <a:noFill/>
          <a:ln w="0">
            <a:noFill/>
            <a:prstDash val="solid"/>
          </a:ln>
        </p:spPr>
        <p:txBody>
          <a:bodyPr/>
          <a:lstStyle/>
          <a:p>
            <a:pPr algn="l">
              <a:buNone/>
              <a:defRPr sz="1800" b="0">
                <a:solidFill>
                  <a:srgbClr val="020618"/>
                </a:solidFill>
              </a:defRPr>
            </a:pPr>
            <a:r>
              <a:rPr sz="1800" b="0">
                <a:solidFill>
                  <a:srgbClr val="020618"/>
                </a:solidFill>
              </a:rPr>
              <a:t>Đăng ký/hủy học phần theo các quy tắc nghiệp vụ.</a:t>
            </a:r>
          </a:p>
        </p:txBody>
      </p:sp>
      <p:sp>
        <p:nvSpPr>
          <p:cNvPr id="12" name="Rectangle 11">
            <a:extLst>
              <a:ext uri="{FF2B5EF4-FFF2-40B4-BE49-F238E27FC236}">
                <a16:creationId xmlns:a16="http://schemas.microsoft.com/office/drawing/2014/main" id="{FF88E691-AFD2-4128-BBF9-9A08607BBD53}"/>
              </a:ext>
            </a:extLst>
          </p:cNvPr>
          <p:cNvSpPr>
            <a:spLocks noGrp="1"/>
          </p:cNvSpPr>
          <p:nvPr/>
        </p:nvSpPr>
        <p:spPr>
          <a:xfrm>
            <a:off x="742950" y="3295650"/>
            <a:ext cx="228600" cy="285750"/>
          </a:xfrm>
          <a:prstGeom prst="rect">
            <a:avLst/>
          </a:prstGeom>
          <a:noFill/>
          <a:ln w="0">
            <a:noFill/>
            <a:prstDash val="solid"/>
          </a:ln>
        </p:spPr>
        <p:txBody>
          <a:bodyPr/>
          <a:lstStyle/>
          <a:p>
            <a:pPr algn="l">
              <a:buNone/>
              <a:defRPr sz="1800" b="1">
                <a:solidFill>
                  <a:srgbClr val="0B5FFF"/>
                </a:solidFill>
              </a:defRPr>
            </a:pPr>
            <a:r>
              <a:rPr sz="1800" b="1">
                <a:solidFill>
                  <a:srgbClr val="0B5FFF"/>
                </a:solidFill>
              </a:rPr>
              <a:t>•</a:t>
            </a:r>
          </a:p>
        </p:txBody>
      </p:sp>
      <p:sp>
        <p:nvSpPr>
          <p:cNvPr id="13" name="Rectangle 12">
            <a:extLst>
              <a:ext uri="{FF2B5EF4-FFF2-40B4-BE49-F238E27FC236}">
                <a16:creationId xmlns:a16="http://schemas.microsoft.com/office/drawing/2014/main" id="{1B20DD7C-EDF2-4989-91A3-B2BB0C2514A7}"/>
              </a:ext>
            </a:extLst>
          </p:cNvPr>
          <p:cNvSpPr>
            <a:spLocks noGrp="1"/>
          </p:cNvSpPr>
          <p:nvPr/>
        </p:nvSpPr>
        <p:spPr>
          <a:xfrm>
            <a:off x="1047750" y="3286125"/>
            <a:ext cx="4552950" cy="552450"/>
          </a:xfrm>
          <a:prstGeom prst="rect">
            <a:avLst/>
          </a:prstGeom>
          <a:noFill/>
          <a:ln w="0">
            <a:noFill/>
            <a:prstDash val="solid"/>
          </a:ln>
        </p:spPr>
        <p:txBody>
          <a:bodyPr/>
          <a:lstStyle/>
          <a:p>
            <a:pPr algn="l">
              <a:buNone/>
              <a:defRPr sz="1800" b="0">
                <a:solidFill>
                  <a:srgbClr val="020618"/>
                </a:solidFill>
              </a:defRPr>
            </a:pPr>
            <a:r>
              <a:rPr sz="1800" b="0">
                <a:solidFill>
                  <a:srgbClr val="020618"/>
                </a:solidFill>
              </a:rPr>
              <a:t>Theo dõi môn đã đăng ký, tổng tín chỉ, thời khóa biểu và thông báo.</a:t>
            </a:r>
          </a:p>
        </p:txBody>
      </p:sp>
      <p:sp>
        <p:nvSpPr>
          <p:cNvPr id="14" name="Rectangle: Rounded Corners 13">
            <a:extLst>
              <a:ext uri="{FF2B5EF4-FFF2-40B4-BE49-F238E27FC236}">
                <a16:creationId xmlns:a16="http://schemas.microsoft.com/office/drawing/2014/main" id="{8FFBE008-98CF-4A98-993E-10A78D2C5575}"/>
              </a:ext>
            </a:extLst>
          </p:cNvPr>
          <p:cNvSpPr>
            <a:spLocks noGrp="1"/>
          </p:cNvSpPr>
          <p:nvPr/>
        </p:nvSpPr>
        <p:spPr>
          <a:xfrm>
            <a:off x="6000750" y="1504950"/>
            <a:ext cx="5143500" cy="3333750"/>
          </a:xfrm>
          <a:prstGeom prst="roundRect">
            <a:avLst>
              <a:gd name="adj" fmla="val 4571"/>
            </a:avLst>
          </a:prstGeom>
          <a:solidFill>
            <a:srgbClr val="FFFFFF"/>
          </a:solidFill>
          <a:ln w="9525">
            <a:solidFill>
              <a:srgbClr val="E2E8F0"/>
            </a:solidFill>
            <a:prstDash val="solid"/>
          </a:ln>
        </p:spPr>
      </p:sp>
      <p:pic>
        <p:nvPicPr>
          <p:cNvPr id="33" name="Picture 32"/>
          <p:cNvPicPr>
            <a:picLocks noChangeAspect="1"/>
          </p:cNvPicPr>
          <p:nvPr/>
        </p:nvPicPr>
        <p:blipFill>
          <a:blip r:embed="rId3"/>
          <a:stretch/>
        </p:blipFill>
        <p:spPr>
          <a:xfrm>
            <a:off x="6096000" y="1624013"/>
            <a:ext cx="4953000" cy="3095625"/>
          </a:xfrm>
          <a:prstGeom prst="roundRect">
            <a:avLst>
              <a:gd name="adj" fmla="val 3636"/>
            </a:avLst>
          </a:prstGeom>
        </p:spPr>
      </p:pic>
      <p:sp>
        <p:nvSpPr>
          <p:cNvPr id="16" name="Rectangle 15">
            <a:extLst>
              <a:ext uri="{FF2B5EF4-FFF2-40B4-BE49-F238E27FC236}">
                <a16:creationId xmlns:a16="http://schemas.microsoft.com/office/drawing/2014/main" id="{119184C8-48D2-442D-91D2-C4F39A556EDB}"/>
              </a:ext>
            </a:extLst>
          </p:cNvPr>
          <p:cNvSpPr>
            <a:spLocks noGrp="1"/>
          </p:cNvSpPr>
          <p:nvPr/>
        </p:nvSpPr>
        <p:spPr>
          <a:xfrm>
            <a:off x="6229350" y="5010150"/>
            <a:ext cx="4686300" cy="495300"/>
          </a:xfrm>
          <a:prstGeom prst="rect">
            <a:avLst/>
          </a:prstGeom>
          <a:noFill/>
          <a:ln w="0">
            <a:noFill/>
            <a:prstDash val="solid"/>
          </a:ln>
        </p:spPr>
        <p:txBody>
          <a:bodyPr/>
          <a:lstStyle/>
          <a:p>
            <a:pPr algn="l">
              <a:buNone/>
              <a:defRPr sz="1350" b="0">
                <a:solidFill>
                  <a:srgbClr val="45556C"/>
                </a:solidFill>
              </a:defRPr>
            </a:pPr>
            <a:r>
              <a:rPr sz="1350" b="0">
                <a:solidFill>
                  <a:srgbClr val="45556C"/>
                </a:solidFill>
              </a:rPr>
              <a:t>Dashboard là màn hình tổng hợp trạng thái học tập và đăng ký của sinh viên.</a:t>
            </a:r>
          </a:p>
        </p:txBody>
      </p:sp>
    </p:spTree>
    <p:extLst>
      <p:ext uri="{BB962C8B-B14F-4D97-AF65-F5344CB8AC3E}">
        <p14:creationId xmlns:p14="http://schemas.microsoft.com/office/powerpoint/2010/main" val="208289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5B4A66D-F2ED-497F-B445-CEAC81199857}"/>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CB08F73A-BEF8-4829-B534-3DC2BF159762}"/>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Công nghệ được chọn vừa đủ cho phạm vi BTL</a:t>
            </a:r>
          </a:p>
        </p:txBody>
      </p:sp>
      <p:sp>
        <p:nvSpPr>
          <p:cNvPr id="3" name="Straight Connector 2">
            <a:extLst>
              <a:ext uri="{FF2B5EF4-FFF2-40B4-BE49-F238E27FC236}">
                <a16:creationId xmlns:a16="http://schemas.microsoft.com/office/drawing/2014/main" id="{8023F0A9-A8F8-4781-B72C-4881B82B6CFB}"/>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EEBC132A-FCE5-406B-8367-A4016679895C}"/>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4F907739-187F-44DE-B2F3-7EB5EE3B36EA}"/>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04</a:t>
            </a:r>
          </a:p>
        </p:txBody>
      </p:sp>
      <p:sp>
        <p:nvSpPr>
          <p:cNvPr id="6" name="Rectangle: Rounded Corners 5">
            <a:extLst>
              <a:ext uri="{FF2B5EF4-FFF2-40B4-BE49-F238E27FC236}">
                <a16:creationId xmlns:a16="http://schemas.microsoft.com/office/drawing/2014/main" id="{E387D979-1239-47DB-B78F-40B3523760BE}"/>
              </a:ext>
            </a:extLst>
          </p:cNvPr>
          <p:cNvSpPr>
            <a:spLocks noGrp="1"/>
          </p:cNvSpPr>
          <p:nvPr/>
        </p:nvSpPr>
        <p:spPr>
          <a:xfrm>
            <a:off x="723900" y="1619250"/>
            <a:ext cx="3048000" cy="1295400"/>
          </a:xfrm>
          <a:prstGeom prst="roundRect">
            <a:avLst>
              <a:gd name="adj" fmla="val 11765"/>
            </a:avLst>
          </a:prstGeom>
          <a:solidFill>
            <a:srgbClr val="FFFFFF"/>
          </a:solidFill>
          <a:ln w="9525">
            <a:solidFill>
              <a:srgbClr val="E2E8F0"/>
            </a:solidFill>
            <a:prstDash val="solid"/>
          </a:ln>
        </p:spPr>
      </p:sp>
      <p:sp>
        <p:nvSpPr>
          <p:cNvPr id="7" name="Rectangle 6">
            <a:extLst>
              <a:ext uri="{FF2B5EF4-FFF2-40B4-BE49-F238E27FC236}">
                <a16:creationId xmlns:a16="http://schemas.microsoft.com/office/drawing/2014/main" id="{3AF45B2F-F2C0-4E39-98F4-8DFDC0390556}"/>
              </a:ext>
            </a:extLst>
          </p:cNvPr>
          <p:cNvSpPr>
            <a:spLocks noGrp="1"/>
          </p:cNvSpPr>
          <p:nvPr/>
        </p:nvSpPr>
        <p:spPr>
          <a:xfrm>
            <a:off x="933450" y="1790700"/>
            <a:ext cx="2571750" cy="285750"/>
          </a:xfrm>
          <a:prstGeom prst="rect">
            <a:avLst/>
          </a:prstGeom>
          <a:noFill/>
          <a:ln w="0">
            <a:noFill/>
            <a:prstDash val="solid"/>
          </a:ln>
        </p:spPr>
        <p:txBody>
          <a:bodyPr/>
          <a:lstStyle/>
          <a:p>
            <a:pPr algn="l">
              <a:buNone/>
              <a:defRPr sz="1800" b="1">
                <a:solidFill>
                  <a:srgbClr val="0B2A6F"/>
                </a:solidFill>
              </a:defRPr>
            </a:pPr>
            <a:r>
              <a:rPr sz="1800" b="1">
                <a:solidFill>
                  <a:srgbClr val="0B2A6F"/>
                </a:solidFill>
              </a:rPr>
              <a:t>Frontend</a:t>
            </a:r>
          </a:p>
        </p:txBody>
      </p:sp>
      <p:sp>
        <p:nvSpPr>
          <p:cNvPr id="8" name="Rectangle 7">
            <a:extLst>
              <a:ext uri="{FF2B5EF4-FFF2-40B4-BE49-F238E27FC236}">
                <a16:creationId xmlns:a16="http://schemas.microsoft.com/office/drawing/2014/main" id="{C22AEB85-7F04-49D4-94EE-BA212BDF65F4}"/>
              </a:ext>
            </a:extLst>
          </p:cNvPr>
          <p:cNvSpPr>
            <a:spLocks noGrp="1"/>
          </p:cNvSpPr>
          <p:nvPr/>
        </p:nvSpPr>
        <p:spPr>
          <a:xfrm>
            <a:off x="933450" y="2171700"/>
            <a:ext cx="2571750" cy="628650"/>
          </a:xfrm>
          <a:prstGeom prst="rect">
            <a:avLst/>
          </a:prstGeom>
          <a:noFill/>
          <a:ln w="0">
            <a:noFill/>
            <a:prstDash val="solid"/>
          </a:ln>
        </p:spPr>
        <p:txBody>
          <a:bodyPr/>
          <a:lstStyle/>
          <a:p>
            <a:pPr algn="l">
              <a:buNone/>
              <a:defRPr sz="1500" b="0">
                <a:solidFill>
                  <a:srgbClr val="45556C"/>
                </a:solidFill>
              </a:defRPr>
            </a:pPr>
            <a:r>
              <a:rPr sz="1500" b="0">
                <a:solidFill>
                  <a:srgbClr val="45556C"/>
                </a:solidFill>
              </a:rPr>
              <a:t>React</a:t>
            </a:r>
          </a:p>
          <a:p>
            <a:pPr algn="l">
              <a:buNone/>
              <a:defRPr sz="1500" b="0">
                <a:solidFill>
                  <a:srgbClr val="45556C"/>
                </a:solidFill>
              </a:defRPr>
            </a:pPr>
            <a:r>
              <a:rPr sz="1500" b="0">
                <a:solidFill>
                  <a:srgbClr val="45556C"/>
                </a:solidFill>
              </a:rPr>
              <a:t>TypeScript</a:t>
            </a:r>
          </a:p>
          <a:p>
            <a:pPr algn="l">
              <a:buNone/>
              <a:defRPr sz="1500" b="0">
                <a:solidFill>
                  <a:srgbClr val="45556C"/>
                </a:solidFill>
              </a:defRPr>
            </a:pPr>
            <a:r>
              <a:rPr sz="1500" b="0">
                <a:solidFill>
                  <a:srgbClr val="45556C"/>
                </a:solidFill>
              </a:rPr>
              <a:t>Vite</a:t>
            </a:r>
          </a:p>
        </p:txBody>
      </p:sp>
      <p:sp>
        <p:nvSpPr>
          <p:cNvPr id="9" name="Rectangle: Rounded Corners 8">
            <a:extLst>
              <a:ext uri="{FF2B5EF4-FFF2-40B4-BE49-F238E27FC236}">
                <a16:creationId xmlns:a16="http://schemas.microsoft.com/office/drawing/2014/main" id="{AB2F54AD-D71A-45AF-9D9E-BACDE5F8C6EE}"/>
              </a:ext>
            </a:extLst>
          </p:cNvPr>
          <p:cNvSpPr>
            <a:spLocks noGrp="1"/>
          </p:cNvSpPr>
          <p:nvPr/>
        </p:nvSpPr>
        <p:spPr>
          <a:xfrm>
            <a:off x="4362450" y="1619250"/>
            <a:ext cx="3048000" cy="1295400"/>
          </a:xfrm>
          <a:prstGeom prst="roundRect">
            <a:avLst>
              <a:gd name="adj" fmla="val 11765"/>
            </a:avLst>
          </a:prstGeom>
          <a:solidFill>
            <a:srgbClr val="FFFFFF"/>
          </a:solidFill>
          <a:ln w="9525">
            <a:solidFill>
              <a:srgbClr val="E2E8F0"/>
            </a:solidFill>
            <a:prstDash val="solid"/>
          </a:ln>
        </p:spPr>
      </p:sp>
      <p:sp>
        <p:nvSpPr>
          <p:cNvPr id="10" name="Rectangle 9">
            <a:extLst>
              <a:ext uri="{FF2B5EF4-FFF2-40B4-BE49-F238E27FC236}">
                <a16:creationId xmlns:a16="http://schemas.microsoft.com/office/drawing/2014/main" id="{4CC9D4DE-37EE-4C67-850C-F207A7EDA4EB}"/>
              </a:ext>
            </a:extLst>
          </p:cNvPr>
          <p:cNvSpPr>
            <a:spLocks noGrp="1"/>
          </p:cNvSpPr>
          <p:nvPr/>
        </p:nvSpPr>
        <p:spPr>
          <a:xfrm>
            <a:off x="4572000" y="1790700"/>
            <a:ext cx="2571750" cy="285750"/>
          </a:xfrm>
          <a:prstGeom prst="rect">
            <a:avLst/>
          </a:prstGeom>
          <a:noFill/>
          <a:ln w="0">
            <a:noFill/>
            <a:prstDash val="solid"/>
          </a:ln>
        </p:spPr>
        <p:txBody>
          <a:bodyPr/>
          <a:lstStyle/>
          <a:p>
            <a:pPr algn="l">
              <a:buNone/>
              <a:defRPr sz="1800" b="1">
                <a:solidFill>
                  <a:srgbClr val="0B2A6F"/>
                </a:solidFill>
              </a:defRPr>
            </a:pPr>
            <a:r>
              <a:rPr sz="1800" b="1">
                <a:solidFill>
                  <a:srgbClr val="0B2A6F"/>
                </a:solidFill>
              </a:rPr>
              <a:t>Backend</a:t>
            </a:r>
          </a:p>
        </p:txBody>
      </p:sp>
      <p:sp>
        <p:nvSpPr>
          <p:cNvPr id="11" name="Rectangle 10">
            <a:extLst>
              <a:ext uri="{FF2B5EF4-FFF2-40B4-BE49-F238E27FC236}">
                <a16:creationId xmlns:a16="http://schemas.microsoft.com/office/drawing/2014/main" id="{1A4CEB21-9331-4B68-901C-F448969041B7}"/>
              </a:ext>
            </a:extLst>
          </p:cNvPr>
          <p:cNvSpPr>
            <a:spLocks noGrp="1"/>
          </p:cNvSpPr>
          <p:nvPr/>
        </p:nvSpPr>
        <p:spPr>
          <a:xfrm>
            <a:off x="4572000" y="2171700"/>
            <a:ext cx="2571750" cy="628650"/>
          </a:xfrm>
          <a:prstGeom prst="rect">
            <a:avLst/>
          </a:prstGeom>
          <a:noFill/>
          <a:ln w="0">
            <a:noFill/>
            <a:prstDash val="solid"/>
          </a:ln>
        </p:spPr>
        <p:txBody>
          <a:bodyPr/>
          <a:lstStyle/>
          <a:p>
            <a:pPr algn="l">
              <a:buNone/>
              <a:defRPr sz="1500" b="0">
                <a:solidFill>
                  <a:srgbClr val="45556C"/>
                </a:solidFill>
              </a:defRPr>
            </a:pPr>
            <a:r>
              <a:rPr sz="1500" b="0">
                <a:solidFill>
                  <a:srgbClr val="45556C"/>
                </a:solidFill>
              </a:rPr>
              <a:t>Java</a:t>
            </a:r>
          </a:p>
          <a:p>
            <a:pPr algn="l">
              <a:buNone/>
              <a:defRPr sz="1500" b="0">
                <a:solidFill>
                  <a:srgbClr val="45556C"/>
                </a:solidFill>
              </a:defRPr>
            </a:pPr>
            <a:r>
              <a:rPr sz="1500" b="0">
                <a:solidFill>
                  <a:srgbClr val="45556C"/>
                </a:solidFill>
              </a:rPr>
              <a:t>Spring Boot</a:t>
            </a:r>
          </a:p>
          <a:p>
            <a:pPr algn="l">
              <a:buNone/>
              <a:defRPr sz="1500" b="0">
                <a:solidFill>
                  <a:srgbClr val="45556C"/>
                </a:solidFill>
              </a:defRPr>
            </a:pPr>
            <a:r>
              <a:rPr sz="1500" b="0">
                <a:solidFill>
                  <a:srgbClr val="45556C"/>
                </a:solidFill>
              </a:rPr>
              <a:t>Maven</a:t>
            </a:r>
          </a:p>
        </p:txBody>
      </p:sp>
      <p:sp>
        <p:nvSpPr>
          <p:cNvPr id="12" name="Rectangle: Rounded Corners 11">
            <a:extLst>
              <a:ext uri="{FF2B5EF4-FFF2-40B4-BE49-F238E27FC236}">
                <a16:creationId xmlns:a16="http://schemas.microsoft.com/office/drawing/2014/main" id="{B41F832E-677F-44BE-81E2-07C026CD7CFE}"/>
              </a:ext>
            </a:extLst>
          </p:cNvPr>
          <p:cNvSpPr>
            <a:spLocks noGrp="1"/>
          </p:cNvSpPr>
          <p:nvPr/>
        </p:nvSpPr>
        <p:spPr>
          <a:xfrm>
            <a:off x="8001000" y="1619250"/>
            <a:ext cx="3048000" cy="1295400"/>
          </a:xfrm>
          <a:prstGeom prst="roundRect">
            <a:avLst>
              <a:gd name="adj" fmla="val 11765"/>
            </a:avLst>
          </a:prstGeom>
          <a:solidFill>
            <a:srgbClr val="FFFFFF"/>
          </a:solidFill>
          <a:ln w="9525">
            <a:solidFill>
              <a:srgbClr val="E2E8F0"/>
            </a:solidFill>
            <a:prstDash val="solid"/>
          </a:ln>
        </p:spPr>
      </p:sp>
      <p:sp>
        <p:nvSpPr>
          <p:cNvPr id="13" name="Rectangle 12">
            <a:extLst>
              <a:ext uri="{FF2B5EF4-FFF2-40B4-BE49-F238E27FC236}">
                <a16:creationId xmlns:a16="http://schemas.microsoft.com/office/drawing/2014/main" id="{D6B428A4-CFDB-4A91-80F4-C6DBE2343D94}"/>
              </a:ext>
            </a:extLst>
          </p:cNvPr>
          <p:cNvSpPr>
            <a:spLocks noGrp="1"/>
          </p:cNvSpPr>
          <p:nvPr/>
        </p:nvSpPr>
        <p:spPr>
          <a:xfrm>
            <a:off x="8210550" y="1790700"/>
            <a:ext cx="2571750" cy="285750"/>
          </a:xfrm>
          <a:prstGeom prst="rect">
            <a:avLst/>
          </a:prstGeom>
          <a:noFill/>
          <a:ln w="0">
            <a:noFill/>
            <a:prstDash val="solid"/>
          </a:ln>
        </p:spPr>
        <p:txBody>
          <a:bodyPr/>
          <a:lstStyle/>
          <a:p>
            <a:pPr algn="l">
              <a:buNone/>
              <a:defRPr sz="1800" b="1">
                <a:solidFill>
                  <a:srgbClr val="0B2A6F"/>
                </a:solidFill>
              </a:defRPr>
            </a:pPr>
            <a:r>
              <a:rPr sz="1800" b="1">
                <a:solidFill>
                  <a:srgbClr val="0B2A6F"/>
                </a:solidFill>
              </a:rPr>
              <a:t>Data</a:t>
            </a:r>
          </a:p>
        </p:txBody>
      </p:sp>
      <p:sp>
        <p:nvSpPr>
          <p:cNvPr id="14" name="Rectangle 13">
            <a:extLst>
              <a:ext uri="{FF2B5EF4-FFF2-40B4-BE49-F238E27FC236}">
                <a16:creationId xmlns:a16="http://schemas.microsoft.com/office/drawing/2014/main" id="{C127EFBC-B857-46A1-B4C8-D2F857300163}"/>
              </a:ext>
            </a:extLst>
          </p:cNvPr>
          <p:cNvSpPr>
            <a:spLocks noGrp="1"/>
          </p:cNvSpPr>
          <p:nvPr/>
        </p:nvSpPr>
        <p:spPr>
          <a:xfrm>
            <a:off x="8210550" y="2171700"/>
            <a:ext cx="2571750" cy="628650"/>
          </a:xfrm>
          <a:prstGeom prst="rect">
            <a:avLst/>
          </a:prstGeom>
          <a:noFill/>
          <a:ln w="0">
            <a:noFill/>
            <a:prstDash val="solid"/>
          </a:ln>
        </p:spPr>
        <p:txBody>
          <a:bodyPr/>
          <a:lstStyle/>
          <a:p>
            <a:pPr algn="l">
              <a:buNone/>
              <a:defRPr sz="1500" b="0">
                <a:solidFill>
                  <a:srgbClr val="45556C"/>
                </a:solidFill>
              </a:defRPr>
            </a:pPr>
            <a:r>
              <a:rPr sz="1500" b="0">
                <a:solidFill>
                  <a:srgbClr val="45556C"/>
                </a:solidFill>
              </a:rPr>
              <a:t>JSON File IO</a:t>
            </a:r>
          </a:p>
          <a:p>
            <a:pPr algn="l">
              <a:buNone/>
              <a:defRPr sz="1500" b="0">
                <a:solidFill>
                  <a:srgbClr val="45556C"/>
                </a:solidFill>
              </a:defRPr>
            </a:pPr>
            <a:r>
              <a:rPr sz="1500" b="0">
                <a:solidFill>
                  <a:srgbClr val="45556C"/>
                </a:solidFill>
              </a:rPr>
              <a:t>Jackson</a:t>
            </a:r>
          </a:p>
          <a:p>
            <a:pPr algn="l">
              <a:buNone/>
              <a:defRPr sz="1500" b="0">
                <a:solidFill>
                  <a:srgbClr val="45556C"/>
                </a:solidFill>
              </a:defRPr>
            </a:pPr>
            <a:r>
              <a:rPr sz="1500" b="0">
                <a:solidFill>
                  <a:srgbClr val="45556C"/>
                </a:solidFill>
              </a:rPr>
              <a:t>UTF-8</a:t>
            </a:r>
          </a:p>
        </p:txBody>
      </p:sp>
      <p:sp>
        <p:nvSpPr>
          <p:cNvPr id="15" name="Rectangle: Rounded Corners 14">
            <a:extLst>
              <a:ext uri="{FF2B5EF4-FFF2-40B4-BE49-F238E27FC236}">
                <a16:creationId xmlns:a16="http://schemas.microsoft.com/office/drawing/2014/main" id="{9C302970-1D6F-4428-8183-35B67ECAC748}"/>
              </a:ext>
            </a:extLst>
          </p:cNvPr>
          <p:cNvSpPr>
            <a:spLocks noGrp="1"/>
          </p:cNvSpPr>
          <p:nvPr/>
        </p:nvSpPr>
        <p:spPr>
          <a:xfrm>
            <a:off x="723900" y="3429000"/>
            <a:ext cx="3048000" cy="1295400"/>
          </a:xfrm>
          <a:prstGeom prst="roundRect">
            <a:avLst>
              <a:gd name="adj" fmla="val 11765"/>
            </a:avLst>
          </a:prstGeom>
          <a:solidFill>
            <a:srgbClr val="FFFFFF"/>
          </a:solidFill>
          <a:ln w="9525">
            <a:solidFill>
              <a:srgbClr val="E2E8F0"/>
            </a:solidFill>
            <a:prstDash val="solid"/>
          </a:ln>
        </p:spPr>
      </p:sp>
      <p:sp>
        <p:nvSpPr>
          <p:cNvPr id="16" name="Rectangle 15">
            <a:extLst>
              <a:ext uri="{FF2B5EF4-FFF2-40B4-BE49-F238E27FC236}">
                <a16:creationId xmlns:a16="http://schemas.microsoft.com/office/drawing/2014/main" id="{D6DF26EA-7BCC-486A-A8FE-28043A5D2444}"/>
              </a:ext>
            </a:extLst>
          </p:cNvPr>
          <p:cNvSpPr>
            <a:spLocks noGrp="1"/>
          </p:cNvSpPr>
          <p:nvPr/>
        </p:nvSpPr>
        <p:spPr>
          <a:xfrm>
            <a:off x="933450" y="3600450"/>
            <a:ext cx="2571750" cy="285750"/>
          </a:xfrm>
          <a:prstGeom prst="rect">
            <a:avLst/>
          </a:prstGeom>
          <a:noFill/>
          <a:ln w="0">
            <a:noFill/>
            <a:prstDash val="solid"/>
          </a:ln>
        </p:spPr>
        <p:txBody>
          <a:bodyPr/>
          <a:lstStyle/>
          <a:p>
            <a:pPr algn="l">
              <a:buNone/>
              <a:defRPr sz="1800" b="1">
                <a:solidFill>
                  <a:srgbClr val="0B2A6F"/>
                </a:solidFill>
              </a:defRPr>
            </a:pPr>
            <a:r>
              <a:rPr sz="1800" b="1">
                <a:solidFill>
                  <a:srgbClr val="0B2A6F"/>
                </a:solidFill>
              </a:rPr>
              <a:t>Test</a:t>
            </a:r>
          </a:p>
        </p:txBody>
      </p:sp>
      <p:sp>
        <p:nvSpPr>
          <p:cNvPr id="17" name="Rectangle 16">
            <a:extLst>
              <a:ext uri="{FF2B5EF4-FFF2-40B4-BE49-F238E27FC236}">
                <a16:creationId xmlns:a16="http://schemas.microsoft.com/office/drawing/2014/main" id="{9115DF65-878F-4FCD-AC70-E6803FED100C}"/>
              </a:ext>
            </a:extLst>
          </p:cNvPr>
          <p:cNvSpPr>
            <a:spLocks noGrp="1"/>
          </p:cNvSpPr>
          <p:nvPr/>
        </p:nvSpPr>
        <p:spPr>
          <a:xfrm>
            <a:off x="933450" y="3981450"/>
            <a:ext cx="2571750" cy="628650"/>
          </a:xfrm>
          <a:prstGeom prst="rect">
            <a:avLst/>
          </a:prstGeom>
          <a:noFill/>
          <a:ln w="0">
            <a:noFill/>
            <a:prstDash val="solid"/>
          </a:ln>
        </p:spPr>
        <p:txBody>
          <a:bodyPr/>
          <a:lstStyle/>
          <a:p>
            <a:pPr algn="l">
              <a:buNone/>
              <a:defRPr sz="1500" b="0">
                <a:solidFill>
                  <a:srgbClr val="45556C"/>
                </a:solidFill>
              </a:defRPr>
            </a:pPr>
            <a:r>
              <a:rPr sz="1500" b="0">
                <a:solidFill>
                  <a:srgbClr val="45556C"/>
                </a:solidFill>
              </a:rPr>
              <a:t>JUnit</a:t>
            </a:r>
          </a:p>
          <a:p>
            <a:pPr algn="l">
              <a:buNone/>
              <a:defRPr sz="1500" b="0">
                <a:solidFill>
                  <a:srgbClr val="45556C"/>
                </a:solidFill>
              </a:defRPr>
            </a:pPr>
            <a:r>
              <a:rPr sz="1500" b="0">
                <a:solidFill>
                  <a:srgbClr val="45556C"/>
                </a:solidFill>
              </a:rPr>
              <a:t>Mockito</a:t>
            </a:r>
          </a:p>
          <a:p>
            <a:pPr algn="l">
              <a:buNone/>
              <a:defRPr sz="1500" b="0">
                <a:solidFill>
                  <a:srgbClr val="45556C"/>
                </a:solidFill>
              </a:defRPr>
            </a:pPr>
            <a:r>
              <a:rPr sz="1500" b="0">
                <a:solidFill>
                  <a:srgbClr val="45556C"/>
                </a:solidFill>
              </a:rPr>
              <a:t>MockMvc</a:t>
            </a:r>
          </a:p>
        </p:txBody>
      </p:sp>
      <p:sp>
        <p:nvSpPr>
          <p:cNvPr id="18" name="Rectangle: Rounded Corners 17">
            <a:extLst>
              <a:ext uri="{FF2B5EF4-FFF2-40B4-BE49-F238E27FC236}">
                <a16:creationId xmlns:a16="http://schemas.microsoft.com/office/drawing/2014/main" id="{58CC974E-8691-4430-876D-DA6D825EE32C}"/>
              </a:ext>
            </a:extLst>
          </p:cNvPr>
          <p:cNvSpPr>
            <a:spLocks noGrp="1"/>
          </p:cNvSpPr>
          <p:nvPr/>
        </p:nvSpPr>
        <p:spPr>
          <a:xfrm>
            <a:off x="4362450" y="3429000"/>
            <a:ext cx="3048000" cy="1295400"/>
          </a:xfrm>
          <a:prstGeom prst="roundRect">
            <a:avLst>
              <a:gd name="adj" fmla="val 11765"/>
            </a:avLst>
          </a:prstGeom>
          <a:solidFill>
            <a:srgbClr val="FFFFFF"/>
          </a:solidFill>
          <a:ln w="9525">
            <a:solidFill>
              <a:srgbClr val="E2E8F0"/>
            </a:solidFill>
            <a:prstDash val="solid"/>
          </a:ln>
        </p:spPr>
      </p:sp>
      <p:sp>
        <p:nvSpPr>
          <p:cNvPr id="19" name="Rectangle 18">
            <a:extLst>
              <a:ext uri="{FF2B5EF4-FFF2-40B4-BE49-F238E27FC236}">
                <a16:creationId xmlns:a16="http://schemas.microsoft.com/office/drawing/2014/main" id="{C967675C-5E64-4BBB-B60F-70FAC781853B}"/>
              </a:ext>
            </a:extLst>
          </p:cNvPr>
          <p:cNvSpPr>
            <a:spLocks noGrp="1"/>
          </p:cNvSpPr>
          <p:nvPr/>
        </p:nvSpPr>
        <p:spPr>
          <a:xfrm>
            <a:off x="4572000" y="3600450"/>
            <a:ext cx="2571750" cy="285750"/>
          </a:xfrm>
          <a:prstGeom prst="rect">
            <a:avLst/>
          </a:prstGeom>
          <a:noFill/>
          <a:ln w="0">
            <a:noFill/>
            <a:prstDash val="solid"/>
          </a:ln>
        </p:spPr>
        <p:txBody>
          <a:bodyPr/>
          <a:lstStyle/>
          <a:p>
            <a:pPr algn="l">
              <a:buNone/>
              <a:defRPr sz="1800" b="1">
                <a:solidFill>
                  <a:srgbClr val="0B2A6F"/>
                </a:solidFill>
              </a:defRPr>
            </a:pPr>
            <a:r>
              <a:rPr sz="1800" b="1">
                <a:solidFill>
                  <a:srgbClr val="0B2A6F"/>
                </a:solidFill>
              </a:rPr>
              <a:t>Quản lý mã nguồn</a:t>
            </a:r>
          </a:p>
        </p:txBody>
      </p:sp>
      <p:sp>
        <p:nvSpPr>
          <p:cNvPr id="20" name="Rectangle 19">
            <a:extLst>
              <a:ext uri="{FF2B5EF4-FFF2-40B4-BE49-F238E27FC236}">
                <a16:creationId xmlns:a16="http://schemas.microsoft.com/office/drawing/2014/main" id="{FEF20E13-BB8B-4BB2-8D55-ECFD48DAD51E}"/>
              </a:ext>
            </a:extLst>
          </p:cNvPr>
          <p:cNvSpPr>
            <a:spLocks noGrp="1"/>
          </p:cNvSpPr>
          <p:nvPr/>
        </p:nvSpPr>
        <p:spPr>
          <a:xfrm>
            <a:off x="4572000" y="3981450"/>
            <a:ext cx="2571750" cy="628650"/>
          </a:xfrm>
          <a:prstGeom prst="rect">
            <a:avLst/>
          </a:prstGeom>
          <a:noFill/>
          <a:ln w="0">
            <a:noFill/>
            <a:prstDash val="solid"/>
          </a:ln>
        </p:spPr>
        <p:txBody>
          <a:bodyPr/>
          <a:lstStyle/>
          <a:p>
            <a:pPr algn="l">
              <a:buNone/>
              <a:defRPr sz="1500" b="0">
                <a:solidFill>
                  <a:srgbClr val="45556C"/>
                </a:solidFill>
              </a:defRPr>
            </a:pPr>
            <a:r>
              <a:rPr sz="1500" b="0">
                <a:solidFill>
                  <a:srgbClr val="45556C"/>
                </a:solidFill>
              </a:rPr>
              <a:t>Git</a:t>
            </a:r>
          </a:p>
          <a:p>
            <a:pPr algn="l">
              <a:buNone/>
              <a:defRPr sz="1500" b="0">
                <a:solidFill>
                  <a:srgbClr val="45556C"/>
                </a:solidFill>
              </a:defRPr>
            </a:pPr>
            <a:r>
              <a:rPr sz="1500" b="0">
                <a:solidFill>
                  <a:srgbClr val="45556C"/>
                </a:solidFill>
              </a:rPr>
              <a:t>GitHub</a:t>
            </a:r>
          </a:p>
          <a:p>
            <a:pPr algn="l">
              <a:buNone/>
              <a:defRPr sz="1500" b="0">
                <a:solidFill>
                  <a:srgbClr val="45556C"/>
                </a:solidFill>
              </a:defRPr>
            </a:pPr>
            <a:r>
              <a:rPr sz="1500" b="0">
                <a:solidFill>
                  <a:srgbClr val="45556C"/>
                </a:solidFill>
              </a:rPr>
              <a:t>Branch workflow</a:t>
            </a:r>
          </a:p>
        </p:txBody>
      </p:sp>
    </p:spTree>
    <p:extLst>
      <p:ext uri="{BB962C8B-B14F-4D97-AF65-F5344CB8AC3E}">
        <p14:creationId xmlns:p14="http://schemas.microsoft.com/office/powerpoint/2010/main" val="666114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7CAF1CC-74AA-4C22-9E2A-F404427E74B8}"/>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B02C4A17-7C5E-41A8-99E0-4B1E9AC053EF}"/>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Kiến trúc tổng thể đi qua REST API và JSON</a:t>
            </a:r>
          </a:p>
        </p:txBody>
      </p:sp>
      <p:sp>
        <p:nvSpPr>
          <p:cNvPr id="3" name="Straight Connector 2">
            <a:extLst>
              <a:ext uri="{FF2B5EF4-FFF2-40B4-BE49-F238E27FC236}">
                <a16:creationId xmlns:a16="http://schemas.microsoft.com/office/drawing/2014/main" id="{7AFA0C86-622E-4D73-BEA6-3B1E4779DA3C}"/>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5A86BCD8-6F42-433A-989F-651F0453DEB3}"/>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E8E23D9C-5C96-489F-9F57-6DAB30E72A63}"/>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05</a:t>
            </a:r>
          </a:p>
        </p:txBody>
      </p:sp>
      <p:sp>
        <p:nvSpPr>
          <p:cNvPr id="6" name="Rectangle: Rounded Corners 5">
            <a:extLst>
              <a:ext uri="{FF2B5EF4-FFF2-40B4-BE49-F238E27FC236}">
                <a16:creationId xmlns:a16="http://schemas.microsoft.com/office/drawing/2014/main" id="{B84F38CD-0720-4022-92E9-136B21CBC53E}"/>
              </a:ext>
            </a:extLst>
          </p:cNvPr>
          <p:cNvSpPr>
            <a:spLocks noGrp="1"/>
          </p:cNvSpPr>
          <p:nvPr/>
        </p:nvSpPr>
        <p:spPr>
          <a:xfrm>
            <a:off x="628650" y="2428875"/>
            <a:ext cx="1238250" cy="704850"/>
          </a:xfrm>
          <a:prstGeom prst="roundRect">
            <a:avLst>
              <a:gd name="adj" fmla="val 16216"/>
            </a:avLst>
          </a:prstGeom>
          <a:solidFill>
            <a:srgbClr val="EAF2FF"/>
          </a:solidFill>
          <a:ln w="9525">
            <a:solidFill>
              <a:srgbClr val="BBD3FF"/>
            </a:solidFill>
            <a:prstDash val="solid"/>
          </a:ln>
        </p:spPr>
      </p:sp>
      <p:sp>
        <p:nvSpPr>
          <p:cNvPr id="7" name="Rectangle 6">
            <a:extLst>
              <a:ext uri="{FF2B5EF4-FFF2-40B4-BE49-F238E27FC236}">
                <a16:creationId xmlns:a16="http://schemas.microsoft.com/office/drawing/2014/main" id="{9223076B-F761-4B04-BFA0-DCAA33544C5F}"/>
              </a:ext>
            </a:extLst>
          </p:cNvPr>
          <p:cNvSpPr>
            <a:spLocks noGrp="1"/>
          </p:cNvSpPr>
          <p:nvPr/>
        </p:nvSpPr>
        <p:spPr>
          <a:xfrm>
            <a:off x="742950" y="2609850"/>
            <a:ext cx="1009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Browser</a:t>
            </a:r>
          </a:p>
        </p:txBody>
      </p:sp>
      <p:sp>
        <p:nvSpPr>
          <p:cNvPr id="8" name="Arrow: Right 7">
            <a:extLst>
              <a:ext uri="{FF2B5EF4-FFF2-40B4-BE49-F238E27FC236}">
                <a16:creationId xmlns:a16="http://schemas.microsoft.com/office/drawing/2014/main" id="{70AB681D-D7A0-46E6-838B-B29A61E64C31}"/>
              </a:ext>
            </a:extLst>
          </p:cNvPr>
          <p:cNvSpPr>
            <a:spLocks noGrp="1"/>
          </p:cNvSpPr>
          <p:nvPr/>
        </p:nvSpPr>
        <p:spPr>
          <a:xfrm>
            <a:off x="1905000" y="2609850"/>
            <a:ext cx="323850" cy="342900"/>
          </a:xfrm>
          <a:prstGeom prst="rightArrow">
            <a:avLst/>
          </a:prstGeom>
          <a:solidFill>
            <a:srgbClr val="C9DAFF"/>
          </a:solidFill>
          <a:ln w="0">
            <a:solidFill>
              <a:srgbClr val="C9DAFF"/>
            </a:solidFill>
            <a:prstDash val="solid"/>
          </a:ln>
        </p:spPr>
      </p:sp>
      <p:sp>
        <p:nvSpPr>
          <p:cNvPr id="9" name="Rectangle: Rounded Corners 8">
            <a:extLst>
              <a:ext uri="{FF2B5EF4-FFF2-40B4-BE49-F238E27FC236}">
                <a16:creationId xmlns:a16="http://schemas.microsoft.com/office/drawing/2014/main" id="{026EE82F-1645-4BEF-ACBA-B40623A2B183}"/>
              </a:ext>
            </a:extLst>
          </p:cNvPr>
          <p:cNvSpPr>
            <a:spLocks noGrp="1"/>
          </p:cNvSpPr>
          <p:nvPr/>
        </p:nvSpPr>
        <p:spPr>
          <a:xfrm>
            <a:off x="2228850" y="2428875"/>
            <a:ext cx="1238250" cy="704850"/>
          </a:xfrm>
          <a:prstGeom prst="roundRect">
            <a:avLst>
              <a:gd name="adj" fmla="val 16216"/>
            </a:avLst>
          </a:prstGeom>
          <a:solidFill>
            <a:srgbClr val="EAF2FF"/>
          </a:solidFill>
          <a:ln w="9525">
            <a:solidFill>
              <a:srgbClr val="BBD3FF"/>
            </a:solidFill>
            <a:prstDash val="solid"/>
          </a:ln>
        </p:spPr>
      </p:sp>
      <p:sp>
        <p:nvSpPr>
          <p:cNvPr id="10" name="Rectangle 9">
            <a:extLst>
              <a:ext uri="{FF2B5EF4-FFF2-40B4-BE49-F238E27FC236}">
                <a16:creationId xmlns:a16="http://schemas.microsoft.com/office/drawing/2014/main" id="{D100C1FE-39AD-4BFB-83AE-37CA76DAD653}"/>
              </a:ext>
            </a:extLst>
          </p:cNvPr>
          <p:cNvSpPr>
            <a:spLocks noGrp="1"/>
          </p:cNvSpPr>
          <p:nvPr/>
        </p:nvSpPr>
        <p:spPr>
          <a:xfrm>
            <a:off x="2343150" y="2609850"/>
            <a:ext cx="1009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React/Vite</a:t>
            </a:r>
          </a:p>
        </p:txBody>
      </p:sp>
      <p:sp>
        <p:nvSpPr>
          <p:cNvPr id="11" name="Arrow: Right 10">
            <a:extLst>
              <a:ext uri="{FF2B5EF4-FFF2-40B4-BE49-F238E27FC236}">
                <a16:creationId xmlns:a16="http://schemas.microsoft.com/office/drawing/2014/main" id="{C1E963EA-0B72-4D99-814A-4DFA14747726}"/>
              </a:ext>
            </a:extLst>
          </p:cNvPr>
          <p:cNvSpPr>
            <a:spLocks noGrp="1"/>
          </p:cNvSpPr>
          <p:nvPr/>
        </p:nvSpPr>
        <p:spPr>
          <a:xfrm>
            <a:off x="3505200" y="2609850"/>
            <a:ext cx="323850" cy="342900"/>
          </a:xfrm>
          <a:prstGeom prst="rightArrow">
            <a:avLst/>
          </a:prstGeom>
          <a:solidFill>
            <a:srgbClr val="C9DAFF"/>
          </a:solidFill>
          <a:ln w="0">
            <a:solidFill>
              <a:srgbClr val="C9DAFF"/>
            </a:solidFill>
            <a:prstDash val="solid"/>
          </a:ln>
        </p:spPr>
      </p:sp>
      <p:sp>
        <p:nvSpPr>
          <p:cNvPr id="12" name="Rectangle: Rounded Corners 11">
            <a:extLst>
              <a:ext uri="{FF2B5EF4-FFF2-40B4-BE49-F238E27FC236}">
                <a16:creationId xmlns:a16="http://schemas.microsoft.com/office/drawing/2014/main" id="{01EA5C62-E07E-40AB-BCE0-6BB9BED3C9C9}"/>
              </a:ext>
            </a:extLst>
          </p:cNvPr>
          <p:cNvSpPr>
            <a:spLocks noGrp="1"/>
          </p:cNvSpPr>
          <p:nvPr/>
        </p:nvSpPr>
        <p:spPr>
          <a:xfrm>
            <a:off x="3829050" y="2428875"/>
            <a:ext cx="1238250" cy="704850"/>
          </a:xfrm>
          <a:prstGeom prst="roundRect">
            <a:avLst>
              <a:gd name="adj" fmla="val 16216"/>
            </a:avLst>
          </a:prstGeom>
          <a:solidFill>
            <a:srgbClr val="EAF2FF"/>
          </a:solidFill>
          <a:ln w="9525">
            <a:solidFill>
              <a:srgbClr val="BBD3FF"/>
            </a:solidFill>
            <a:prstDash val="solid"/>
          </a:ln>
        </p:spPr>
      </p:sp>
      <p:sp>
        <p:nvSpPr>
          <p:cNvPr id="13" name="Rectangle 12">
            <a:extLst>
              <a:ext uri="{FF2B5EF4-FFF2-40B4-BE49-F238E27FC236}">
                <a16:creationId xmlns:a16="http://schemas.microsoft.com/office/drawing/2014/main" id="{655D8BCB-A422-4032-AA53-1EE559F093CF}"/>
              </a:ext>
            </a:extLst>
          </p:cNvPr>
          <p:cNvSpPr>
            <a:spLocks noGrp="1"/>
          </p:cNvSpPr>
          <p:nvPr/>
        </p:nvSpPr>
        <p:spPr>
          <a:xfrm>
            <a:off x="3943350" y="2609850"/>
            <a:ext cx="1009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REST API</a:t>
            </a:r>
          </a:p>
        </p:txBody>
      </p:sp>
      <p:sp>
        <p:nvSpPr>
          <p:cNvPr id="14" name="Arrow: Right 13">
            <a:extLst>
              <a:ext uri="{FF2B5EF4-FFF2-40B4-BE49-F238E27FC236}">
                <a16:creationId xmlns:a16="http://schemas.microsoft.com/office/drawing/2014/main" id="{0D12CBC9-FB66-4BCC-8B38-422C8DB4AC00}"/>
              </a:ext>
            </a:extLst>
          </p:cNvPr>
          <p:cNvSpPr>
            <a:spLocks noGrp="1"/>
          </p:cNvSpPr>
          <p:nvPr/>
        </p:nvSpPr>
        <p:spPr>
          <a:xfrm>
            <a:off x="5105400" y="2609850"/>
            <a:ext cx="323850" cy="342900"/>
          </a:xfrm>
          <a:prstGeom prst="rightArrow">
            <a:avLst/>
          </a:prstGeom>
          <a:solidFill>
            <a:srgbClr val="C9DAFF"/>
          </a:solidFill>
          <a:ln w="0">
            <a:solidFill>
              <a:srgbClr val="C9DAFF"/>
            </a:solidFill>
            <a:prstDash val="solid"/>
          </a:ln>
        </p:spPr>
      </p:sp>
      <p:sp>
        <p:nvSpPr>
          <p:cNvPr id="15" name="Rectangle: Rounded Corners 14">
            <a:extLst>
              <a:ext uri="{FF2B5EF4-FFF2-40B4-BE49-F238E27FC236}">
                <a16:creationId xmlns:a16="http://schemas.microsoft.com/office/drawing/2014/main" id="{E1A7EE08-D2F4-4E11-A8F9-94189CE2538B}"/>
              </a:ext>
            </a:extLst>
          </p:cNvPr>
          <p:cNvSpPr>
            <a:spLocks noGrp="1"/>
          </p:cNvSpPr>
          <p:nvPr/>
        </p:nvSpPr>
        <p:spPr>
          <a:xfrm>
            <a:off x="5429250" y="2428875"/>
            <a:ext cx="1238250" cy="704850"/>
          </a:xfrm>
          <a:prstGeom prst="roundRect">
            <a:avLst>
              <a:gd name="adj" fmla="val 16216"/>
            </a:avLst>
          </a:prstGeom>
          <a:solidFill>
            <a:srgbClr val="EAF2FF"/>
          </a:solidFill>
          <a:ln w="9525">
            <a:solidFill>
              <a:srgbClr val="BBD3FF"/>
            </a:solidFill>
            <a:prstDash val="solid"/>
          </a:ln>
        </p:spPr>
      </p:sp>
      <p:sp>
        <p:nvSpPr>
          <p:cNvPr id="16" name="Rectangle 15">
            <a:extLst>
              <a:ext uri="{FF2B5EF4-FFF2-40B4-BE49-F238E27FC236}">
                <a16:creationId xmlns:a16="http://schemas.microsoft.com/office/drawing/2014/main" id="{5D3A88E1-B500-4DAC-A316-C4387D71CBBD}"/>
              </a:ext>
            </a:extLst>
          </p:cNvPr>
          <p:cNvSpPr>
            <a:spLocks noGrp="1"/>
          </p:cNvSpPr>
          <p:nvPr/>
        </p:nvSpPr>
        <p:spPr>
          <a:xfrm>
            <a:off x="5543550" y="2609850"/>
            <a:ext cx="1009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Spring Boot</a:t>
            </a:r>
          </a:p>
        </p:txBody>
      </p:sp>
      <p:sp>
        <p:nvSpPr>
          <p:cNvPr id="17" name="Arrow: Right 16">
            <a:extLst>
              <a:ext uri="{FF2B5EF4-FFF2-40B4-BE49-F238E27FC236}">
                <a16:creationId xmlns:a16="http://schemas.microsoft.com/office/drawing/2014/main" id="{42AA88B7-0001-4A2A-BEAE-0FFF9D17EC2B}"/>
              </a:ext>
            </a:extLst>
          </p:cNvPr>
          <p:cNvSpPr>
            <a:spLocks noGrp="1"/>
          </p:cNvSpPr>
          <p:nvPr/>
        </p:nvSpPr>
        <p:spPr>
          <a:xfrm>
            <a:off x="6705600" y="2609850"/>
            <a:ext cx="323850" cy="342900"/>
          </a:xfrm>
          <a:prstGeom prst="rightArrow">
            <a:avLst/>
          </a:prstGeom>
          <a:solidFill>
            <a:srgbClr val="C9DAFF"/>
          </a:solidFill>
          <a:ln w="0">
            <a:solidFill>
              <a:srgbClr val="C9DAFF"/>
            </a:solidFill>
            <a:prstDash val="solid"/>
          </a:ln>
        </p:spPr>
      </p:sp>
      <p:sp>
        <p:nvSpPr>
          <p:cNvPr id="18" name="Rectangle: Rounded Corners 17">
            <a:extLst>
              <a:ext uri="{FF2B5EF4-FFF2-40B4-BE49-F238E27FC236}">
                <a16:creationId xmlns:a16="http://schemas.microsoft.com/office/drawing/2014/main" id="{B3FAD7C9-D57C-4037-B5E5-8BB7768059EC}"/>
              </a:ext>
            </a:extLst>
          </p:cNvPr>
          <p:cNvSpPr>
            <a:spLocks noGrp="1"/>
          </p:cNvSpPr>
          <p:nvPr/>
        </p:nvSpPr>
        <p:spPr>
          <a:xfrm>
            <a:off x="7029450" y="2428875"/>
            <a:ext cx="1238250" cy="704850"/>
          </a:xfrm>
          <a:prstGeom prst="roundRect">
            <a:avLst>
              <a:gd name="adj" fmla="val 16216"/>
            </a:avLst>
          </a:prstGeom>
          <a:solidFill>
            <a:srgbClr val="EAF2FF"/>
          </a:solidFill>
          <a:ln w="9525">
            <a:solidFill>
              <a:srgbClr val="BBD3FF"/>
            </a:solidFill>
            <a:prstDash val="solid"/>
          </a:ln>
        </p:spPr>
      </p:sp>
      <p:sp>
        <p:nvSpPr>
          <p:cNvPr id="19" name="Rectangle 18">
            <a:extLst>
              <a:ext uri="{FF2B5EF4-FFF2-40B4-BE49-F238E27FC236}">
                <a16:creationId xmlns:a16="http://schemas.microsoft.com/office/drawing/2014/main" id="{9AD77E29-22A5-4D48-BAD1-0C7712648319}"/>
              </a:ext>
            </a:extLst>
          </p:cNvPr>
          <p:cNvSpPr>
            <a:spLocks noGrp="1"/>
          </p:cNvSpPr>
          <p:nvPr/>
        </p:nvSpPr>
        <p:spPr>
          <a:xfrm>
            <a:off x="7143750" y="2609850"/>
            <a:ext cx="1009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Service</a:t>
            </a:r>
          </a:p>
        </p:txBody>
      </p:sp>
      <p:sp>
        <p:nvSpPr>
          <p:cNvPr id="20" name="Arrow: Right 19">
            <a:extLst>
              <a:ext uri="{FF2B5EF4-FFF2-40B4-BE49-F238E27FC236}">
                <a16:creationId xmlns:a16="http://schemas.microsoft.com/office/drawing/2014/main" id="{FB7C4D10-7247-4162-B8D6-14262D62C3DB}"/>
              </a:ext>
            </a:extLst>
          </p:cNvPr>
          <p:cNvSpPr>
            <a:spLocks noGrp="1"/>
          </p:cNvSpPr>
          <p:nvPr/>
        </p:nvSpPr>
        <p:spPr>
          <a:xfrm>
            <a:off x="8305800" y="2609850"/>
            <a:ext cx="323850" cy="342900"/>
          </a:xfrm>
          <a:prstGeom prst="rightArrow">
            <a:avLst/>
          </a:prstGeom>
          <a:solidFill>
            <a:srgbClr val="C9DAFF"/>
          </a:solidFill>
          <a:ln w="0">
            <a:solidFill>
              <a:srgbClr val="C9DAFF"/>
            </a:solidFill>
            <a:prstDash val="solid"/>
          </a:ln>
        </p:spPr>
      </p:sp>
      <p:sp>
        <p:nvSpPr>
          <p:cNvPr id="21" name="Rectangle: Rounded Corners 20">
            <a:extLst>
              <a:ext uri="{FF2B5EF4-FFF2-40B4-BE49-F238E27FC236}">
                <a16:creationId xmlns:a16="http://schemas.microsoft.com/office/drawing/2014/main" id="{C50D8522-6DA3-4E26-BBA2-8137D3F2CB97}"/>
              </a:ext>
            </a:extLst>
          </p:cNvPr>
          <p:cNvSpPr>
            <a:spLocks noGrp="1"/>
          </p:cNvSpPr>
          <p:nvPr/>
        </p:nvSpPr>
        <p:spPr>
          <a:xfrm>
            <a:off x="8629650" y="2428875"/>
            <a:ext cx="1238250" cy="704850"/>
          </a:xfrm>
          <a:prstGeom prst="roundRect">
            <a:avLst>
              <a:gd name="adj" fmla="val 16216"/>
            </a:avLst>
          </a:prstGeom>
          <a:solidFill>
            <a:srgbClr val="EAF2FF"/>
          </a:solidFill>
          <a:ln w="9525">
            <a:solidFill>
              <a:srgbClr val="BBD3FF"/>
            </a:solidFill>
            <a:prstDash val="solid"/>
          </a:ln>
        </p:spPr>
      </p:sp>
      <p:sp>
        <p:nvSpPr>
          <p:cNvPr id="22" name="Rectangle 21">
            <a:extLst>
              <a:ext uri="{FF2B5EF4-FFF2-40B4-BE49-F238E27FC236}">
                <a16:creationId xmlns:a16="http://schemas.microsoft.com/office/drawing/2014/main" id="{36783184-160B-4D50-BAB5-6B4236306575}"/>
              </a:ext>
            </a:extLst>
          </p:cNvPr>
          <p:cNvSpPr>
            <a:spLocks noGrp="1"/>
          </p:cNvSpPr>
          <p:nvPr/>
        </p:nvSpPr>
        <p:spPr>
          <a:xfrm>
            <a:off x="8743950" y="2609850"/>
            <a:ext cx="1009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Repository</a:t>
            </a:r>
          </a:p>
        </p:txBody>
      </p:sp>
      <p:sp>
        <p:nvSpPr>
          <p:cNvPr id="23" name="Arrow: Right 22">
            <a:extLst>
              <a:ext uri="{FF2B5EF4-FFF2-40B4-BE49-F238E27FC236}">
                <a16:creationId xmlns:a16="http://schemas.microsoft.com/office/drawing/2014/main" id="{3FFE0D8B-8DC3-4064-8027-2036443F21A5}"/>
              </a:ext>
            </a:extLst>
          </p:cNvPr>
          <p:cNvSpPr>
            <a:spLocks noGrp="1"/>
          </p:cNvSpPr>
          <p:nvPr/>
        </p:nvSpPr>
        <p:spPr>
          <a:xfrm>
            <a:off x="9906000" y="2609850"/>
            <a:ext cx="323850" cy="342900"/>
          </a:xfrm>
          <a:prstGeom prst="rightArrow">
            <a:avLst/>
          </a:prstGeom>
          <a:solidFill>
            <a:srgbClr val="C9DAFF"/>
          </a:solidFill>
          <a:ln w="0">
            <a:solidFill>
              <a:srgbClr val="C9DAFF"/>
            </a:solidFill>
            <a:prstDash val="solid"/>
          </a:ln>
        </p:spPr>
      </p:sp>
      <p:sp>
        <p:nvSpPr>
          <p:cNvPr id="24" name="Rectangle: Rounded Corners 23">
            <a:extLst>
              <a:ext uri="{FF2B5EF4-FFF2-40B4-BE49-F238E27FC236}">
                <a16:creationId xmlns:a16="http://schemas.microsoft.com/office/drawing/2014/main" id="{222FAC9F-BC5A-4AC7-8CC8-F4872D146C35}"/>
              </a:ext>
            </a:extLst>
          </p:cNvPr>
          <p:cNvSpPr>
            <a:spLocks noGrp="1"/>
          </p:cNvSpPr>
          <p:nvPr/>
        </p:nvSpPr>
        <p:spPr>
          <a:xfrm>
            <a:off x="10229850" y="2428875"/>
            <a:ext cx="1238250" cy="704850"/>
          </a:xfrm>
          <a:prstGeom prst="roundRect">
            <a:avLst>
              <a:gd name="adj" fmla="val 16216"/>
            </a:avLst>
          </a:prstGeom>
          <a:solidFill>
            <a:srgbClr val="EAF2FF"/>
          </a:solidFill>
          <a:ln w="9525">
            <a:solidFill>
              <a:srgbClr val="BBD3FF"/>
            </a:solidFill>
            <a:prstDash val="solid"/>
          </a:ln>
        </p:spPr>
      </p:sp>
      <p:sp>
        <p:nvSpPr>
          <p:cNvPr id="25" name="Rectangle 24">
            <a:extLst>
              <a:ext uri="{FF2B5EF4-FFF2-40B4-BE49-F238E27FC236}">
                <a16:creationId xmlns:a16="http://schemas.microsoft.com/office/drawing/2014/main" id="{9EB56805-A5C8-454B-B3D2-AF96DD400B3D}"/>
              </a:ext>
            </a:extLst>
          </p:cNvPr>
          <p:cNvSpPr>
            <a:spLocks noGrp="1"/>
          </p:cNvSpPr>
          <p:nvPr/>
        </p:nvSpPr>
        <p:spPr>
          <a:xfrm>
            <a:off x="10344150" y="2609850"/>
            <a:ext cx="1009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JSON</a:t>
            </a:r>
          </a:p>
        </p:txBody>
      </p:sp>
      <p:sp>
        <p:nvSpPr>
          <p:cNvPr id="26" name="Rectangle 25">
            <a:extLst>
              <a:ext uri="{FF2B5EF4-FFF2-40B4-BE49-F238E27FC236}">
                <a16:creationId xmlns:a16="http://schemas.microsoft.com/office/drawing/2014/main" id="{3663FA05-EE21-4702-8C55-BB1FB0932528}"/>
              </a:ext>
            </a:extLst>
          </p:cNvPr>
          <p:cNvSpPr>
            <a:spLocks noGrp="1"/>
          </p:cNvSpPr>
          <p:nvPr/>
        </p:nvSpPr>
        <p:spPr>
          <a:xfrm>
            <a:off x="1381125" y="3905250"/>
            <a:ext cx="9429750" cy="666750"/>
          </a:xfrm>
          <a:prstGeom prst="rect">
            <a:avLst/>
          </a:prstGeom>
          <a:noFill/>
          <a:ln w="0">
            <a:noFill/>
            <a:prstDash val="solid"/>
          </a:ln>
        </p:spPr>
        <p:txBody>
          <a:bodyPr/>
          <a:lstStyle/>
          <a:p>
            <a:pPr algn="ctr">
              <a:buNone/>
              <a:defRPr sz="1950" b="1">
                <a:solidFill>
                  <a:srgbClr val="020618"/>
                </a:solidFill>
              </a:defRPr>
            </a:pPr>
            <a:r>
              <a:rPr sz="1950" b="1">
                <a:solidFill>
                  <a:srgbClr val="020618"/>
                </a:solidFill>
              </a:rPr>
              <a:t>Nguyên tắc chính: frontend không đọc file JSON trực tiếp; backend gom truy cập file qua JsonFileUtils.</a:t>
            </a:r>
          </a:p>
        </p:txBody>
      </p:sp>
    </p:spTree>
    <p:extLst>
      <p:ext uri="{BB962C8B-B14F-4D97-AF65-F5344CB8AC3E}">
        <p14:creationId xmlns:p14="http://schemas.microsoft.com/office/powerpoint/2010/main" val="1874510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446F164-01B4-445C-9E8B-FE5E658CCD9D}"/>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AB69B640-168A-48AA-8991-2B497A6970CC}"/>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Thiết kế OOP được thể hiện ở nhiều lớp</a:t>
            </a:r>
          </a:p>
        </p:txBody>
      </p:sp>
      <p:sp>
        <p:nvSpPr>
          <p:cNvPr id="3" name="Straight Connector 2">
            <a:extLst>
              <a:ext uri="{FF2B5EF4-FFF2-40B4-BE49-F238E27FC236}">
                <a16:creationId xmlns:a16="http://schemas.microsoft.com/office/drawing/2014/main" id="{27559432-8C5F-49BF-B025-4147D4A5A501}"/>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E1B5FF04-B01C-4C97-B1DC-C41E68B702C0}"/>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7D002BE2-9963-4B12-868F-A54F3BE2675E}"/>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06</a:t>
            </a:r>
          </a:p>
        </p:txBody>
      </p:sp>
      <p:sp>
        <p:nvSpPr>
          <p:cNvPr id="6" name="Rectangle: Rounded Corners 5">
            <a:extLst>
              <a:ext uri="{FF2B5EF4-FFF2-40B4-BE49-F238E27FC236}">
                <a16:creationId xmlns:a16="http://schemas.microsoft.com/office/drawing/2014/main" id="{663A57F9-EB6E-4391-92AD-550D93C22A14}"/>
              </a:ext>
            </a:extLst>
          </p:cNvPr>
          <p:cNvSpPr>
            <a:spLocks noGrp="1"/>
          </p:cNvSpPr>
          <p:nvPr/>
        </p:nvSpPr>
        <p:spPr>
          <a:xfrm>
            <a:off x="781050" y="1571625"/>
            <a:ext cx="4762500" cy="838200"/>
          </a:xfrm>
          <a:prstGeom prst="roundRect">
            <a:avLst>
              <a:gd name="adj" fmla="val 18182"/>
            </a:avLst>
          </a:prstGeom>
          <a:solidFill>
            <a:srgbClr val="FFFFFF"/>
          </a:solidFill>
          <a:ln w="9525">
            <a:solidFill>
              <a:srgbClr val="E2E8F0"/>
            </a:solidFill>
            <a:prstDash val="solid"/>
          </a:ln>
        </p:spPr>
      </p:sp>
      <p:sp>
        <p:nvSpPr>
          <p:cNvPr id="7" name="Rectangle 6">
            <a:extLst>
              <a:ext uri="{FF2B5EF4-FFF2-40B4-BE49-F238E27FC236}">
                <a16:creationId xmlns:a16="http://schemas.microsoft.com/office/drawing/2014/main" id="{EE8908CF-6D6C-45CF-8643-E3B030569432}"/>
              </a:ext>
            </a:extLst>
          </p:cNvPr>
          <p:cNvSpPr>
            <a:spLocks noGrp="1"/>
          </p:cNvSpPr>
          <p:nvPr/>
        </p:nvSpPr>
        <p:spPr>
          <a:xfrm>
            <a:off x="1009650" y="1724025"/>
            <a:ext cx="2000250" cy="285750"/>
          </a:xfrm>
          <a:prstGeom prst="rect">
            <a:avLst/>
          </a:prstGeom>
          <a:noFill/>
          <a:ln w="0">
            <a:noFill/>
            <a:prstDash val="solid"/>
          </a:ln>
        </p:spPr>
        <p:txBody>
          <a:bodyPr/>
          <a:lstStyle/>
          <a:p>
            <a:pPr algn="l">
              <a:buNone/>
              <a:defRPr sz="1800" b="1">
                <a:solidFill>
                  <a:srgbClr val="0B2A6F"/>
                </a:solidFill>
              </a:defRPr>
            </a:pPr>
            <a:r>
              <a:rPr sz="1800" b="1">
                <a:solidFill>
                  <a:srgbClr val="0B2A6F"/>
                </a:solidFill>
              </a:rPr>
              <a:t>Encapsulation</a:t>
            </a:r>
          </a:p>
        </p:txBody>
      </p:sp>
      <p:sp>
        <p:nvSpPr>
          <p:cNvPr id="8" name="Rectangle 7">
            <a:extLst>
              <a:ext uri="{FF2B5EF4-FFF2-40B4-BE49-F238E27FC236}">
                <a16:creationId xmlns:a16="http://schemas.microsoft.com/office/drawing/2014/main" id="{E22DC82F-24AA-4557-8FDA-82B022F91A34}"/>
              </a:ext>
            </a:extLst>
          </p:cNvPr>
          <p:cNvSpPr>
            <a:spLocks noGrp="1"/>
          </p:cNvSpPr>
          <p:nvPr/>
        </p:nvSpPr>
        <p:spPr>
          <a:xfrm>
            <a:off x="3143250" y="1743075"/>
            <a:ext cx="2095500" cy="438150"/>
          </a:xfrm>
          <a:prstGeom prst="rect">
            <a:avLst/>
          </a:prstGeom>
          <a:noFill/>
          <a:ln w="0">
            <a:noFill/>
            <a:prstDash val="solid"/>
          </a:ln>
        </p:spPr>
        <p:txBody>
          <a:bodyPr/>
          <a:lstStyle/>
          <a:p>
            <a:pPr algn="l">
              <a:buNone/>
              <a:defRPr sz="1425" b="0">
                <a:solidFill>
                  <a:srgbClr val="45556C"/>
                </a:solidFill>
              </a:defRPr>
            </a:pPr>
            <a:r>
              <a:rPr sz="1425" b="0">
                <a:solidFill>
                  <a:srgbClr val="45556C"/>
                </a:solidFill>
              </a:rPr>
              <a:t>private fields, getter/setter</a:t>
            </a:r>
          </a:p>
        </p:txBody>
      </p:sp>
      <p:sp>
        <p:nvSpPr>
          <p:cNvPr id="9" name="Rectangle: Rounded Corners 8">
            <a:extLst>
              <a:ext uri="{FF2B5EF4-FFF2-40B4-BE49-F238E27FC236}">
                <a16:creationId xmlns:a16="http://schemas.microsoft.com/office/drawing/2014/main" id="{B3D96AB2-79BE-48C9-B44A-4D81AF057E29}"/>
              </a:ext>
            </a:extLst>
          </p:cNvPr>
          <p:cNvSpPr>
            <a:spLocks noGrp="1"/>
          </p:cNvSpPr>
          <p:nvPr/>
        </p:nvSpPr>
        <p:spPr>
          <a:xfrm>
            <a:off x="6162675" y="1571625"/>
            <a:ext cx="4762500" cy="838200"/>
          </a:xfrm>
          <a:prstGeom prst="roundRect">
            <a:avLst>
              <a:gd name="adj" fmla="val 18182"/>
            </a:avLst>
          </a:prstGeom>
          <a:solidFill>
            <a:srgbClr val="FFFFFF"/>
          </a:solidFill>
          <a:ln w="9525">
            <a:solidFill>
              <a:srgbClr val="E2E8F0"/>
            </a:solidFill>
            <a:prstDash val="solid"/>
          </a:ln>
        </p:spPr>
      </p:sp>
      <p:sp>
        <p:nvSpPr>
          <p:cNvPr id="10" name="Rectangle 9">
            <a:extLst>
              <a:ext uri="{FF2B5EF4-FFF2-40B4-BE49-F238E27FC236}">
                <a16:creationId xmlns:a16="http://schemas.microsoft.com/office/drawing/2014/main" id="{0742699F-2688-4B79-A841-94068AAB3DDB}"/>
              </a:ext>
            </a:extLst>
          </p:cNvPr>
          <p:cNvSpPr>
            <a:spLocks noGrp="1"/>
          </p:cNvSpPr>
          <p:nvPr/>
        </p:nvSpPr>
        <p:spPr>
          <a:xfrm>
            <a:off x="6391275" y="1724025"/>
            <a:ext cx="2000250" cy="285750"/>
          </a:xfrm>
          <a:prstGeom prst="rect">
            <a:avLst/>
          </a:prstGeom>
          <a:noFill/>
          <a:ln w="0">
            <a:noFill/>
            <a:prstDash val="solid"/>
          </a:ln>
        </p:spPr>
        <p:txBody>
          <a:bodyPr/>
          <a:lstStyle/>
          <a:p>
            <a:pPr algn="l">
              <a:buNone/>
              <a:defRPr sz="1800" b="1">
                <a:solidFill>
                  <a:srgbClr val="0B2A6F"/>
                </a:solidFill>
              </a:defRPr>
            </a:pPr>
            <a:r>
              <a:rPr sz="1800" b="1">
                <a:solidFill>
                  <a:srgbClr val="0B2A6F"/>
                </a:solidFill>
              </a:rPr>
              <a:t>Inheritance</a:t>
            </a:r>
          </a:p>
        </p:txBody>
      </p:sp>
      <p:sp>
        <p:nvSpPr>
          <p:cNvPr id="11" name="Rectangle 10">
            <a:extLst>
              <a:ext uri="{FF2B5EF4-FFF2-40B4-BE49-F238E27FC236}">
                <a16:creationId xmlns:a16="http://schemas.microsoft.com/office/drawing/2014/main" id="{74F413B0-F9BE-4C38-B63D-C0599EC16305}"/>
              </a:ext>
            </a:extLst>
          </p:cNvPr>
          <p:cNvSpPr>
            <a:spLocks noGrp="1"/>
          </p:cNvSpPr>
          <p:nvPr/>
        </p:nvSpPr>
        <p:spPr>
          <a:xfrm>
            <a:off x="8524875" y="1743075"/>
            <a:ext cx="2095500" cy="438150"/>
          </a:xfrm>
          <a:prstGeom prst="rect">
            <a:avLst/>
          </a:prstGeom>
          <a:noFill/>
          <a:ln w="0">
            <a:noFill/>
            <a:prstDash val="solid"/>
          </a:ln>
        </p:spPr>
        <p:txBody>
          <a:bodyPr/>
          <a:lstStyle/>
          <a:p>
            <a:pPr algn="l">
              <a:buNone/>
              <a:defRPr sz="1425" b="0">
                <a:solidFill>
                  <a:srgbClr val="45556C"/>
                </a:solidFill>
              </a:defRPr>
            </a:pPr>
            <a:r>
              <a:rPr sz="1425" b="0">
                <a:solidFill>
                  <a:srgbClr val="45556C"/>
                </a:solidFill>
              </a:rPr>
              <a:t>User → Student/Lecturer</a:t>
            </a:r>
          </a:p>
        </p:txBody>
      </p:sp>
      <p:sp>
        <p:nvSpPr>
          <p:cNvPr id="12" name="Rectangle: Rounded Corners 11">
            <a:extLst>
              <a:ext uri="{FF2B5EF4-FFF2-40B4-BE49-F238E27FC236}">
                <a16:creationId xmlns:a16="http://schemas.microsoft.com/office/drawing/2014/main" id="{379E0225-347B-4ECB-8877-C66705C54C30}"/>
              </a:ext>
            </a:extLst>
          </p:cNvPr>
          <p:cNvSpPr>
            <a:spLocks noGrp="1"/>
          </p:cNvSpPr>
          <p:nvPr/>
        </p:nvSpPr>
        <p:spPr>
          <a:xfrm>
            <a:off x="781050" y="2809875"/>
            <a:ext cx="4762500" cy="838200"/>
          </a:xfrm>
          <a:prstGeom prst="roundRect">
            <a:avLst>
              <a:gd name="adj" fmla="val 18182"/>
            </a:avLst>
          </a:prstGeom>
          <a:solidFill>
            <a:srgbClr val="FFFFFF"/>
          </a:solidFill>
          <a:ln w="9525">
            <a:solidFill>
              <a:srgbClr val="E2E8F0"/>
            </a:solidFill>
            <a:prstDash val="solid"/>
          </a:ln>
        </p:spPr>
      </p:sp>
      <p:sp>
        <p:nvSpPr>
          <p:cNvPr id="13" name="Rectangle 12">
            <a:extLst>
              <a:ext uri="{FF2B5EF4-FFF2-40B4-BE49-F238E27FC236}">
                <a16:creationId xmlns:a16="http://schemas.microsoft.com/office/drawing/2014/main" id="{D4CF1BDA-FE4B-4ECF-93F3-553EECA113DB}"/>
              </a:ext>
            </a:extLst>
          </p:cNvPr>
          <p:cNvSpPr>
            <a:spLocks noGrp="1"/>
          </p:cNvSpPr>
          <p:nvPr/>
        </p:nvSpPr>
        <p:spPr>
          <a:xfrm>
            <a:off x="1009650" y="2962275"/>
            <a:ext cx="2000250" cy="285750"/>
          </a:xfrm>
          <a:prstGeom prst="rect">
            <a:avLst/>
          </a:prstGeom>
          <a:noFill/>
          <a:ln w="0">
            <a:noFill/>
            <a:prstDash val="solid"/>
          </a:ln>
        </p:spPr>
        <p:txBody>
          <a:bodyPr/>
          <a:lstStyle/>
          <a:p>
            <a:pPr algn="l">
              <a:buNone/>
              <a:defRPr sz="1800" b="1">
                <a:solidFill>
                  <a:srgbClr val="0B2A6F"/>
                </a:solidFill>
              </a:defRPr>
            </a:pPr>
            <a:r>
              <a:rPr sz="1800" b="1">
                <a:solidFill>
                  <a:srgbClr val="0B2A6F"/>
                </a:solidFill>
              </a:rPr>
              <a:t>Abstraction</a:t>
            </a:r>
          </a:p>
        </p:txBody>
      </p:sp>
      <p:sp>
        <p:nvSpPr>
          <p:cNvPr id="14" name="Rectangle 13">
            <a:extLst>
              <a:ext uri="{FF2B5EF4-FFF2-40B4-BE49-F238E27FC236}">
                <a16:creationId xmlns:a16="http://schemas.microsoft.com/office/drawing/2014/main" id="{CBB53179-9193-4701-AAE4-8BB8F264A813}"/>
              </a:ext>
            </a:extLst>
          </p:cNvPr>
          <p:cNvSpPr>
            <a:spLocks noGrp="1"/>
          </p:cNvSpPr>
          <p:nvPr/>
        </p:nvSpPr>
        <p:spPr>
          <a:xfrm>
            <a:off x="3143250" y="2981325"/>
            <a:ext cx="2095500" cy="438150"/>
          </a:xfrm>
          <a:prstGeom prst="rect">
            <a:avLst/>
          </a:prstGeom>
          <a:noFill/>
          <a:ln w="0">
            <a:noFill/>
            <a:prstDash val="solid"/>
          </a:ln>
        </p:spPr>
        <p:txBody>
          <a:bodyPr/>
          <a:lstStyle/>
          <a:p>
            <a:pPr algn="l">
              <a:buNone/>
              <a:defRPr sz="1425" b="0">
                <a:solidFill>
                  <a:srgbClr val="45556C"/>
                </a:solidFill>
              </a:defRPr>
            </a:pPr>
            <a:r>
              <a:rPr sz="1425" b="0">
                <a:solidFill>
                  <a:srgbClr val="45556C"/>
                </a:solidFill>
              </a:rPr>
              <a:t>abstract User, repository interface</a:t>
            </a:r>
          </a:p>
        </p:txBody>
      </p:sp>
      <p:sp>
        <p:nvSpPr>
          <p:cNvPr id="15" name="Rectangle: Rounded Corners 14">
            <a:extLst>
              <a:ext uri="{FF2B5EF4-FFF2-40B4-BE49-F238E27FC236}">
                <a16:creationId xmlns:a16="http://schemas.microsoft.com/office/drawing/2014/main" id="{223F4BB4-1739-432D-951C-28A003213F7D}"/>
              </a:ext>
            </a:extLst>
          </p:cNvPr>
          <p:cNvSpPr>
            <a:spLocks noGrp="1"/>
          </p:cNvSpPr>
          <p:nvPr/>
        </p:nvSpPr>
        <p:spPr>
          <a:xfrm>
            <a:off x="6162675" y="2809875"/>
            <a:ext cx="4762500" cy="838200"/>
          </a:xfrm>
          <a:prstGeom prst="roundRect">
            <a:avLst>
              <a:gd name="adj" fmla="val 18182"/>
            </a:avLst>
          </a:prstGeom>
          <a:solidFill>
            <a:srgbClr val="FFFFFF"/>
          </a:solidFill>
          <a:ln w="9525">
            <a:solidFill>
              <a:srgbClr val="E2E8F0"/>
            </a:solidFill>
            <a:prstDash val="solid"/>
          </a:ln>
        </p:spPr>
      </p:sp>
      <p:sp>
        <p:nvSpPr>
          <p:cNvPr id="16" name="Rectangle 15">
            <a:extLst>
              <a:ext uri="{FF2B5EF4-FFF2-40B4-BE49-F238E27FC236}">
                <a16:creationId xmlns:a16="http://schemas.microsoft.com/office/drawing/2014/main" id="{764E3E94-692D-415E-811E-FF008F297402}"/>
              </a:ext>
            </a:extLst>
          </p:cNvPr>
          <p:cNvSpPr>
            <a:spLocks noGrp="1"/>
          </p:cNvSpPr>
          <p:nvPr/>
        </p:nvSpPr>
        <p:spPr>
          <a:xfrm>
            <a:off x="6391275" y="2962275"/>
            <a:ext cx="2000250" cy="285750"/>
          </a:xfrm>
          <a:prstGeom prst="rect">
            <a:avLst/>
          </a:prstGeom>
          <a:noFill/>
          <a:ln w="0">
            <a:noFill/>
            <a:prstDash val="solid"/>
          </a:ln>
        </p:spPr>
        <p:txBody>
          <a:bodyPr/>
          <a:lstStyle/>
          <a:p>
            <a:pPr algn="l">
              <a:buNone/>
              <a:defRPr sz="1800" b="1">
                <a:solidFill>
                  <a:srgbClr val="0B2A6F"/>
                </a:solidFill>
              </a:defRPr>
            </a:pPr>
            <a:r>
              <a:rPr sz="1800" b="1">
                <a:solidFill>
                  <a:srgbClr val="0B2A6F"/>
                </a:solidFill>
              </a:rPr>
              <a:t>Interface</a:t>
            </a:r>
          </a:p>
        </p:txBody>
      </p:sp>
      <p:sp>
        <p:nvSpPr>
          <p:cNvPr id="17" name="Rectangle 16">
            <a:extLst>
              <a:ext uri="{FF2B5EF4-FFF2-40B4-BE49-F238E27FC236}">
                <a16:creationId xmlns:a16="http://schemas.microsoft.com/office/drawing/2014/main" id="{886CA69C-F8A6-4E07-8955-923FBD4BCAC6}"/>
              </a:ext>
            </a:extLst>
          </p:cNvPr>
          <p:cNvSpPr>
            <a:spLocks noGrp="1"/>
          </p:cNvSpPr>
          <p:nvPr/>
        </p:nvSpPr>
        <p:spPr>
          <a:xfrm>
            <a:off x="8524875" y="2981325"/>
            <a:ext cx="2095500" cy="438150"/>
          </a:xfrm>
          <a:prstGeom prst="rect">
            <a:avLst/>
          </a:prstGeom>
          <a:noFill/>
          <a:ln w="0">
            <a:noFill/>
            <a:prstDash val="solid"/>
          </a:ln>
        </p:spPr>
        <p:txBody>
          <a:bodyPr/>
          <a:lstStyle/>
          <a:p>
            <a:pPr algn="l">
              <a:buNone/>
              <a:defRPr sz="1425" b="0">
                <a:solidFill>
                  <a:srgbClr val="45556C"/>
                </a:solidFill>
              </a:defRPr>
            </a:pPr>
            <a:r>
              <a:rPr sz="1425" b="0">
                <a:solidFill>
                  <a:srgbClr val="45556C"/>
                </a:solidFill>
              </a:rPr>
              <a:t>CourseValidator, Registrable</a:t>
            </a:r>
          </a:p>
        </p:txBody>
      </p:sp>
      <p:sp>
        <p:nvSpPr>
          <p:cNvPr id="18" name="Rectangle: Rounded Corners 17">
            <a:extLst>
              <a:ext uri="{FF2B5EF4-FFF2-40B4-BE49-F238E27FC236}">
                <a16:creationId xmlns:a16="http://schemas.microsoft.com/office/drawing/2014/main" id="{787DDAFE-2BD7-43C4-8404-E55B6F8ADA00}"/>
              </a:ext>
            </a:extLst>
          </p:cNvPr>
          <p:cNvSpPr>
            <a:spLocks noGrp="1"/>
          </p:cNvSpPr>
          <p:nvPr/>
        </p:nvSpPr>
        <p:spPr>
          <a:xfrm>
            <a:off x="781050" y="4048125"/>
            <a:ext cx="4762500" cy="838200"/>
          </a:xfrm>
          <a:prstGeom prst="roundRect">
            <a:avLst>
              <a:gd name="adj" fmla="val 18182"/>
            </a:avLst>
          </a:prstGeom>
          <a:solidFill>
            <a:srgbClr val="FFFFFF"/>
          </a:solidFill>
          <a:ln w="9525">
            <a:solidFill>
              <a:srgbClr val="E2E8F0"/>
            </a:solidFill>
            <a:prstDash val="solid"/>
          </a:ln>
        </p:spPr>
      </p:sp>
      <p:sp>
        <p:nvSpPr>
          <p:cNvPr id="19" name="Rectangle 18">
            <a:extLst>
              <a:ext uri="{FF2B5EF4-FFF2-40B4-BE49-F238E27FC236}">
                <a16:creationId xmlns:a16="http://schemas.microsoft.com/office/drawing/2014/main" id="{8EAACBC3-2467-4201-8C18-D02938EE0E5E}"/>
              </a:ext>
            </a:extLst>
          </p:cNvPr>
          <p:cNvSpPr>
            <a:spLocks noGrp="1"/>
          </p:cNvSpPr>
          <p:nvPr/>
        </p:nvSpPr>
        <p:spPr>
          <a:xfrm>
            <a:off x="1009650" y="4200525"/>
            <a:ext cx="2000250" cy="285750"/>
          </a:xfrm>
          <a:prstGeom prst="rect">
            <a:avLst/>
          </a:prstGeom>
          <a:noFill/>
          <a:ln w="0">
            <a:noFill/>
            <a:prstDash val="solid"/>
          </a:ln>
        </p:spPr>
        <p:txBody>
          <a:bodyPr/>
          <a:lstStyle/>
          <a:p>
            <a:pPr algn="l">
              <a:buNone/>
              <a:defRPr sz="1800" b="1">
                <a:solidFill>
                  <a:srgbClr val="0B2A6F"/>
                </a:solidFill>
              </a:defRPr>
            </a:pPr>
            <a:r>
              <a:rPr sz="1800" b="1">
                <a:solidFill>
                  <a:srgbClr val="0B2A6F"/>
                </a:solidFill>
              </a:rPr>
              <a:t>Polymorphism</a:t>
            </a:r>
          </a:p>
        </p:txBody>
      </p:sp>
      <p:sp>
        <p:nvSpPr>
          <p:cNvPr id="20" name="Rectangle 19">
            <a:extLst>
              <a:ext uri="{FF2B5EF4-FFF2-40B4-BE49-F238E27FC236}">
                <a16:creationId xmlns:a16="http://schemas.microsoft.com/office/drawing/2014/main" id="{86B87190-1F3F-42A8-8F99-FA67B8219FD5}"/>
              </a:ext>
            </a:extLst>
          </p:cNvPr>
          <p:cNvSpPr>
            <a:spLocks noGrp="1"/>
          </p:cNvSpPr>
          <p:nvPr/>
        </p:nvSpPr>
        <p:spPr>
          <a:xfrm>
            <a:off x="3143250" y="4219575"/>
            <a:ext cx="2095500" cy="438150"/>
          </a:xfrm>
          <a:prstGeom prst="rect">
            <a:avLst/>
          </a:prstGeom>
          <a:noFill/>
          <a:ln w="0">
            <a:noFill/>
            <a:prstDash val="solid"/>
          </a:ln>
        </p:spPr>
        <p:txBody>
          <a:bodyPr/>
          <a:lstStyle/>
          <a:p>
            <a:pPr algn="l">
              <a:buNone/>
              <a:defRPr sz="1425" b="0">
                <a:solidFill>
                  <a:srgbClr val="45556C"/>
                </a:solidFill>
              </a:defRPr>
            </a:pPr>
            <a:r>
              <a:rPr sz="1425" b="0">
                <a:solidFill>
                  <a:srgbClr val="45556C"/>
                </a:solidFill>
              </a:rPr>
              <a:t>List&lt;CourseValidator&gt;</a:t>
            </a:r>
          </a:p>
        </p:txBody>
      </p:sp>
      <p:sp>
        <p:nvSpPr>
          <p:cNvPr id="21" name="Rectangle: Rounded Corners 20">
            <a:extLst>
              <a:ext uri="{FF2B5EF4-FFF2-40B4-BE49-F238E27FC236}">
                <a16:creationId xmlns:a16="http://schemas.microsoft.com/office/drawing/2014/main" id="{D9FE7662-D215-47E1-9F0D-20CAF67C350B}"/>
              </a:ext>
            </a:extLst>
          </p:cNvPr>
          <p:cNvSpPr>
            <a:spLocks noGrp="1"/>
          </p:cNvSpPr>
          <p:nvPr/>
        </p:nvSpPr>
        <p:spPr>
          <a:xfrm>
            <a:off x="6162675" y="4048125"/>
            <a:ext cx="4762500" cy="838200"/>
          </a:xfrm>
          <a:prstGeom prst="roundRect">
            <a:avLst>
              <a:gd name="adj" fmla="val 18182"/>
            </a:avLst>
          </a:prstGeom>
          <a:solidFill>
            <a:srgbClr val="FFFFFF"/>
          </a:solidFill>
          <a:ln w="9525">
            <a:solidFill>
              <a:srgbClr val="E2E8F0"/>
            </a:solidFill>
            <a:prstDash val="solid"/>
          </a:ln>
        </p:spPr>
      </p:sp>
      <p:sp>
        <p:nvSpPr>
          <p:cNvPr id="22" name="Rectangle 21">
            <a:extLst>
              <a:ext uri="{FF2B5EF4-FFF2-40B4-BE49-F238E27FC236}">
                <a16:creationId xmlns:a16="http://schemas.microsoft.com/office/drawing/2014/main" id="{35DCD774-87FB-4101-9D64-95F390251B61}"/>
              </a:ext>
            </a:extLst>
          </p:cNvPr>
          <p:cNvSpPr>
            <a:spLocks noGrp="1"/>
          </p:cNvSpPr>
          <p:nvPr/>
        </p:nvSpPr>
        <p:spPr>
          <a:xfrm>
            <a:off x="6391275" y="4200525"/>
            <a:ext cx="2000250" cy="285750"/>
          </a:xfrm>
          <a:prstGeom prst="rect">
            <a:avLst/>
          </a:prstGeom>
          <a:noFill/>
          <a:ln w="0">
            <a:noFill/>
            <a:prstDash val="solid"/>
          </a:ln>
        </p:spPr>
        <p:txBody>
          <a:bodyPr/>
          <a:lstStyle/>
          <a:p>
            <a:pPr algn="l">
              <a:buNone/>
              <a:defRPr sz="1800" b="1">
                <a:solidFill>
                  <a:srgbClr val="0B2A6F"/>
                </a:solidFill>
              </a:defRPr>
            </a:pPr>
            <a:r>
              <a:rPr sz="1800" b="1">
                <a:solidFill>
                  <a:srgbClr val="0B2A6F"/>
                </a:solidFill>
              </a:rPr>
              <a:t>File IO</a:t>
            </a:r>
          </a:p>
        </p:txBody>
      </p:sp>
      <p:sp>
        <p:nvSpPr>
          <p:cNvPr id="23" name="Rectangle 22">
            <a:extLst>
              <a:ext uri="{FF2B5EF4-FFF2-40B4-BE49-F238E27FC236}">
                <a16:creationId xmlns:a16="http://schemas.microsoft.com/office/drawing/2014/main" id="{203DAF14-2764-4DC6-99BE-5DCC4C86DAB9}"/>
              </a:ext>
            </a:extLst>
          </p:cNvPr>
          <p:cNvSpPr>
            <a:spLocks noGrp="1"/>
          </p:cNvSpPr>
          <p:nvPr/>
        </p:nvSpPr>
        <p:spPr>
          <a:xfrm>
            <a:off x="8524875" y="4219575"/>
            <a:ext cx="2095500" cy="438150"/>
          </a:xfrm>
          <a:prstGeom prst="rect">
            <a:avLst/>
          </a:prstGeom>
          <a:noFill/>
          <a:ln w="0">
            <a:noFill/>
            <a:prstDash val="solid"/>
          </a:ln>
        </p:spPr>
        <p:txBody>
          <a:bodyPr/>
          <a:lstStyle/>
          <a:p>
            <a:pPr algn="l">
              <a:buNone/>
              <a:defRPr sz="1425" b="0">
                <a:solidFill>
                  <a:srgbClr val="45556C"/>
                </a:solidFill>
              </a:defRPr>
            </a:pPr>
            <a:r>
              <a:rPr sz="1425" b="0">
                <a:solidFill>
                  <a:srgbClr val="45556C"/>
                </a:solidFill>
              </a:rPr>
              <a:t>JsonFileUtils đọc/ghi JSON</a:t>
            </a:r>
          </a:p>
        </p:txBody>
      </p:sp>
      <p:sp>
        <p:nvSpPr>
          <p:cNvPr id="25" name="Rectangle 24">
            <a:extLst>
              <a:ext uri="{FF2B5EF4-FFF2-40B4-BE49-F238E27FC236}">
                <a16:creationId xmlns:a16="http://schemas.microsoft.com/office/drawing/2014/main" id="{298EDEFB-7F81-442C-9DBC-C8BF258296E0}"/>
              </a:ext>
            </a:extLst>
          </p:cNvPr>
          <p:cNvSpPr>
            <a:spLocks noGrp="1"/>
          </p:cNvSpPr>
          <p:nvPr/>
        </p:nvSpPr>
        <p:spPr>
          <a:xfrm>
            <a:off x="0" y="0"/>
            <a:ext cx="12192000" cy="6858000"/>
          </a:xfrm>
          <a:prstGeom prst="rect">
            <a:avLst/>
          </a:prstGeom>
          <a:solidFill>
            <a:srgbClr val="F8FBFF"/>
          </a:solidFill>
          <a:ln w="0">
            <a:noFill/>
            <a:prstDash val="solid"/>
          </a:ln>
        </p:spPr>
      </p:sp>
      <p:sp>
        <p:nvSpPr>
          <p:cNvPr id="26" name="Rectangle 25">
            <a:extLst>
              <a:ext uri="{FF2B5EF4-FFF2-40B4-BE49-F238E27FC236}">
                <a16:creationId xmlns:a16="http://schemas.microsoft.com/office/drawing/2014/main" id="{75503CC5-8780-44BF-9E1C-CC01E51957E9}"/>
              </a:ext>
            </a:extLst>
          </p:cNvPr>
          <p:cNvSpPr>
            <a:spLocks noGrp="1"/>
          </p:cNvSpPr>
          <p:nvPr/>
        </p:nvSpPr>
        <p:spPr>
          <a:xfrm>
            <a:off x="609600" y="323850"/>
            <a:ext cx="7239000" cy="266700"/>
          </a:xfrm>
          <a:prstGeom prst="rect">
            <a:avLst/>
          </a:prstGeom>
          <a:noFill/>
          <a:ln w="0">
            <a:noFill/>
            <a:prstDash val="solid"/>
          </a:ln>
        </p:spPr>
        <p:txBody>
          <a:bodyPr/>
          <a:lstStyle/>
          <a:p>
            <a:pPr algn="l">
              <a:defRPr sz="1050" b="1">
                <a:solidFill>
                  <a:srgbClr val="0B5FFF"/>
                </a:solidFill>
              </a:defRPr>
            </a:pPr>
            <a:r>
              <a:rPr sz="1050" b="1">
                <a:solidFill>
                  <a:srgbClr val="0B5FFF"/>
                </a:solidFill>
              </a:rPr>
              <a:t>THIẾT KẾ OOP | Minh chứng từ source</a:t>
            </a:r>
          </a:p>
        </p:txBody>
      </p:sp>
      <p:sp>
        <p:nvSpPr>
          <p:cNvPr id="27" name="Rectangle 26">
            <a:extLst>
              <a:ext uri="{FF2B5EF4-FFF2-40B4-BE49-F238E27FC236}">
                <a16:creationId xmlns:a16="http://schemas.microsoft.com/office/drawing/2014/main" id="{13AED122-D16D-4C22-B9FB-DED3494F87DD}"/>
              </a:ext>
            </a:extLst>
          </p:cNvPr>
          <p:cNvSpPr>
            <a:spLocks noGrp="1"/>
          </p:cNvSpPr>
          <p:nvPr/>
        </p:nvSpPr>
        <p:spPr>
          <a:xfrm>
            <a:off x="609600" y="628650"/>
            <a:ext cx="10096500" cy="533400"/>
          </a:xfrm>
          <a:prstGeom prst="rect">
            <a:avLst/>
          </a:prstGeom>
          <a:noFill/>
          <a:ln w="0">
            <a:noFill/>
            <a:prstDash val="solid"/>
          </a:ln>
        </p:spPr>
        <p:txBody>
          <a:bodyPr/>
          <a:lstStyle/>
          <a:p>
            <a:pPr algn="l">
              <a:defRPr sz="2550" b="1">
                <a:solidFill>
                  <a:srgbClr val="0F172A"/>
                </a:solidFill>
              </a:defRPr>
            </a:pPr>
            <a:r>
              <a:rPr sz="2550" b="1">
                <a:solidFill>
                  <a:srgbClr val="0F172A"/>
                </a:solidFill>
              </a:rPr>
              <a:t>Thiết kế OOP không chỉ là lý thuyết</a:t>
            </a:r>
          </a:p>
        </p:txBody>
      </p:sp>
      <p:sp>
        <p:nvSpPr>
          <p:cNvPr id="28" name="Straight Connector 27">
            <a:extLst>
              <a:ext uri="{FF2B5EF4-FFF2-40B4-BE49-F238E27FC236}">
                <a16:creationId xmlns:a16="http://schemas.microsoft.com/office/drawing/2014/main" id="{A56B8756-0817-47D4-AC3B-2C595BA60C5F}"/>
              </a:ext>
            </a:extLst>
          </p:cNvPr>
          <p:cNvSpPr>
            <a:spLocks noGrp="1"/>
          </p:cNvSpPr>
          <p:nvPr/>
        </p:nvSpPr>
        <p:spPr>
          <a:xfrm>
            <a:off x="609600" y="1257300"/>
            <a:ext cx="10972800" cy="0"/>
          </a:xfrm>
          <a:prstGeom prst="line">
            <a:avLst/>
          </a:prstGeom>
          <a:noFill/>
          <a:ln w="9525">
            <a:solidFill>
              <a:srgbClr val="DDE7F3"/>
            </a:solidFill>
            <a:prstDash val="solid"/>
          </a:ln>
        </p:spPr>
      </p:sp>
      <p:sp>
        <p:nvSpPr>
          <p:cNvPr id="29" name="Rectangle 28">
            <a:extLst>
              <a:ext uri="{FF2B5EF4-FFF2-40B4-BE49-F238E27FC236}">
                <a16:creationId xmlns:a16="http://schemas.microsoft.com/office/drawing/2014/main" id="{C0F53F27-F1C8-4F0B-AD02-97FD707662D2}"/>
              </a:ext>
            </a:extLst>
          </p:cNvPr>
          <p:cNvSpPr>
            <a:spLocks noGrp="1"/>
          </p:cNvSpPr>
          <p:nvPr/>
        </p:nvSpPr>
        <p:spPr>
          <a:xfrm>
            <a:off x="609600" y="6457950"/>
            <a:ext cx="4953000" cy="209550"/>
          </a:xfrm>
          <a:prstGeom prst="rect">
            <a:avLst/>
          </a:prstGeom>
          <a:noFill/>
          <a:ln w="0">
            <a:noFill/>
            <a:prstDash val="solid"/>
          </a:ln>
        </p:spPr>
        <p:txBody>
          <a:bodyPr/>
          <a:lstStyle/>
          <a:p>
            <a:pPr algn="l">
              <a:defRPr sz="900" b="0">
                <a:solidFill>
                  <a:srgbClr val="94A3B8"/>
                </a:solidFill>
              </a:defRPr>
            </a:pPr>
            <a:r>
              <a:rPr sz="900" b="0">
                <a:solidFill>
                  <a:srgbClr val="94A3B8"/>
                </a:solidFill>
              </a:rPr>
              <a:t>Nhóm 2 - Phenikaa University</a:t>
            </a:r>
          </a:p>
        </p:txBody>
      </p:sp>
      <p:sp>
        <p:nvSpPr>
          <p:cNvPr id="30" name="Rectangle 29">
            <a:extLst>
              <a:ext uri="{FF2B5EF4-FFF2-40B4-BE49-F238E27FC236}">
                <a16:creationId xmlns:a16="http://schemas.microsoft.com/office/drawing/2014/main" id="{5613F57C-B09F-4846-BE58-2B7257824756}"/>
              </a:ext>
            </a:extLst>
          </p:cNvPr>
          <p:cNvSpPr>
            <a:spLocks noGrp="1"/>
          </p:cNvSpPr>
          <p:nvPr/>
        </p:nvSpPr>
        <p:spPr>
          <a:xfrm>
            <a:off x="10382250" y="6457950"/>
            <a:ext cx="1200150" cy="209550"/>
          </a:xfrm>
          <a:prstGeom prst="rect">
            <a:avLst/>
          </a:prstGeom>
          <a:noFill/>
          <a:ln w="0">
            <a:noFill/>
            <a:prstDash val="solid"/>
          </a:ln>
        </p:spPr>
        <p:txBody>
          <a:bodyPr/>
          <a:lstStyle/>
          <a:p>
            <a:pPr algn="r">
              <a:defRPr sz="900" b="0">
                <a:solidFill>
                  <a:srgbClr val="94A3B8"/>
                </a:solidFill>
              </a:defRPr>
            </a:pPr>
            <a:r>
              <a:rPr sz="900" b="0">
                <a:solidFill>
                  <a:srgbClr val="94A3B8"/>
                </a:solidFill>
              </a:rPr>
              <a:t>06</a:t>
            </a:r>
          </a:p>
        </p:txBody>
      </p:sp>
      <p:sp>
        <p:nvSpPr>
          <p:cNvPr id="31" name="Rectangle: Rounded Corners 30">
            <a:extLst>
              <a:ext uri="{FF2B5EF4-FFF2-40B4-BE49-F238E27FC236}">
                <a16:creationId xmlns:a16="http://schemas.microsoft.com/office/drawing/2014/main" id="{9947EA80-58D0-4EF1-A574-214EFE04EF81}"/>
              </a:ext>
            </a:extLst>
          </p:cNvPr>
          <p:cNvSpPr>
            <a:spLocks noGrp="1"/>
          </p:cNvSpPr>
          <p:nvPr/>
        </p:nvSpPr>
        <p:spPr>
          <a:xfrm>
            <a:off x="723900" y="1504950"/>
            <a:ext cx="2011680" cy="723900"/>
          </a:xfrm>
          <a:prstGeom prst="roundRect">
            <a:avLst>
              <a:gd name="adj" fmla="val 15789"/>
            </a:avLst>
          </a:prstGeom>
          <a:solidFill>
            <a:srgbClr val="EAF2FF"/>
          </a:solidFill>
          <a:ln w="9525">
            <a:solidFill>
              <a:srgbClr val="BBD3FF"/>
            </a:solidFill>
            <a:prstDash val="solid"/>
          </a:ln>
        </p:spPr>
      </p:sp>
      <p:sp>
        <p:nvSpPr>
          <p:cNvPr id="32" name="Rectangle 31">
            <a:extLst>
              <a:ext uri="{FF2B5EF4-FFF2-40B4-BE49-F238E27FC236}">
                <a16:creationId xmlns:a16="http://schemas.microsoft.com/office/drawing/2014/main" id="{2FA80C7C-5C9A-4DFE-B76D-DBA06781E244}"/>
              </a:ext>
            </a:extLst>
          </p:cNvPr>
          <p:cNvSpPr>
            <a:spLocks noGrp="1"/>
          </p:cNvSpPr>
          <p:nvPr/>
        </p:nvSpPr>
        <p:spPr>
          <a:xfrm>
            <a:off x="838200" y="1657350"/>
            <a:ext cx="1783080" cy="457200"/>
          </a:xfrm>
          <a:prstGeom prst="rect">
            <a:avLst/>
          </a:prstGeom>
          <a:noFill/>
          <a:ln w="0">
            <a:noFill/>
            <a:prstDash val="solid"/>
          </a:ln>
        </p:spPr>
        <p:txBody>
          <a:bodyPr/>
          <a:lstStyle/>
          <a:p>
            <a:pPr algn="ctr">
              <a:defRPr sz="1275" b="1">
                <a:solidFill>
                  <a:srgbClr val="0B2A6F"/>
                </a:solidFill>
              </a:defRPr>
            </a:pPr>
            <a:r>
              <a:rPr sz="1275" b="1">
                <a:solidFill>
                  <a:srgbClr val="0B2A6F"/>
                </a:solidFill>
              </a:rPr>
              <a:t>Controller</a:t>
            </a:r>
          </a:p>
          <a:p>
            <a:pPr algn="ctr">
              <a:defRPr sz="1275" b="1">
                <a:solidFill>
                  <a:srgbClr val="0B2A6F"/>
                </a:solidFill>
              </a:defRPr>
            </a:pPr>
            <a:r>
              <a:rPr sz="1275" b="1">
                <a:solidFill>
                  <a:srgbClr val="0B2A6F"/>
                </a:solidFill>
              </a:rPr>
              <a:t>nhận REST request</a:t>
            </a:r>
          </a:p>
        </p:txBody>
      </p:sp>
      <p:sp>
        <p:nvSpPr>
          <p:cNvPr id="33" name="Arrow: Right 32">
            <a:extLst>
              <a:ext uri="{FF2B5EF4-FFF2-40B4-BE49-F238E27FC236}">
                <a16:creationId xmlns:a16="http://schemas.microsoft.com/office/drawing/2014/main" id="{0AE72E62-247C-4A0B-8C7D-C34F5CC32E4D}"/>
              </a:ext>
            </a:extLst>
          </p:cNvPr>
          <p:cNvSpPr>
            <a:spLocks noGrp="1"/>
          </p:cNvSpPr>
          <p:nvPr/>
        </p:nvSpPr>
        <p:spPr>
          <a:xfrm>
            <a:off x="2716530" y="1752600"/>
            <a:ext cx="209550" cy="228600"/>
          </a:xfrm>
          <a:prstGeom prst="rightArrow">
            <a:avLst/>
          </a:prstGeom>
          <a:solidFill>
            <a:srgbClr val="C9DAFF"/>
          </a:solidFill>
          <a:ln w="0">
            <a:solidFill>
              <a:srgbClr val="C9DAFF"/>
            </a:solidFill>
            <a:prstDash val="solid"/>
          </a:ln>
        </p:spPr>
      </p:sp>
      <p:sp>
        <p:nvSpPr>
          <p:cNvPr id="34" name="Rectangle: Rounded Corners 33">
            <a:extLst>
              <a:ext uri="{FF2B5EF4-FFF2-40B4-BE49-F238E27FC236}">
                <a16:creationId xmlns:a16="http://schemas.microsoft.com/office/drawing/2014/main" id="{5E51F5B7-1ADE-44C9-BD4F-F7A0E89883E5}"/>
              </a:ext>
            </a:extLst>
          </p:cNvPr>
          <p:cNvSpPr>
            <a:spLocks noGrp="1"/>
          </p:cNvSpPr>
          <p:nvPr/>
        </p:nvSpPr>
        <p:spPr>
          <a:xfrm>
            <a:off x="2907030" y="1504950"/>
            <a:ext cx="2011680" cy="723900"/>
          </a:xfrm>
          <a:prstGeom prst="roundRect">
            <a:avLst>
              <a:gd name="adj" fmla="val 15789"/>
            </a:avLst>
          </a:prstGeom>
          <a:solidFill>
            <a:srgbClr val="EAF2FF"/>
          </a:solidFill>
          <a:ln w="9525">
            <a:solidFill>
              <a:srgbClr val="BBD3FF"/>
            </a:solidFill>
            <a:prstDash val="solid"/>
          </a:ln>
        </p:spPr>
      </p:sp>
      <p:sp>
        <p:nvSpPr>
          <p:cNvPr id="35" name="Rectangle 34">
            <a:extLst>
              <a:ext uri="{FF2B5EF4-FFF2-40B4-BE49-F238E27FC236}">
                <a16:creationId xmlns:a16="http://schemas.microsoft.com/office/drawing/2014/main" id="{F70EFC9A-E6A7-4EE8-8F6C-A7E44C2AF296}"/>
              </a:ext>
            </a:extLst>
          </p:cNvPr>
          <p:cNvSpPr>
            <a:spLocks noGrp="1"/>
          </p:cNvSpPr>
          <p:nvPr/>
        </p:nvSpPr>
        <p:spPr>
          <a:xfrm>
            <a:off x="3021330" y="1657350"/>
            <a:ext cx="1783080" cy="457200"/>
          </a:xfrm>
          <a:prstGeom prst="rect">
            <a:avLst/>
          </a:prstGeom>
          <a:noFill/>
          <a:ln w="0">
            <a:noFill/>
            <a:prstDash val="solid"/>
          </a:ln>
        </p:spPr>
        <p:txBody>
          <a:bodyPr/>
          <a:lstStyle/>
          <a:p>
            <a:pPr algn="ctr">
              <a:defRPr sz="1275" b="1">
                <a:solidFill>
                  <a:srgbClr val="0B2A6F"/>
                </a:solidFill>
              </a:defRPr>
            </a:pPr>
            <a:r>
              <a:rPr sz="1275" b="1">
                <a:solidFill>
                  <a:srgbClr val="0B2A6F"/>
                </a:solidFill>
              </a:rPr>
              <a:t>Service</a:t>
            </a:r>
          </a:p>
          <a:p>
            <a:pPr algn="ctr">
              <a:defRPr sz="1275" b="1">
                <a:solidFill>
                  <a:srgbClr val="0B2A6F"/>
                </a:solidFill>
              </a:defRPr>
            </a:pPr>
            <a:r>
              <a:rPr sz="1275" b="1">
                <a:solidFill>
                  <a:srgbClr val="0B2A6F"/>
                </a:solidFill>
              </a:rPr>
              <a:t>điều phối nghiệp vụ</a:t>
            </a:r>
          </a:p>
        </p:txBody>
      </p:sp>
      <p:sp>
        <p:nvSpPr>
          <p:cNvPr id="36" name="Arrow: Right 35">
            <a:extLst>
              <a:ext uri="{FF2B5EF4-FFF2-40B4-BE49-F238E27FC236}">
                <a16:creationId xmlns:a16="http://schemas.microsoft.com/office/drawing/2014/main" id="{55EE6E9D-079C-4AFF-862B-EA3FB76F0C4D}"/>
              </a:ext>
            </a:extLst>
          </p:cNvPr>
          <p:cNvSpPr>
            <a:spLocks noGrp="1"/>
          </p:cNvSpPr>
          <p:nvPr/>
        </p:nvSpPr>
        <p:spPr>
          <a:xfrm>
            <a:off x="4899660" y="1752600"/>
            <a:ext cx="209550" cy="228600"/>
          </a:xfrm>
          <a:prstGeom prst="rightArrow">
            <a:avLst/>
          </a:prstGeom>
          <a:solidFill>
            <a:srgbClr val="C9DAFF"/>
          </a:solidFill>
          <a:ln w="0">
            <a:solidFill>
              <a:srgbClr val="C9DAFF"/>
            </a:solidFill>
            <a:prstDash val="solid"/>
          </a:ln>
        </p:spPr>
      </p:sp>
      <p:sp>
        <p:nvSpPr>
          <p:cNvPr id="37" name="Rectangle: Rounded Corners 36">
            <a:extLst>
              <a:ext uri="{FF2B5EF4-FFF2-40B4-BE49-F238E27FC236}">
                <a16:creationId xmlns:a16="http://schemas.microsoft.com/office/drawing/2014/main" id="{7F6DE0E5-C2F2-464B-A160-81A66B805F6C}"/>
              </a:ext>
            </a:extLst>
          </p:cNvPr>
          <p:cNvSpPr>
            <a:spLocks noGrp="1"/>
          </p:cNvSpPr>
          <p:nvPr/>
        </p:nvSpPr>
        <p:spPr>
          <a:xfrm>
            <a:off x="5090160" y="1504950"/>
            <a:ext cx="2011680" cy="723900"/>
          </a:xfrm>
          <a:prstGeom prst="roundRect">
            <a:avLst>
              <a:gd name="adj" fmla="val 15789"/>
            </a:avLst>
          </a:prstGeom>
          <a:solidFill>
            <a:srgbClr val="EAF2FF"/>
          </a:solidFill>
          <a:ln w="9525">
            <a:solidFill>
              <a:srgbClr val="BBD3FF"/>
            </a:solidFill>
            <a:prstDash val="solid"/>
          </a:ln>
        </p:spPr>
      </p:sp>
      <p:sp>
        <p:nvSpPr>
          <p:cNvPr id="38" name="Rectangle 37">
            <a:extLst>
              <a:ext uri="{FF2B5EF4-FFF2-40B4-BE49-F238E27FC236}">
                <a16:creationId xmlns:a16="http://schemas.microsoft.com/office/drawing/2014/main" id="{81682B0F-C3A0-4C33-98D6-F0235571E707}"/>
              </a:ext>
            </a:extLst>
          </p:cNvPr>
          <p:cNvSpPr>
            <a:spLocks noGrp="1"/>
          </p:cNvSpPr>
          <p:nvPr/>
        </p:nvSpPr>
        <p:spPr>
          <a:xfrm>
            <a:off x="5204460" y="1657350"/>
            <a:ext cx="1783080" cy="457200"/>
          </a:xfrm>
          <a:prstGeom prst="rect">
            <a:avLst/>
          </a:prstGeom>
          <a:noFill/>
          <a:ln w="0">
            <a:noFill/>
            <a:prstDash val="solid"/>
          </a:ln>
        </p:spPr>
        <p:txBody>
          <a:bodyPr/>
          <a:lstStyle/>
          <a:p>
            <a:pPr algn="ctr">
              <a:defRPr sz="1275" b="1">
                <a:solidFill>
                  <a:srgbClr val="0B2A6F"/>
                </a:solidFill>
              </a:defRPr>
            </a:pPr>
            <a:r>
              <a:rPr sz="1275" b="1">
                <a:solidFill>
                  <a:srgbClr val="0B2A6F"/>
                </a:solidFill>
              </a:rPr>
              <a:t>Validator</a:t>
            </a:r>
          </a:p>
          <a:p>
            <a:pPr algn="ctr">
              <a:defRPr sz="1275" b="1">
                <a:solidFill>
                  <a:srgbClr val="0B2A6F"/>
                </a:solidFill>
              </a:defRPr>
            </a:pPr>
            <a:r>
              <a:rPr sz="1275" b="1">
                <a:solidFill>
                  <a:srgbClr val="0B2A6F"/>
                </a:solidFill>
              </a:rPr>
              <a:t>kiểm tra từng rule</a:t>
            </a:r>
          </a:p>
        </p:txBody>
      </p:sp>
      <p:sp>
        <p:nvSpPr>
          <p:cNvPr id="39" name="Arrow: Right 38">
            <a:extLst>
              <a:ext uri="{FF2B5EF4-FFF2-40B4-BE49-F238E27FC236}">
                <a16:creationId xmlns:a16="http://schemas.microsoft.com/office/drawing/2014/main" id="{A22B646B-CC17-461F-B36D-516FE8B5113D}"/>
              </a:ext>
            </a:extLst>
          </p:cNvPr>
          <p:cNvSpPr>
            <a:spLocks noGrp="1"/>
          </p:cNvSpPr>
          <p:nvPr/>
        </p:nvSpPr>
        <p:spPr>
          <a:xfrm>
            <a:off x="7082790" y="1752600"/>
            <a:ext cx="209550" cy="228600"/>
          </a:xfrm>
          <a:prstGeom prst="rightArrow">
            <a:avLst/>
          </a:prstGeom>
          <a:solidFill>
            <a:srgbClr val="C9DAFF"/>
          </a:solidFill>
          <a:ln w="0">
            <a:solidFill>
              <a:srgbClr val="C9DAFF"/>
            </a:solidFill>
            <a:prstDash val="solid"/>
          </a:ln>
        </p:spPr>
      </p:sp>
      <p:sp>
        <p:nvSpPr>
          <p:cNvPr id="40" name="Rectangle: Rounded Corners 39">
            <a:extLst>
              <a:ext uri="{FF2B5EF4-FFF2-40B4-BE49-F238E27FC236}">
                <a16:creationId xmlns:a16="http://schemas.microsoft.com/office/drawing/2014/main" id="{5657D293-2D42-4FE5-8E1F-6230B01CF8DA}"/>
              </a:ext>
            </a:extLst>
          </p:cNvPr>
          <p:cNvSpPr>
            <a:spLocks noGrp="1"/>
          </p:cNvSpPr>
          <p:nvPr/>
        </p:nvSpPr>
        <p:spPr>
          <a:xfrm>
            <a:off x="7273290" y="1504950"/>
            <a:ext cx="2011680" cy="723900"/>
          </a:xfrm>
          <a:prstGeom prst="roundRect">
            <a:avLst>
              <a:gd name="adj" fmla="val 15789"/>
            </a:avLst>
          </a:prstGeom>
          <a:solidFill>
            <a:srgbClr val="EAF2FF"/>
          </a:solidFill>
          <a:ln w="9525">
            <a:solidFill>
              <a:srgbClr val="BBD3FF"/>
            </a:solidFill>
            <a:prstDash val="solid"/>
          </a:ln>
        </p:spPr>
      </p:sp>
      <p:sp>
        <p:nvSpPr>
          <p:cNvPr id="41" name="Rectangle 40">
            <a:extLst>
              <a:ext uri="{FF2B5EF4-FFF2-40B4-BE49-F238E27FC236}">
                <a16:creationId xmlns:a16="http://schemas.microsoft.com/office/drawing/2014/main" id="{C3611986-9398-4F16-AF3C-8B7A99BD665E}"/>
              </a:ext>
            </a:extLst>
          </p:cNvPr>
          <p:cNvSpPr>
            <a:spLocks noGrp="1"/>
          </p:cNvSpPr>
          <p:nvPr/>
        </p:nvSpPr>
        <p:spPr>
          <a:xfrm>
            <a:off x="7387590" y="1657350"/>
            <a:ext cx="1783080" cy="457200"/>
          </a:xfrm>
          <a:prstGeom prst="rect">
            <a:avLst/>
          </a:prstGeom>
          <a:noFill/>
          <a:ln w="0">
            <a:noFill/>
            <a:prstDash val="solid"/>
          </a:ln>
        </p:spPr>
        <p:txBody>
          <a:bodyPr/>
          <a:lstStyle/>
          <a:p>
            <a:pPr algn="ctr">
              <a:defRPr sz="1275" b="1">
                <a:solidFill>
                  <a:srgbClr val="0B2A6F"/>
                </a:solidFill>
              </a:defRPr>
            </a:pPr>
            <a:r>
              <a:rPr sz="1275" b="1">
                <a:solidFill>
                  <a:srgbClr val="0B2A6F"/>
                </a:solidFill>
              </a:rPr>
              <a:t>Repository</a:t>
            </a:r>
          </a:p>
          <a:p>
            <a:pPr algn="ctr">
              <a:defRPr sz="1275" b="1">
                <a:solidFill>
                  <a:srgbClr val="0B2A6F"/>
                </a:solidFill>
              </a:defRPr>
            </a:pPr>
            <a:r>
              <a:rPr sz="1275" b="1">
                <a:solidFill>
                  <a:srgbClr val="0B2A6F"/>
                </a:solidFill>
              </a:rPr>
              <a:t>ẩn cách lưu trữ</a:t>
            </a:r>
          </a:p>
        </p:txBody>
      </p:sp>
      <p:sp>
        <p:nvSpPr>
          <p:cNvPr id="42" name="Arrow: Right 41">
            <a:extLst>
              <a:ext uri="{FF2B5EF4-FFF2-40B4-BE49-F238E27FC236}">
                <a16:creationId xmlns:a16="http://schemas.microsoft.com/office/drawing/2014/main" id="{BACC9B35-3393-4785-8102-A15110F69AB2}"/>
              </a:ext>
            </a:extLst>
          </p:cNvPr>
          <p:cNvSpPr>
            <a:spLocks noGrp="1"/>
          </p:cNvSpPr>
          <p:nvPr/>
        </p:nvSpPr>
        <p:spPr>
          <a:xfrm>
            <a:off x="9265920" y="1752600"/>
            <a:ext cx="209550" cy="228600"/>
          </a:xfrm>
          <a:prstGeom prst="rightArrow">
            <a:avLst/>
          </a:prstGeom>
          <a:solidFill>
            <a:srgbClr val="C9DAFF"/>
          </a:solidFill>
          <a:ln w="0">
            <a:solidFill>
              <a:srgbClr val="C9DAFF"/>
            </a:solidFill>
            <a:prstDash val="solid"/>
          </a:ln>
        </p:spPr>
      </p:sp>
      <p:sp>
        <p:nvSpPr>
          <p:cNvPr id="43" name="Rectangle: Rounded Corners 42">
            <a:extLst>
              <a:ext uri="{FF2B5EF4-FFF2-40B4-BE49-F238E27FC236}">
                <a16:creationId xmlns:a16="http://schemas.microsoft.com/office/drawing/2014/main" id="{76A4267D-90EF-4DF9-BC75-482F4569602D}"/>
              </a:ext>
            </a:extLst>
          </p:cNvPr>
          <p:cNvSpPr>
            <a:spLocks noGrp="1"/>
          </p:cNvSpPr>
          <p:nvPr/>
        </p:nvSpPr>
        <p:spPr>
          <a:xfrm>
            <a:off x="9456420" y="1504950"/>
            <a:ext cx="2011680" cy="723900"/>
          </a:xfrm>
          <a:prstGeom prst="roundRect">
            <a:avLst>
              <a:gd name="adj" fmla="val 15789"/>
            </a:avLst>
          </a:prstGeom>
          <a:solidFill>
            <a:srgbClr val="EAF2FF"/>
          </a:solidFill>
          <a:ln w="9525">
            <a:solidFill>
              <a:srgbClr val="BBD3FF"/>
            </a:solidFill>
            <a:prstDash val="solid"/>
          </a:ln>
        </p:spPr>
      </p:sp>
      <p:sp>
        <p:nvSpPr>
          <p:cNvPr id="44" name="Rectangle 43">
            <a:extLst>
              <a:ext uri="{FF2B5EF4-FFF2-40B4-BE49-F238E27FC236}">
                <a16:creationId xmlns:a16="http://schemas.microsoft.com/office/drawing/2014/main" id="{4022D01E-9640-4BBC-98F8-D3F057B2DAB5}"/>
              </a:ext>
            </a:extLst>
          </p:cNvPr>
          <p:cNvSpPr>
            <a:spLocks noGrp="1"/>
          </p:cNvSpPr>
          <p:nvPr/>
        </p:nvSpPr>
        <p:spPr>
          <a:xfrm>
            <a:off x="9570720" y="1657350"/>
            <a:ext cx="1783080" cy="457200"/>
          </a:xfrm>
          <a:prstGeom prst="rect">
            <a:avLst/>
          </a:prstGeom>
          <a:noFill/>
          <a:ln w="0">
            <a:noFill/>
            <a:prstDash val="solid"/>
          </a:ln>
        </p:spPr>
        <p:txBody>
          <a:bodyPr/>
          <a:lstStyle/>
          <a:p>
            <a:pPr algn="ctr">
              <a:defRPr sz="1275" b="1">
                <a:solidFill>
                  <a:srgbClr val="0B2A6F"/>
                </a:solidFill>
              </a:defRPr>
            </a:pPr>
            <a:r>
              <a:rPr sz="1275" b="1">
                <a:solidFill>
                  <a:srgbClr val="0B2A6F"/>
                </a:solidFill>
              </a:rPr>
              <a:t>JsonFileUtils</a:t>
            </a:r>
          </a:p>
          <a:p>
            <a:pPr algn="ctr">
              <a:defRPr sz="1275" b="1">
                <a:solidFill>
                  <a:srgbClr val="0B2A6F"/>
                </a:solidFill>
              </a:defRPr>
            </a:pPr>
            <a:r>
              <a:rPr sz="1275" b="1">
                <a:solidFill>
                  <a:srgbClr val="0B2A6F"/>
                </a:solidFill>
              </a:rPr>
              <a:t>đọc/ghi JSON</a:t>
            </a:r>
          </a:p>
        </p:txBody>
      </p:sp>
      <p:sp>
        <p:nvSpPr>
          <p:cNvPr id="45" name="Rectangle: Rounded Corners 44">
            <a:extLst>
              <a:ext uri="{FF2B5EF4-FFF2-40B4-BE49-F238E27FC236}">
                <a16:creationId xmlns:a16="http://schemas.microsoft.com/office/drawing/2014/main" id="{2E037C30-C3B3-411D-B2EF-2F111979FC38}"/>
              </a:ext>
            </a:extLst>
          </p:cNvPr>
          <p:cNvSpPr>
            <a:spLocks noGrp="1"/>
          </p:cNvSpPr>
          <p:nvPr/>
        </p:nvSpPr>
        <p:spPr>
          <a:xfrm>
            <a:off x="723900" y="2686050"/>
            <a:ext cx="5143500" cy="2781300"/>
          </a:xfrm>
          <a:prstGeom prst="roundRect">
            <a:avLst>
              <a:gd name="adj" fmla="val 4110"/>
            </a:avLst>
          </a:prstGeom>
          <a:solidFill>
            <a:srgbClr val="FFFFFF"/>
          </a:solidFill>
          <a:ln w="9525">
            <a:solidFill>
              <a:srgbClr val="DDE7F3"/>
            </a:solidFill>
            <a:prstDash val="solid"/>
          </a:ln>
        </p:spPr>
      </p:sp>
      <p:sp>
        <p:nvSpPr>
          <p:cNvPr id="46" name="Rectangle 45">
            <a:extLst>
              <a:ext uri="{FF2B5EF4-FFF2-40B4-BE49-F238E27FC236}">
                <a16:creationId xmlns:a16="http://schemas.microsoft.com/office/drawing/2014/main" id="{C33D0B84-CFA9-4CA1-98B1-6BB3A21E887C}"/>
              </a:ext>
            </a:extLst>
          </p:cNvPr>
          <p:cNvSpPr>
            <a:spLocks noGrp="1"/>
          </p:cNvSpPr>
          <p:nvPr/>
        </p:nvSpPr>
        <p:spPr>
          <a:xfrm>
            <a:off x="723900" y="2686050"/>
            <a:ext cx="66675" cy="2781300"/>
          </a:xfrm>
          <a:prstGeom prst="rect">
            <a:avLst/>
          </a:prstGeom>
          <a:solidFill>
            <a:srgbClr val="0B5FFF"/>
          </a:solidFill>
          <a:ln w="9525">
            <a:solidFill>
              <a:srgbClr val="0B5FFF"/>
            </a:solidFill>
            <a:prstDash val="solid"/>
          </a:ln>
        </p:spPr>
      </p:sp>
      <p:sp>
        <p:nvSpPr>
          <p:cNvPr id="47" name="Rectangle 46">
            <a:extLst>
              <a:ext uri="{FF2B5EF4-FFF2-40B4-BE49-F238E27FC236}">
                <a16:creationId xmlns:a16="http://schemas.microsoft.com/office/drawing/2014/main" id="{35FE5F63-CC8B-4755-A55F-0BA1C98B9EBE}"/>
              </a:ext>
            </a:extLst>
          </p:cNvPr>
          <p:cNvSpPr>
            <a:spLocks noGrp="1"/>
          </p:cNvSpPr>
          <p:nvPr/>
        </p:nvSpPr>
        <p:spPr>
          <a:xfrm>
            <a:off x="952500" y="2857500"/>
            <a:ext cx="46863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Bản đồ đặc tính OOP</a:t>
            </a:r>
          </a:p>
        </p:txBody>
      </p:sp>
      <p:sp>
        <p:nvSpPr>
          <p:cNvPr id="48" name="Rectangle 47">
            <a:extLst>
              <a:ext uri="{FF2B5EF4-FFF2-40B4-BE49-F238E27FC236}">
                <a16:creationId xmlns:a16="http://schemas.microsoft.com/office/drawing/2014/main" id="{2E43866B-2869-49ED-B788-EC7AB1DC8BB3}"/>
              </a:ext>
            </a:extLst>
          </p:cNvPr>
          <p:cNvSpPr>
            <a:spLocks noGrp="1"/>
          </p:cNvSpPr>
          <p:nvPr/>
        </p:nvSpPr>
        <p:spPr>
          <a:xfrm>
            <a:off x="952500" y="3200400"/>
            <a:ext cx="4686300" cy="2114550"/>
          </a:xfrm>
          <a:prstGeom prst="rect">
            <a:avLst/>
          </a:prstGeom>
          <a:noFill/>
          <a:ln w="0">
            <a:noFill/>
            <a:prstDash val="solid"/>
          </a:ln>
        </p:spPr>
        <p:txBody>
          <a:bodyPr/>
          <a:lstStyle/>
          <a:p>
            <a:pPr algn="l">
              <a:defRPr sz="1200" b="0">
                <a:solidFill>
                  <a:srgbClr val="64748B"/>
                </a:solidFill>
              </a:defRPr>
            </a:pPr>
            <a:r>
              <a:rPr sz="1200" b="0">
                <a:solidFill>
                  <a:srgbClr val="64748B"/>
                </a:solidFill>
              </a:rPr>
              <a:t>Encapsulation: model giữ field private và truy cập qua getter/setter.</a:t>
            </a:r>
          </a:p>
          <a:p>
            <a:pPr algn="l">
              <a:defRPr sz="1200" b="0">
                <a:solidFill>
                  <a:srgbClr val="64748B"/>
                </a:solidFill>
              </a:defRPr>
            </a:pPr>
            <a:r>
              <a:rPr sz="1200" b="0">
                <a:solidFill>
                  <a:srgbClr val="64748B"/>
                </a:solidFill>
              </a:rPr>
              <a:t>Inheritance: Student và Lecturer kế thừa User.</a:t>
            </a:r>
          </a:p>
          <a:p>
            <a:pPr algn="l">
              <a:defRPr sz="1200" b="0">
                <a:solidFill>
                  <a:srgbClr val="64748B"/>
                </a:solidFill>
              </a:defRPr>
            </a:pPr>
            <a:r>
              <a:rPr sz="1200" b="0">
                <a:solidFill>
                  <a:srgbClr val="64748B"/>
                </a:solidFill>
              </a:rPr>
              <a:t>Abstraction/Interface: User abstract, CourseValidator, Registrable, Repository.</a:t>
            </a:r>
          </a:p>
          <a:p>
            <a:pPr algn="l">
              <a:defRPr sz="1200" b="0">
                <a:solidFill>
                  <a:srgbClr val="64748B"/>
                </a:solidFill>
              </a:defRPr>
            </a:pPr>
            <a:r>
              <a:rPr sz="1200" b="0">
                <a:solidFill>
                  <a:srgbClr val="64748B"/>
                </a:solidFill>
              </a:rPr>
              <a:t>Polymorphism: RegistrationService chạy List&lt;CourseValidator&gt; mà không cần biết class cụ thể.</a:t>
            </a:r>
          </a:p>
        </p:txBody>
      </p:sp>
      <p:sp>
        <p:nvSpPr>
          <p:cNvPr id="49" name="Rectangle: Rounded Corners 48">
            <a:extLst>
              <a:ext uri="{FF2B5EF4-FFF2-40B4-BE49-F238E27FC236}">
                <a16:creationId xmlns:a16="http://schemas.microsoft.com/office/drawing/2014/main" id="{C540E681-CD80-4DFE-9445-72359D0A37B0}"/>
              </a:ext>
            </a:extLst>
          </p:cNvPr>
          <p:cNvSpPr>
            <a:spLocks noGrp="1"/>
          </p:cNvSpPr>
          <p:nvPr/>
        </p:nvSpPr>
        <p:spPr>
          <a:xfrm>
            <a:off x="6324600" y="2686050"/>
            <a:ext cx="5143500" cy="2781300"/>
          </a:xfrm>
          <a:prstGeom prst="roundRect">
            <a:avLst>
              <a:gd name="adj" fmla="val 4110"/>
            </a:avLst>
          </a:prstGeom>
          <a:solidFill>
            <a:srgbClr val="FFFFFF"/>
          </a:solidFill>
          <a:ln w="9525">
            <a:solidFill>
              <a:srgbClr val="DDE7F3"/>
            </a:solidFill>
            <a:prstDash val="solid"/>
          </a:ln>
        </p:spPr>
      </p:sp>
      <p:sp>
        <p:nvSpPr>
          <p:cNvPr id="50" name="Rectangle 49">
            <a:extLst>
              <a:ext uri="{FF2B5EF4-FFF2-40B4-BE49-F238E27FC236}">
                <a16:creationId xmlns:a16="http://schemas.microsoft.com/office/drawing/2014/main" id="{FBF29EFC-2B99-4F2A-8E7A-AAE4A955B4D6}"/>
              </a:ext>
            </a:extLst>
          </p:cNvPr>
          <p:cNvSpPr>
            <a:spLocks noGrp="1"/>
          </p:cNvSpPr>
          <p:nvPr/>
        </p:nvSpPr>
        <p:spPr>
          <a:xfrm>
            <a:off x="6324600" y="2686050"/>
            <a:ext cx="66675" cy="2781300"/>
          </a:xfrm>
          <a:prstGeom prst="rect">
            <a:avLst/>
          </a:prstGeom>
          <a:solidFill>
            <a:srgbClr val="16A34A"/>
          </a:solidFill>
          <a:ln w="9525">
            <a:solidFill>
              <a:srgbClr val="16A34A"/>
            </a:solidFill>
            <a:prstDash val="solid"/>
          </a:ln>
        </p:spPr>
      </p:sp>
      <p:sp>
        <p:nvSpPr>
          <p:cNvPr id="51" name="Rectangle 50">
            <a:extLst>
              <a:ext uri="{FF2B5EF4-FFF2-40B4-BE49-F238E27FC236}">
                <a16:creationId xmlns:a16="http://schemas.microsoft.com/office/drawing/2014/main" id="{FF1DEF04-834D-4EE0-899C-FBA5069E9FDD}"/>
              </a:ext>
            </a:extLst>
          </p:cNvPr>
          <p:cNvSpPr>
            <a:spLocks noGrp="1"/>
          </p:cNvSpPr>
          <p:nvPr/>
        </p:nvSpPr>
        <p:spPr>
          <a:xfrm>
            <a:off x="6553200" y="2857500"/>
            <a:ext cx="46863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Lợi ích trong bài toán đăng ký môn học</a:t>
            </a:r>
          </a:p>
        </p:txBody>
      </p:sp>
      <p:sp>
        <p:nvSpPr>
          <p:cNvPr id="52" name="Rectangle 51">
            <a:extLst>
              <a:ext uri="{FF2B5EF4-FFF2-40B4-BE49-F238E27FC236}">
                <a16:creationId xmlns:a16="http://schemas.microsoft.com/office/drawing/2014/main" id="{A215499E-9E36-49A9-81C5-08E2F7AE35CB}"/>
              </a:ext>
            </a:extLst>
          </p:cNvPr>
          <p:cNvSpPr>
            <a:spLocks noGrp="1"/>
          </p:cNvSpPr>
          <p:nvPr/>
        </p:nvSpPr>
        <p:spPr>
          <a:xfrm>
            <a:off x="6553200" y="3200400"/>
            <a:ext cx="4686300" cy="2114550"/>
          </a:xfrm>
          <a:prstGeom prst="rect">
            <a:avLst/>
          </a:prstGeom>
          <a:noFill/>
          <a:ln w="0">
            <a:noFill/>
            <a:prstDash val="solid"/>
          </a:ln>
        </p:spPr>
        <p:txBody>
          <a:bodyPr/>
          <a:lstStyle/>
          <a:p>
            <a:pPr algn="l">
              <a:defRPr sz="1200" b="0">
                <a:solidFill>
                  <a:srgbClr val="64748B"/>
                </a:solidFill>
              </a:defRPr>
            </a:pPr>
            <a:r>
              <a:rPr sz="1200" b="0">
                <a:solidFill>
                  <a:srgbClr val="64748B"/>
                </a:solidFill>
              </a:rPr>
              <a:t>Mỗi rule đăng ký được tách thành một lớp độc lập. Khi cần thêm rule mới, nhóm thêm validator mới thay vì sửa toàn bộ service. File IO nằm dưới repository nên UI, controller và service không phụ thuộc vào chi tiết JSON.</a:t>
            </a:r>
          </a:p>
        </p:txBody>
      </p:sp>
    </p:spTree>
    <p:extLst>
      <p:ext uri="{BB962C8B-B14F-4D97-AF65-F5344CB8AC3E}">
        <p14:creationId xmlns:p14="http://schemas.microsoft.com/office/powerpoint/2010/main" val="772117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D8882361-D35F-433F-9BAD-A5D33C773E61}"/>
              </a:ext>
            </a:extLst>
          </p:cNvPr>
          <p:cNvSpPr>
            <a:spLocks noGrp="1"/>
          </p:cNvSpPr>
          <p:nvPr/>
        </p:nvSpPr>
        <p:spPr>
          <a:xfrm>
            <a:off x="0" y="0"/>
            <a:ext cx="12192000" cy="6858000"/>
          </a:xfrm>
          <a:prstGeom prst="rect">
            <a:avLst/>
          </a:prstGeom>
          <a:solidFill>
            <a:srgbClr val="F8FBFF"/>
          </a:solidFill>
          <a:ln w="0">
            <a:noFill/>
            <a:prstDash val="solid"/>
          </a:ln>
        </p:spPr>
      </p:sp>
      <p:sp>
        <p:nvSpPr>
          <p:cNvPr id="2" name="Rectangle 1">
            <a:extLst>
              <a:ext uri="{FF2B5EF4-FFF2-40B4-BE49-F238E27FC236}">
                <a16:creationId xmlns:a16="http://schemas.microsoft.com/office/drawing/2014/main" id="{328803CC-E6F3-4A99-B018-0C64D9E353C9}"/>
              </a:ext>
            </a:extLst>
          </p:cNvPr>
          <p:cNvSpPr>
            <a:spLocks noGrp="1"/>
          </p:cNvSpPr>
          <p:nvPr/>
        </p:nvSpPr>
        <p:spPr>
          <a:xfrm>
            <a:off x="609600" y="323850"/>
            <a:ext cx="7239000" cy="266700"/>
          </a:xfrm>
          <a:prstGeom prst="rect">
            <a:avLst/>
          </a:prstGeom>
          <a:noFill/>
          <a:ln w="0">
            <a:noFill/>
            <a:prstDash val="solid"/>
          </a:ln>
        </p:spPr>
        <p:txBody>
          <a:bodyPr/>
          <a:lstStyle/>
          <a:p>
            <a:pPr algn="l">
              <a:defRPr sz="1050" b="1">
                <a:solidFill>
                  <a:srgbClr val="0B5FFF"/>
                </a:solidFill>
              </a:defRPr>
            </a:pPr>
            <a:r>
              <a:rPr sz="1050" b="1">
                <a:solidFill>
                  <a:srgbClr val="0B5FFF"/>
                </a:solidFill>
              </a:rPr>
              <a:t>THIẾT KẾ OOP | Minh chứng từ source</a:t>
            </a:r>
          </a:p>
        </p:txBody>
      </p:sp>
      <p:sp>
        <p:nvSpPr>
          <p:cNvPr id="3" name="Rectangle 2">
            <a:extLst>
              <a:ext uri="{FF2B5EF4-FFF2-40B4-BE49-F238E27FC236}">
                <a16:creationId xmlns:a16="http://schemas.microsoft.com/office/drawing/2014/main" id="{42049C23-8439-4512-851D-82A0543553FC}"/>
              </a:ext>
            </a:extLst>
          </p:cNvPr>
          <p:cNvSpPr>
            <a:spLocks noGrp="1"/>
          </p:cNvSpPr>
          <p:nvPr/>
        </p:nvSpPr>
        <p:spPr>
          <a:xfrm>
            <a:off x="609600" y="628650"/>
            <a:ext cx="10096500" cy="533400"/>
          </a:xfrm>
          <a:prstGeom prst="rect">
            <a:avLst/>
          </a:prstGeom>
          <a:noFill/>
          <a:ln w="0">
            <a:noFill/>
            <a:prstDash val="solid"/>
          </a:ln>
        </p:spPr>
        <p:txBody>
          <a:bodyPr/>
          <a:lstStyle/>
          <a:p>
            <a:pPr algn="l">
              <a:defRPr sz="2550" b="1">
                <a:solidFill>
                  <a:srgbClr val="0F172A"/>
                </a:solidFill>
              </a:defRPr>
            </a:pPr>
            <a:r>
              <a:rPr sz="2550" b="1">
                <a:solidFill>
                  <a:srgbClr val="0F172A"/>
                </a:solidFill>
              </a:rPr>
              <a:t>Encapsulation và Inheritance</a:t>
            </a:r>
          </a:p>
        </p:txBody>
      </p:sp>
      <p:sp>
        <p:nvSpPr>
          <p:cNvPr id="4" name="Straight Connector 3">
            <a:extLst>
              <a:ext uri="{FF2B5EF4-FFF2-40B4-BE49-F238E27FC236}">
                <a16:creationId xmlns:a16="http://schemas.microsoft.com/office/drawing/2014/main" id="{7A792070-423C-41C8-8C74-A291982B71D8}"/>
              </a:ext>
            </a:extLst>
          </p:cNvPr>
          <p:cNvSpPr>
            <a:spLocks noGrp="1"/>
          </p:cNvSpPr>
          <p:nvPr/>
        </p:nvSpPr>
        <p:spPr>
          <a:xfrm>
            <a:off x="609600" y="1257300"/>
            <a:ext cx="10972800" cy="0"/>
          </a:xfrm>
          <a:prstGeom prst="line">
            <a:avLst/>
          </a:prstGeom>
          <a:noFill/>
          <a:ln w="9525">
            <a:solidFill>
              <a:srgbClr val="DDE7F3"/>
            </a:solidFill>
            <a:prstDash val="solid"/>
          </a:ln>
        </p:spPr>
      </p:sp>
      <p:sp>
        <p:nvSpPr>
          <p:cNvPr id="5" name="Rectangle 4">
            <a:extLst>
              <a:ext uri="{FF2B5EF4-FFF2-40B4-BE49-F238E27FC236}">
                <a16:creationId xmlns:a16="http://schemas.microsoft.com/office/drawing/2014/main" id="{B4DE17EF-2EB2-48D0-A70D-29FC82991580}"/>
              </a:ext>
            </a:extLst>
          </p:cNvPr>
          <p:cNvSpPr>
            <a:spLocks noGrp="1"/>
          </p:cNvSpPr>
          <p:nvPr/>
        </p:nvSpPr>
        <p:spPr>
          <a:xfrm>
            <a:off x="609600" y="6457950"/>
            <a:ext cx="4953000" cy="209550"/>
          </a:xfrm>
          <a:prstGeom prst="rect">
            <a:avLst/>
          </a:prstGeom>
          <a:noFill/>
          <a:ln w="0">
            <a:noFill/>
            <a:prstDash val="solid"/>
          </a:ln>
        </p:spPr>
        <p:txBody>
          <a:bodyPr/>
          <a:lstStyle/>
          <a:p>
            <a:pPr algn="l">
              <a:defRPr sz="900" b="0">
                <a:solidFill>
                  <a:srgbClr val="94A3B8"/>
                </a:solidFill>
              </a:defRPr>
            </a:pPr>
            <a:r>
              <a:rPr sz="900" b="0">
                <a:solidFill>
                  <a:srgbClr val="94A3B8"/>
                </a:solidFill>
              </a:rPr>
              <a:t>Nhóm 2 - Phenikaa University</a:t>
            </a:r>
          </a:p>
        </p:txBody>
      </p:sp>
      <p:sp>
        <p:nvSpPr>
          <p:cNvPr id="6" name="Rectangle 5">
            <a:extLst>
              <a:ext uri="{FF2B5EF4-FFF2-40B4-BE49-F238E27FC236}">
                <a16:creationId xmlns:a16="http://schemas.microsoft.com/office/drawing/2014/main" id="{68AF3545-26DD-48F2-BDCB-3513A0400BBB}"/>
              </a:ext>
            </a:extLst>
          </p:cNvPr>
          <p:cNvSpPr>
            <a:spLocks noGrp="1"/>
          </p:cNvSpPr>
          <p:nvPr/>
        </p:nvSpPr>
        <p:spPr>
          <a:xfrm>
            <a:off x="10382250" y="6457950"/>
            <a:ext cx="1200150" cy="209550"/>
          </a:xfrm>
          <a:prstGeom prst="rect">
            <a:avLst/>
          </a:prstGeom>
          <a:noFill/>
          <a:ln w="0">
            <a:noFill/>
            <a:prstDash val="solid"/>
          </a:ln>
        </p:spPr>
        <p:txBody>
          <a:bodyPr/>
          <a:lstStyle/>
          <a:p>
            <a:pPr algn="r">
              <a:defRPr sz="900" b="0">
                <a:solidFill>
                  <a:srgbClr val="94A3B8"/>
                </a:solidFill>
              </a:defRPr>
            </a:pPr>
            <a:r>
              <a:rPr sz="900" b="0">
                <a:solidFill>
                  <a:srgbClr val="94A3B8"/>
                </a:solidFill>
              </a:rPr>
              <a:t>06A</a:t>
            </a:r>
          </a:p>
        </p:txBody>
      </p:sp>
      <p:sp>
        <p:nvSpPr>
          <p:cNvPr id="7" name="Rectangle: Rounded Corners 6">
            <a:extLst>
              <a:ext uri="{FF2B5EF4-FFF2-40B4-BE49-F238E27FC236}">
                <a16:creationId xmlns:a16="http://schemas.microsoft.com/office/drawing/2014/main" id="{082119E3-FFEE-4E42-BC55-C0D217F2BEE5}"/>
              </a:ext>
            </a:extLst>
          </p:cNvPr>
          <p:cNvSpPr>
            <a:spLocks noGrp="1"/>
          </p:cNvSpPr>
          <p:nvPr/>
        </p:nvSpPr>
        <p:spPr>
          <a:xfrm>
            <a:off x="666750" y="1504950"/>
            <a:ext cx="4953000" cy="3276600"/>
          </a:xfrm>
          <a:prstGeom prst="roundRect">
            <a:avLst>
              <a:gd name="adj" fmla="val 3488"/>
            </a:avLst>
          </a:prstGeom>
          <a:solidFill>
            <a:srgbClr val="0B1220"/>
          </a:solidFill>
          <a:ln w="9525">
            <a:solidFill>
              <a:srgbClr val="0B1220"/>
            </a:solidFill>
            <a:prstDash val="solid"/>
          </a:ln>
        </p:spPr>
      </p:sp>
      <p:sp>
        <p:nvSpPr>
          <p:cNvPr id="8" name="Rectangle 7">
            <a:extLst>
              <a:ext uri="{FF2B5EF4-FFF2-40B4-BE49-F238E27FC236}">
                <a16:creationId xmlns:a16="http://schemas.microsoft.com/office/drawing/2014/main" id="{5E58F6C5-154B-4085-B20A-30A30FEF96E1}"/>
              </a:ext>
            </a:extLst>
          </p:cNvPr>
          <p:cNvSpPr>
            <a:spLocks noGrp="1"/>
          </p:cNvSpPr>
          <p:nvPr/>
        </p:nvSpPr>
        <p:spPr>
          <a:xfrm>
            <a:off x="838200" y="1657350"/>
            <a:ext cx="4610100" cy="3009900"/>
          </a:xfrm>
          <a:prstGeom prst="rect">
            <a:avLst/>
          </a:prstGeom>
          <a:noFill/>
          <a:ln w="0">
            <a:noFill/>
            <a:prstDash val="solid"/>
          </a:ln>
        </p:spPr>
        <p:txBody>
          <a:bodyPr/>
          <a:lstStyle/>
          <a:p>
            <a:pPr algn="l">
              <a:defRPr sz="1050" b="0">
                <a:solidFill>
                  <a:srgbClr val="E2E8F0"/>
                </a:solidFill>
              </a:defRPr>
            </a:pPr>
            <a:r>
              <a:rPr sz="1050" b="0">
                <a:solidFill>
                  <a:srgbClr val="E2E8F0"/>
                </a:solidFill>
              </a:rPr>
              <a:t>public abstract class User {</a:t>
            </a:r>
          </a:p>
          <a:p>
            <a:pPr algn="l">
              <a:defRPr sz="1050" b="0">
                <a:solidFill>
                  <a:srgbClr val="E2E8F0"/>
                </a:solidFill>
              </a:defRPr>
            </a:pPr>
            <a:r>
              <a:rPr sz="1050" b="0">
                <a:solidFill>
                  <a:srgbClr val="E2E8F0"/>
                </a:solidFill>
              </a:rPr>
              <a:t>    private String id;</a:t>
            </a:r>
          </a:p>
          <a:p>
            <a:pPr algn="l">
              <a:defRPr sz="1050" b="0">
                <a:solidFill>
                  <a:srgbClr val="E2E8F0"/>
                </a:solidFill>
              </a:defRPr>
            </a:pPr>
            <a:r>
              <a:rPr sz="1050" b="0">
                <a:solidFill>
                  <a:srgbClr val="E2E8F0"/>
                </a:solidFill>
              </a:rPr>
              <a:t>    private String fullName;</a:t>
            </a:r>
          </a:p>
          <a:p>
            <a:endParaRPr sz="1050" b="0">
              <a:solidFill>
                <a:srgbClr val="E2E8F0"/>
              </a:solidFill>
            </a:endParaRPr>
          </a:p>
          <a:p>
            <a:pPr algn="l">
              <a:defRPr sz="1050" b="0">
                <a:solidFill>
                  <a:srgbClr val="E2E8F0"/>
                </a:solidFill>
              </a:defRPr>
            </a:pPr>
            <a:r>
              <a:rPr sz="1050" b="0">
                <a:solidFill>
                  <a:srgbClr val="E2E8F0"/>
                </a:solidFill>
              </a:rPr>
              <a:t>    protected User(String id, String fullName) {</a:t>
            </a:r>
          </a:p>
          <a:p>
            <a:pPr algn="l">
              <a:defRPr sz="1050" b="0">
                <a:solidFill>
                  <a:srgbClr val="E2E8F0"/>
                </a:solidFill>
              </a:defRPr>
            </a:pPr>
            <a:r>
              <a:rPr sz="1050" b="0">
                <a:solidFill>
                  <a:srgbClr val="E2E8F0"/>
                </a:solidFill>
              </a:rPr>
              <a:t>        this.id = id;</a:t>
            </a:r>
          </a:p>
          <a:p>
            <a:pPr algn="l">
              <a:defRPr sz="1050" b="0">
                <a:solidFill>
                  <a:srgbClr val="E2E8F0"/>
                </a:solidFill>
              </a:defRPr>
            </a:pPr>
            <a:r>
              <a:rPr sz="1050" b="0">
                <a:solidFill>
                  <a:srgbClr val="E2E8F0"/>
                </a:solidFill>
              </a:rPr>
              <a:t>        this.fullName = fullName;</a:t>
            </a:r>
          </a:p>
          <a:p>
            <a:pPr algn="l">
              <a:defRPr sz="1050" b="0">
                <a:solidFill>
                  <a:srgbClr val="E2E8F0"/>
                </a:solidFill>
              </a:defRPr>
            </a:pPr>
            <a:r>
              <a:rPr sz="1050" b="0">
                <a:solidFill>
                  <a:srgbClr val="E2E8F0"/>
                </a:solidFill>
              </a:rPr>
              <a:t>    }</a:t>
            </a:r>
          </a:p>
          <a:p>
            <a:endParaRPr sz="1050" b="0">
              <a:solidFill>
                <a:srgbClr val="E2E8F0"/>
              </a:solidFill>
            </a:endParaRPr>
          </a:p>
          <a:p>
            <a:pPr algn="l">
              <a:defRPr sz="1050" b="0">
                <a:solidFill>
                  <a:srgbClr val="E2E8F0"/>
                </a:solidFill>
              </a:defRPr>
            </a:pPr>
            <a:r>
              <a:rPr sz="1050" b="0">
                <a:solidFill>
                  <a:srgbClr val="E2E8F0"/>
                </a:solidFill>
              </a:rPr>
              <a:t>    public String getId() { return id; }</a:t>
            </a:r>
          </a:p>
          <a:p>
            <a:pPr algn="l">
              <a:defRPr sz="1050" b="0">
                <a:solidFill>
                  <a:srgbClr val="E2E8F0"/>
                </a:solidFill>
              </a:defRPr>
            </a:pPr>
            <a:r>
              <a:rPr sz="1050" b="0">
                <a:solidFill>
                  <a:srgbClr val="E2E8F0"/>
                </a:solidFill>
              </a:rPr>
              <a:t>    public String getFullName() { return fullName; }</a:t>
            </a:r>
          </a:p>
          <a:p>
            <a:pPr algn="l">
              <a:defRPr sz="1050" b="0">
                <a:solidFill>
                  <a:srgbClr val="E2E8F0"/>
                </a:solidFill>
              </a:defRPr>
            </a:pPr>
            <a:r>
              <a:rPr sz="1050" b="0">
                <a:solidFill>
                  <a:srgbClr val="E2E8F0"/>
                </a:solidFill>
              </a:rPr>
              <a:t>}</a:t>
            </a:r>
          </a:p>
        </p:txBody>
      </p:sp>
      <p:sp>
        <p:nvSpPr>
          <p:cNvPr id="9" name="Rectangle: Rounded Corners 8">
            <a:extLst>
              <a:ext uri="{FF2B5EF4-FFF2-40B4-BE49-F238E27FC236}">
                <a16:creationId xmlns:a16="http://schemas.microsoft.com/office/drawing/2014/main" id="{F2F565C7-60DF-401E-A0C8-E601406BB13C}"/>
              </a:ext>
            </a:extLst>
          </p:cNvPr>
          <p:cNvSpPr>
            <a:spLocks noGrp="1"/>
          </p:cNvSpPr>
          <p:nvPr/>
        </p:nvSpPr>
        <p:spPr>
          <a:xfrm>
            <a:off x="6191250" y="1562100"/>
            <a:ext cx="1536700" cy="781050"/>
          </a:xfrm>
          <a:prstGeom prst="roundRect">
            <a:avLst>
              <a:gd name="adj" fmla="val 14634"/>
            </a:avLst>
          </a:prstGeom>
          <a:solidFill>
            <a:srgbClr val="F1F5F9"/>
          </a:solidFill>
          <a:ln w="9525">
            <a:solidFill>
              <a:srgbClr val="DDE7F3"/>
            </a:solidFill>
            <a:prstDash val="solid"/>
          </a:ln>
        </p:spPr>
      </p:sp>
      <p:sp>
        <p:nvSpPr>
          <p:cNvPr id="10" name="Rectangle 9">
            <a:extLst>
              <a:ext uri="{FF2B5EF4-FFF2-40B4-BE49-F238E27FC236}">
                <a16:creationId xmlns:a16="http://schemas.microsoft.com/office/drawing/2014/main" id="{FD71F81F-3284-4A22-BC0C-D5DE0478EE1E}"/>
              </a:ext>
            </a:extLst>
          </p:cNvPr>
          <p:cNvSpPr>
            <a:spLocks noGrp="1"/>
          </p:cNvSpPr>
          <p:nvPr/>
        </p:nvSpPr>
        <p:spPr>
          <a:xfrm>
            <a:off x="6305550" y="1714500"/>
            <a:ext cx="1308100" cy="514350"/>
          </a:xfrm>
          <a:prstGeom prst="rect">
            <a:avLst/>
          </a:prstGeom>
          <a:noFill/>
          <a:ln w="0">
            <a:noFill/>
            <a:prstDash val="solid"/>
          </a:ln>
        </p:spPr>
        <p:txBody>
          <a:bodyPr/>
          <a:lstStyle/>
          <a:p>
            <a:pPr algn="ctr">
              <a:defRPr sz="1275" b="1">
                <a:solidFill>
                  <a:srgbClr val="0F172A"/>
                </a:solidFill>
              </a:defRPr>
            </a:pPr>
            <a:r>
              <a:rPr sz="1275" b="1">
                <a:solidFill>
                  <a:srgbClr val="0F172A"/>
                </a:solidFill>
              </a:rPr>
              <a:t>User</a:t>
            </a:r>
          </a:p>
          <a:p>
            <a:pPr algn="ctr">
              <a:defRPr sz="1275" b="1">
                <a:solidFill>
                  <a:srgbClr val="0F172A"/>
                </a:solidFill>
              </a:defRPr>
            </a:pPr>
            <a:r>
              <a:rPr sz="1275" b="1">
                <a:solidFill>
                  <a:srgbClr val="0F172A"/>
                </a:solidFill>
              </a:rPr>
              <a:t>abstract base class</a:t>
            </a:r>
          </a:p>
        </p:txBody>
      </p:sp>
      <p:sp>
        <p:nvSpPr>
          <p:cNvPr id="11" name="Arrow: Right 10">
            <a:extLst>
              <a:ext uri="{FF2B5EF4-FFF2-40B4-BE49-F238E27FC236}">
                <a16:creationId xmlns:a16="http://schemas.microsoft.com/office/drawing/2014/main" id="{6EDC591E-F9DE-4C91-A0AD-E6611FAB9397}"/>
              </a:ext>
            </a:extLst>
          </p:cNvPr>
          <p:cNvSpPr>
            <a:spLocks noGrp="1"/>
          </p:cNvSpPr>
          <p:nvPr/>
        </p:nvSpPr>
        <p:spPr>
          <a:xfrm>
            <a:off x="7708900" y="1838325"/>
            <a:ext cx="209550" cy="228600"/>
          </a:xfrm>
          <a:prstGeom prst="rightArrow">
            <a:avLst/>
          </a:prstGeom>
          <a:solidFill>
            <a:srgbClr val="C9DAFF"/>
          </a:solidFill>
          <a:ln w="0">
            <a:solidFill>
              <a:srgbClr val="C9DAFF"/>
            </a:solidFill>
            <a:prstDash val="solid"/>
          </a:ln>
        </p:spPr>
      </p:sp>
      <p:sp>
        <p:nvSpPr>
          <p:cNvPr id="12" name="Rectangle: Rounded Corners 11">
            <a:extLst>
              <a:ext uri="{FF2B5EF4-FFF2-40B4-BE49-F238E27FC236}">
                <a16:creationId xmlns:a16="http://schemas.microsoft.com/office/drawing/2014/main" id="{7C61672D-8018-4549-BD84-DF8391689B2F}"/>
              </a:ext>
            </a:extLst>
          </p:cNvPr>
          <p:cNvSpPr>
            <a:spLocks noGrp="1"/>
          </p:cNvSpPr>
          <p:nvPr/>
        </p:nvSpPr>
        <p:spPr>
          <a:xfrm>
            <a:off x="7899400" y="1562100"/>
            <a:ext cx="1536700" cy="781050"/>
          </a:xfrm>
          <a:prstGeom prst="roundRect">
            <a:avLst>
              <a:gd name="adj" fmla="val 14634"/>
            </a:avLst>
          </a:prstGeom>
          <a:solidFill>
            <a:srgbClr val="EAF2FF"/>
          </a:solidFill>
          <a:ln w="9525">
            <a:solidFill>
              <a:srgbClr val="BBD3FF"/>
            </a:solidFill>
            <a:prstDash val="solid"/>
          </a:ln>
        </p:spPr>
      </p:sp>
      <p:sp>
        <p:nvSpPr>
          <p:cNvPr id="13" name="Rectangle 12">
            <a:extLst>
              <a:ext uri="{FF2B5EF4-FFF2-40B4-BE49-F238E27FC236}">
                <a16:creationId xmlns:a16="http://schemas.microsoft.com/office/drawing/2014/main" id="{54FF80E4-97C0-4E89-AE13-C71B2FD00B9D}"/>
              </a:ext>
            </a:extLst>
          </p:cNvPr>
          <p:cNvSpPr>
            <a:spLocks noGrp="1"/>
          </p:cNvSpPr>
          <p:nvPr/>
        </p:nvSpPr>
        <p:spPr>
          <a:xfrm>
            <a:off x="8013700" y="1714500"/>
            <a:ext cx="1308100" cy="514350"/>
          </a:xfrm>
          <a:prstGeom prst="rect">
            <a:avLst/>
          </a:prstGeom>
          <a:noFill/>
          <a:ln w="0">
            <a:noFill/>
            <a:prstDash val="solid"/>
          </a:ln>
        </p:spPr>
        <p:txBody>
          <a:bodyPr/>
          <a:lstStyle/>
          <a:p>
            <a:pPr algn="ctr">
              <a:defRPr sz="1275" b="1">
                <a:solidFill>
                  <a:srgbClr val="0B2A6F"/>
                </a:solidFill>
              </a:defRPr>
            </a:pPr>
            <a:r>
              <a:rPr sz="1275" b="1">
                <a:solidFill>
                  <a:srgbClr val="0B2A6F"/>
                </a:solidFill>
              </a:rPr>
              <a:t>Student</a:t>
            </a:r>
          </a:p>
          <a:p>
            <a:pPr algn="ctr">
              <a:defRPr sz="1275" b="1">
                <a:solidFill>
                  <a:srgbClr val="0B2A6F"/>
                </a:solidFill>
              </a:defRPr>
            </a:pPr>
            <a:r>
              <a:rPr sz="1275" b="1">
                <a:solidFill>
                  <a:srgbClr val="0B2A6F"/>
                </a:solidFill>
              </a:rPr>
              <a:t>extends User</a:t>
            </a:r>
          </a:p>
        </p:txBody>
      </p:sp>
      <p:sp>
        <p:nvSpPr>
          <p:cNvPr id="14" name="Arrow: Right 13">
            <a:extLst>
              <a:ext uri="{FF2B5EF4-FFF2-40B4-BE49-F238E27FC236}">
                <a16:creationId xmlns:a16="http://schemas.microsoft.com/office/drawing/2014/main" id="{27AC11A0-9C26-4B34-A6A9-F9517DB7BBD9}"/>
              </a:ext>
            </a:extLst>
          </p:cNvPr>
          <p:cNvSpPr>
            <a:spLocks noGrp="1"/>
          </p:cNvSpPr>
          <p:nvPr/>
        </p:nvSpPr>
        <p:spPr>
          <a:xfrm>
            <a:off x="9417050" y="1838325"/>
            <a:ext cx="209550" cy="228600"/>
          </a:xfrm>
          <a:prstGeom prst="rightArrow">
            <a:avLst/>
          </a:prstGeom>
          <a:solidFill>
            <a:srgbClr val="C9DAFF"/>
          </a:solidFill>
          <a:ln w="0">
            <a:solidFill>
              <a:srgbClr val="C9DAFF"/>
            </a:solidFill>
            <a:prstDash val="solid"/>
          </a:ln>
        </p:spPr>
      </p:sp>
      <p:sp>
        <p:nvSpPr>
          <p:cNvPr id="15" name="Rectangle: Rounded Corners 14">
            <a:extLst>
              <a:ext uri="{FF2B5EF4-FFF2-40B4-BE49-F238E27FC236}">
                <a16:creationId xmlns:a16="http://schemas.microsoft.com/office/drawing/2014/main" id="{2AFB8A79-F382-450B-8374-E2624B0E846F}"/>
              </a:ext>
            </a:extLst>
          </p:cNvPr>
          <p:cNvSpPr>
            <a:spLocks noGrp="1"/>
          </p:cNvSpPr>
          <p:nvPr/>
        </p:nvSpPr>
        <p:spPr>
          <a:xfrm>
            <a:off x="9607550" y="1562100"/>
            <a:ext cx="1536700" cy="781050"/>
          </a:xfrm>
          <a:prstGeom prst="roundRect">
            <a:avLst>
              <a:gd name="adj" fmla="val 14634"/>
            </a:avLst>
          </a:prstGeom>
          <a:solidFill>
            <a:srgbClr val="EAF8F0"/>
          </a:solidFill>
          <a:ln w="9525">
            <a:solidFill>
              <a:srgbClr val="BFE9CF"/>
            </a:solidFill>
            <a:prstDash val="solid"/>
          </a:ln>
        </p:spPr>
      </p:sp>
      <p:sp>
        <p:nvSpPr>
          <p:cNvPr id="16" name="Rectangle 15">
            <a:extLst>
              <a:ext uri="{FF2B5EF4-FFF2-40B4-BE49-F238E27FC236}">
                <a16:creationId xmlns:a16="http://schemas.microsoft.com/office/drawing/2014/main" id="{A732116F-276B-4EB7-9D8A-622451CCD267}"/>
              </a:ext>
            </a:extLst>
          </p:cNvPr>
          <p:cNvSpPr>
            <a:spLocks noGrp="1"/>
          </p:cNvSpPr>
          <p:nvPr/>
        </p:nvSpPr>
        <p:spPr>
          <a:xfrm>
            <a:off x="9721850" y="1714500"/>
            <a:ext cx="1308100" cy="514350"/>
          </a:xfrm>
          <a:prstGeom prst="rect">
            <a:avLst/>
          </a:prstGeom>
          <a:noFill/>
          <a:ln w="0">
            <a:noFill/>
            <a:prstDash val="solid"/>
          </a:ln>
        </p:spPr>
        <p:txBody>
          <a:bodyPr/>
          <a:lstStyle/>
          <a:p>
            <a:pPr algn="ctr">
              <a:defRPr sz="1275" b="1">
                <a:solidFill>
                  <a:srgbClr val="166534"/>
                </a:solidFill>
              </a:defRPr>
            </a:pPr>
            <a:r>
              <a:rPr sz="1275" b="1">
                <a:solidFill>
                  <a:srgbClr val="166534"/>
                </a:solidFill>
              </a:rPr>
              <a:t>Lecturer</a:t>
            </a:r>
          </a:p>
          <a:p>
            <a:pPr algn="ctr">
              <a:defRPr sz="1275" b="1">
                <a:solidFill>
                  <a:srgbClr val="166534"/>
                </a:solidFill>
              </a:defRPr>
            </a:pPr>
            <a:r>
              <a:rPr sz="1275" b="1">
                <a:solidFill>
                  <a:srgbClr val="166534"/>
                </a:solidFill>
              </a:rPr>
              <a:t>extends User</a:t>
            </a:r>
          </a:p>
        </p:txBody>
      </p:sp>
      <p:sp>
        <p:nvSpPr>
          <p:cNvPr id="17" name="Rectangle 16">
            <a:extLst>
              <a:ext uri="{FF2B5EF4-FFF2-40B4-BE49-F238E27FC236}">
                <a16:creationId xmlns:a16="http://schemas.microsoft.com/office/drawing/2014/main" id="{957C8077-0CF8-4E36-8782-23FF3A0690FE}"/>
              </a:ext>
            </a:extLst>
          </p:cNvPr>
          <p:cNvSpPr>
            <a:spLocks noGrp="1"/>
          </p:cNvSpPr>
          <p:nvPr/>
        </p:nvSpPr>
        <p:spPr>
          <a:xfrm>
            <a:off x="6191250" y="2867025"/>
            <a:ext cx="190500" cy="228600"/>
          </a:xfrm>
          <a:prstGeom prst="rect">
            <a:avLst/>
          </a:prstGeom>
          <a:noFill/>
          <a:ln w="0">
            <a:noFill/>
            <a:prstDash val="solid"/>
          </a:ln>
        </p:spPr>
        <p:txBody>
          <a:bodyPr/>
          <a:lstStyle/>
          <a:p>
            <a:pPr algn="l">
              <a:defRPr sz="1650" b="1">
                <a:solidFill>
                  <a:srgbClr val="0B5FFF"/>
                </a:solidFill>
              </a:defRPr>
            </a:pPr>
            <a:r>
              <a:rPr sz="1650" b="1">
                <a:solidFill>
                  <a:srgbClr val="0B5FFF"/>
                </a:solidFill>
              </a:rPr>
              <a:t>•</a:t>
            </a:r>
          </a:p>
        </p:txBody>
      </p:sp>
      <p:sp>
        <p:nvSpPr>
          <p:cNvPr id="18" name="Rectangle 17">
            <a:extLst>
              <a:ext uri="{FF2B5EF4-FFF2-40B4-BE49-F238E27FC236}">
                <a16:creationId xmlns:a16="http://schemas.microsoft.com/office/drawing/2014/main" id="{6EB53611-457B-4C74-A6C4-F57A2A18414D}"/>
              </a:ext>
            </a:extLst>
          </p:cNvPr>
          <p:cNvSpPr>
            <a:spLocks noGrp="1"/>
          </p:cNvSpPr>
          <p:nvPr/>
        </p:nvSpPr>
        <p:spPr>
          <a:xfrm>
            <a:off x="6438900" y="2876550"/>
            <a:ext cx="4514850" cy="419100"/>
          </a:xfrm>
          <a:prstGeom prst="rect">
            <a:avLst/>
          </a:prstGeom>
          <a:noFill/>
          <a:ln w="0">
            <a:noFill/>
            <a:prstDash val="solid"/>
          </a:ln>
        </p:spPr>
        <p:txBody>
          <a:bodyPr/>
          <a:lstStyle/>
          <a:p>
            <a:pPr algn="l">
              <a:defRPr sz="1350" b="0">
                <a:solidFill>
                  <a:srgbClr val="0F172A"/>
                </a:solidFill>
              </a:defRPr>
            </a:pPr>
            <a:r>
              <a:rPr sz="1350" b="0">
                <a:solidFill>
                  <a:srgbClr val="0F172A"/>
                </a:solidFill>
              </a:rPr>
              <a:t>`private` field buộc truy cập qua getter/setter, tránh sửa dữ liệu tuỳ tiện.</a:t>
            </a:r>
          </a:p>
        </p:txBody>
      </p:sp>
      <p:sp>
        <p:nvSpPr>
          <p:cNvPr id="19" name="Rectangle 18">
            <a:extLst>
              <a:ext uri="{FF2B5EF4-FFF2-40B4-BE49-F238E27FC236}">
                <a16:creationId xmlns:a16="http://schemas.microsoft.com/office/drawing/2014/main" id="{EBDAA1FD-F74F-4123-BD59-813F322C6CDB}"/>
              </a:ext>
            </a:extLst>
          </p:cNvPr>
          <p:cNvSpPr>
            <a:spLocks noGrp="1"/>
          </p:cNvSpPr>
          <p:nvPr/>
        </p:nvSpPr>
        <p:spPr>
          <a:xfrm>
            <a:off x="6191250" y="3457575"/>
            <a:ext cx="190500" cy="228600"/>
          </a:xfrm>
          <a:prstGeom prst="rect">
            <a:avLst/>
          </a:prstGeom>
          <a:noFill/>
          <a:ln w="0">
            <a:noFill/>
            <a:prstDash val="solid"/>
          </a:ln>
        </p:spPr>
        <p:txBody>
          <a:bodyPr/>
          <a:lstStyle/>
          <a:p>
            <a:pPr algn="l">
              <a:defRPr sz="1650" b="1">
                <a:solidFill>
                  <a:srgbClr val="0B5FFF"/>
                </a:solidFill>
              </a:defRPr>
            </a:pPr>
            <a:r>
              <a:rPr sz="1650" b="1">
                <a:solidFill>
                  <a:srgbClr val="0B5FFF"/>
                </a:solidFill>
              </a:rPr>
              <a:t>•</a:t>
            </a:r>
          </a:p>
        </p:txBody>
      </p:sp>
      <p:sp>
        <p:nvSpPr>
          <p:cNvPr id="20" name="Rectangle 19">
            <a:extLst>
              <a:ext uri="{FF2B5EF4-FFF2-40B4-BE49-F238E27FC236}">
                <a16:creationId xmlns:a16="http://schemas.microsoft.com/office/drawing/2014/main" id="{48879B94-5C48-45A2-BDDE-967BF10251FA}"/>
              </a:ext>
            </a:extLst>
          </p:cNvPr>
          <p:cNvSpPr>
            <a:spLocks noGrp="1"/>
          </p:cNvSpPr>
          <p:nvPr/>
        </p:nvSpPr>
        <p:spPr>
          <a:xfrm>
            <a:off x="6438900" y="3467100"/>
            <a:ext cx="4514850" cy="419100"/>
          </a:xfrm>
          <a:prstGeom prst="rect">
            <a:avLst/>
          </a:prstGeom>
          <a:noFill/>
          <a:ln w="0">
            <a:noFill/>
            <a:prstDash val="solid"/>
          </a:ln>
        </p:spPr>
        <p:txBody>
          <a:bodyPr/>
          <a:lstStyle/>
          <a:p>
            <a:pPr algn="l">
              <a:defRPr sz="1350" b="0">
                <a:solidFill>
                  <a:srgbClr val="0F172A"/>
                </a:solidFill>
              </a:defRPr>
            </a:pPr>
            <a:r>
              <a:rPr sz="1350" b="0">
                <a:solidFill>
                  <a:srgbClr val="0F172A"/>
                </a:solidFill>
              </a:rPr>
              <a:t>`User` gom thông tin định danh chung: id, fullName.</a:t>
            </a:r>
          </a:p>
        </p:txBody>
      </p:sp>
      <p:sp>
        <p:nvSpPr>
          <p:cNvPr id="21" name="Rectangle 20">
            <a:extLst>
              <a:ext uri="{FF2B5EF4-FFF2-40B4-BE49-F238E27FC236}">
                <a16:creationId xmlns:a16="http://schemas.microsoft.com/office/drawing/2014/main" id="{48ED41DE-9F99-4B94-9502-68B64F5DB2CD}"/>
              </a:ext>
            </a:extLst>
          </p:cNvPr>
          <p:cNvSpPr>
            <a:spLocks noGrp="1"/>
          </p:cNvSpPr>
          <p:nvPr/>
        </p:nvSpPr>
        <p:spPr>
          <a:xfrm>
            <a:off x="6191250" y="4048125"/>
            <a:ext cx="190500" cy="228600"/>
          </a:xfrm>
          <a:prstGeom prst="rect">
            <a:avLst/>
          </a:prstGeom>
          <a:noFill/>
          <a:ln w="0">
            <a:noFill/>
            <a:prstDash val="solid"/>
          </a:ln>
        </p:spPr>
        <p:txBody>
          <a:bodyPr/>
          <a:lstStyle/>
          <a:p>
            <a:pPr algn="l">
              <a:defRPr sz="1650" b="1">
                <a:solidFill>
                  <a:srgbClr val="0B5FFF"/>
                </a:solidFill>
              </a:defRPr>
            </a:pPr>
            <a:r>
              <a:rPr sz="1650" b="1">
                <a:solidFill>
                  <a:srgbClr val="0B5FFF"/>
                </a:solidFill>
              </a:rPr>
              <a:t>•</a:t>
            </a:r>
          </a:p>
        </p:txBody>
      </p:sp>
      <p:sp>
        <p:nvSpPr>
          <p:cNvPr id="22" name="Rectangle 21">
            <a:extLst>
              <a:ext uri="{FF2B5EF4-FFF2-40B4-BE49-F238E27FC236}">
                <a16:creationId xmlns:a16="http://schemas.microsoft.com/office/drawing/2014/main" id="{538C0890-AF1B-412E-B74B-FAE8028923CF}"/>
              </a:ext>
            </a:extLst>
          </p:cNvPr>
          <p:cNvSpPr>
            <a:spLocks noGrp="1"/>
          </p:cNvSpPr>
          <p:nvPr/>
        </p:nvSpPr>
        <p:spPr>
          <a:xfrm>
            <a:off x="6438900" y="4057650"/>
            <a:ext cx="4514850" cy="419100"/>
          </a:xfrm>
          <a:prstGeom prst="rect">
            <a:avLst/>
          </a:prstGeom>
          <a:noFill/>
          <a:ln w="0">
            <a:noFill/>
            <a:prstDash val="solid"/>
          </a:ln>
        </p:spPr>
        <p:txBody>
          <a:bodyPr/>
          <a:lstStyle/>
          <a:p>
            <a:pPr algn="l">
              <a:defRPr sz="1350" b="0">
                <a:solidFill>
                  <a:srgbClr val="0F172A"/>
                </a:solidFill>
              </a:defRPr>
            </a:pPr>
            <a:r>
              <a:rPr sz="1350" b="0">
                <a:solidFill>
                  <a:srgbClr val="0F172A"/>
                </a:solidFill>
              </a:rPr>
              <a:t>`Student` và `Lecturer` chỉ bổ sung phần riêng, không lặp lại field chung.</a:t>
            </a:r>
          </a:p>
        </p:txBody>
      </p:sp>
      <p:sp>
        <p:nvSpPr>
          <p:cNvPr id="23" name="Rectangle 22">
            <a:extLst>
              <a:ext uri="{FF2B5EF4-FFF2-40B4-BE49-F238E27FC236}">
                <a16:creationId xmlns:a16="http://schemas.microsoft.com/office/drawing/2014/main" id="{85D8B1FB-A053-4EC3-A12C-1AB25227AD4C}"/>
              </a:ext>
            </a:extLst>
          </p:cNvPr>
          <p:cNvSpPr>
            <a:spLocks noGrp="1"/>
          </p:cNvSpPr>
          <p:nvPr/>
        </p:nvSpPr>
        <p:spPr>
          <a:xfrm>
            <a:off x="876300" y="5219700"/>
            <a:ext cx="10191750" cy="495300"/>
          </a:xfrm>
          <a:prstGeom prst="rect">
            <a:avLst/>
          </a:prstGeom>
          <a:noFill/>
          <a:ln w="0">
            <a:noFill/>
            <a:prstDash val="solid"/>
          </a:ln>
        </p:spPr>
        <p:txBody>
          <a:bodyPr/>
          <a:lstStyle/>
          <a:p>
            <a:pPr algn="ctr">
              <a:defRPr sz="1575" b="1">
                <a:solidFill>
                  <a:srgbClr val="0B2A6F"/>
                </a:solidFill>
              </a:defRPr>
            </a:pPr>
            <a:r>
              <a:rPr sz="1575" b="1">
                <a:solidFill>
                  <a:srgbClr val="0B2A6F"/>
                </a:solidFill>
              </a:rPr>
              <a:t>Thiết kế này giúp mở rộng thêm vai trò mới mà không phá cấu trúc người dùng hiện có.</a:t>
            </a:r>
          </a:p>
        </p:txBody>
      </p:sp>
    </p:spTree>
    <p:extLst>
      <p:ext uri="{BB962C8B-B14F-4D97-AF65-F5344CB8AC3E}">
        <p14:creationId xmlns:p14="http://schemas.microsoft.com/office/powerpoint/2010/main" val="223154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A916AEA-6534-4258-8F38-6593F8283255}"/>
              </a:ext>
            </a:extLst>
          </p:cNvPr>
          <p:cNvSpPr>
            <a:spLocks noGrp="1"/>
          </p:cNvSpPr>
          <p:nvPr/>
        </p:nvSpPr>
        <p:spPr>
          <a:xfrm>
            <a:off x="0" y="0"/>
            <a:ext cx="12192000" cy="6858000"/>
          </a:xfrm>
          <a:prstGeom prst="rect">
            <a:avLst/>
          </a:prstGeom>
          <a:solidFill>
            <a:srgbClr val="F8FBFF"/>
          </a:solidFill>
          <a:ln w="0">
            <a:noFill/>
            <a:prstDash val="solid"/>
          </a:ln>
        </p:spPr>
      </p:sp>
      <p:sp>
        <p:nvSpPr>
          <p:cNvPr id="2" name="Rectangle 1">
            <a:extLst>
              <a:ext uri="{FF2B5EF4-FFF2-40B4-BE49-F238E27FC236}">
                <a16:creationId xmlns:a16="http://schemas.microsoft.com/office/drawing/2014/main" id="{50734D62-6B0C-4BBD-9139-1650779E9E07}"/>
              </a:ext>
            </a:extLst>
          </p:cNvPr>
          <p:cNvSpPr>
            <a:spLocks noGrp="1"/>
          </p:cNvSpPr>
          <p:nvPr/>
        </p:nvSpPr>
        <p:spPr>
          <a:xfrm>
            <a:off x="609600" y="323850"/>
            <a:ext cx="7239000" cy="266700"/>
          </a:xfrm>
          <a:prstGeom prst="rect">
            <a:avLst/>
          </a:prstGeom>
          <a:noFill/>
          <a:ln w="0">
            <a:noFill/>
            <a:prstDash val="solid"/>
          </a:ln>
        </p:spPr>
        <p:txBody>
          <a:bodyPr/>
          <a:lstStyle/>
          <a:p>
            <a:pPr algn="l">
              <a:defRPr sz="1050" b="1">
                <a:solidFill>
                  <a:srgbClr val="0B5FFF"/>
                </a:solidFill>
              </a:defRPr>
            </a:pPr>
            <a:r>
              <a:rPr sz="1050" b="1">
                <a:solidFill>
                  <a:srgbClr val="0B5FFF"/>
                </a:solidFill>
              </a:rPr>
              <a:t>THIẾT KẾ OOP | Minh chứng từ source</a:t>
            </a:r>
          </a:p>
        </p:txBody>
      </p:sp>
      <p:sp>
        <p:nvSpPr>
          <p:cNvPr id="3" name="Rectangle 2">
            <a:extLst>
              <a:ext uri="{FF2B5EF4-FFF2-40B4-BE49-F238E27FC236}">
                <a16:creationId xmlns:a16="http://schemas.microsoft.com/office/drawing/2014/main" id="{7A03DBB2-8CFD-45B0-A127-520E08B6EDA4}"/>
              </a:ext>
            </a:extLst>
          </p:cNvPr>
          <p:cNvSpPr>
            <a:spLocks noGrp="1"/>
          </p:cNvSpPr>
          <p:nvPr/>
        </p:nvSpPr>
        <p:spPr>
          <a:xfrm>
            <a:off x="609600" y="628650"/>
            <a:ext cx="10096500" cy="533400"/>
          </a:xfrm>
          <a:prstGeom prst="rect">
            <a:avLst/>
          </a:prstGeom>
          <a:noFill/>
          <a:ln w="0">
            <a:noFill/>
            <a:prstDash val="solid"/>
          </a:ln>
        </p:spPr>
        <p:txBody>
          <a:bodyPr/>
          <a:lstStyle/>
          <a:p>
            <a:pPr algn="l">
              <a:defRPr sz="2550" b="1">
                <a:solidFill>
                  <a:srgbClr val="0F172A"/>
                </a:solidFill>
              </a:defRPr>
            </a:pPr>
            <a:r>
              <a:rPr sz="2550" b="1">
                <a:solidFill>
                  <a:srgbClr val="0F172A"/>
                </a:solidFill>
              </a:rPr>
              <a:t>Abstraction và Interface</a:t>
            </a:r>
          </a:p>
        </p:txBody>
      </p:sp>
      <p:sp>
        <p:nvSpPr>
          <p:cNvPr id="4" name="Straight Connector 3">
            <a:extLst>
              <a:ext uri="{FF2B5EF4-FFF2-40B4-BE49-F238E27FC236}">
                <a16:creationId xmlns:a16="http://schemas.microsoft.com/office/drawing/2014/main" id="{92BB41F9-BC85-4516-90B8-27629BF851A2}"/>
              </a:ext>
            </a:extLst>
          </p:cNvPr>
          <p:cNvSpPr>
            <a:spLocks noGrp="1"/>
          </p:cNvSpPr>
          <p:nvPr/>
        </p:nvSpPr>
        <p:spPr>
          <a:xfrm>
            <a:off x="609600" y="1257300"/>
            <a:ext cx="10972800" cy="0"/>
          </a:xfrm>
          <a:prstGeom prst="line">
            <a:avLst/>
          </a:prstGeom>
          <a:noFill/>
          <a:ln w="9525">
            <a:solidFill>
              <a:srgbClr val="DDE7F3"/>
            </a:solidFill>
            <a:prstDash val="solid"/>
          </a:ln>
        </p:spPr>
      </p:sp>
      <p:sp>
        <p:nvSpPr>
          <p:cNvPr id="5" name="Rectangle 4">
            <a:extLst>
              <a:ext uri="{FF2B5EF4-FFF2-40B4-BE49-F238E27FC236}">
                <a16:creationId xmlns:a16="http://schemas.microsoft.com/office/drawing/2014/main" id="{1EC33B4C-8E1B-4030-AC1C-EFD11A5B8F92}"/>
              </a:ext>
            </a:extLst>
          </p:cNvPr>
          <p:cNvSpPr>
            <a:spLocks noGrp="1"/>
          </p:cNvSpPr>
          <p:nvPr/>
        </p:nvSpPr>
        <p:spPr>
          <a:xfrm>
            <a:off x="609600" y="6457950"/>
            <a:ext cx="4953000" cy="209550"/>
          </a:xfrm>
          <a:prstGeom prst="rect">
            <a:avLst/>
          </a:prstGeom>
          <a:noFill/>
          <a:ln w="0">
            <a:noFill/>
            <a:prstDash val="solid"/>
          </a:ln>
        </p:spPr>
        <p:txBody>
          <a:bodyPr/>
          <a:lstStyle/>
          <a:p>
            <a:pPr algn="l">
              <a:defRPr sz="900" b="0">
                <a:solidFill>
                  <a:srgbClr val="94A3B8"/>
                </a:solidFill>
              </a:defRPr>
            </a:pPr>
            <a:r>
              <a:rPr sz="900" b="0">
                <a:solidFill>
                  <a:srgbClr val="94A3B8"/>
                </a:solidFill>
              </a:rPr>
              <a:t>Nhóm 2 - Phenikaa University</a:t>
            </a:r>
          </a:p>
        </p:txBody>
      </p:sp>
      <p:sp>
        <p:nvSpPr>
          <p:cNvPr id="6" name="Rectangle 5">
            <a:extLst>
              <a:ext uri="{FF2B5EF4-FFF2-40B4-BE49-F238E27FC236}">
                <a16:creationId xmlns:a16="http://schemas.microsoft.com/office/drawing/2014/main" id="{739CD1A8-CAF4-49D3-B727-400EF46E8C7A}"/>
              </a:ext>
            </a:extLst>
          </p:cNvPr>
          <p:cNvSpPr>
            <a:spLocks noGrp="1"/>
          </p:cNvSpPr>
          <p:nvPr/>
        </p:nvSpPr>
        <p:spPr>
          <a:xfrm>
            <a:off x="10382250" y="6457950"/>
            <a:ext cx="1200150" cy="209550"/>
          </a:xfrm>
          <a:prstGeom prst="rect">
            <a:avLst/>
          </a:prstGeom>
          <a:noFill/>
          <a:ln w="0">
            <a:noFill/>
            <a:prstDash val="solid"/>
          </a:ln>
        </p:spPr>
        <p:txBody>
          <a:bodyPr/>
          <a:lstStyle/>
          <a:p>
            <a:pPr algn="r">
              <a:defRPr sz="900" b="0">
                <a:solidFill>
                  <a:srgbClr val="94A3B8"/>
                </a:solidFill>
              </a:defRPr>
            </a:pPr>
            <a:r>
              <a:rPr sz="900" b="0">
                <a:solidFill>
                  <a:srgbClr val="94A3B8"/>
                </a:solidFill>
              </a:rPr>
              <a:t>06B</a:t>
            </a:r>
          </a:p>
        </p:txBody>
      </p:sp>
      <p:sp>
        <p:nvSpPr>
          <p:cNvPr id="7" name="Rectangle: Rounded Corners 6">
            <a:extLst>
              <a:ext uri="{FF2B5EF4-FFF2-40B4-BE49-F238E27FC236}">
                <a16:creationId xmlns:a16="http://schemas.microsoft.com/office/drawing/2014/main" id="{B1A61C96-5788-4B8E-ADB1-9573898C045E}"/>
              </a:ext>
            </a:extLst>
          </p:cNvPr>
          <p:cNvSpPr>
            <a:spLocks noGrp="1"/>
          </p:cNvSpPr>
          <p:nvPr/>
        </p:nvSpPr>
        <p:spPr>
          <a:xfrm>
            <a:off x="666750" y="1485900"/>
            <a:ext cx="4953000" cy="1714500"/>
          </a:xfrm>
          <a:prstGeom prst="roundRect">
            <a:avLst>
              <a:gd name="adj" fmla="val 6667"/>
            </a:avLst>
          </a:prstGeom>
          <a:solidFill>
            <a:srgbClr val="0B1220"/>
          </a:solidFill>
          <a:ln w="9525">
            <a:solidFill>
              <a:srgbClr val="0B1220"/>
            </a:solidFill>
            <a:prstDash val="solid"/>
          </a:ln>
        </p:spPr>
      </p:sp>
      <p:sp>
        <p:nvSpPr>
          <p:cNvPr id="8" name="Rectangle 7">
            <a:extLst>
              <a:ext uri="{FF2B5EF4-FFF2-40B4-BE49-F238E27FC236}">
                <a16:creationId xmlns:a16="http://schemas.microsoft.com/office/drawing/2014/main" id="{6323F39F-BA9A-4D90-BEB3-3CF6BA503A38}"/>
              </a:ext>
            </a:extLst>
          </p:cNvPr>
          <p:cNvSpPr>
            <a:spLocks noGrp="1"/>
          </p:cNvSpPr>
          <p:nvPr/>
        </p:nvSpPr>
        <p:spPr>
          <a:xfrm>
            <a:off x="838200" y="1638300"/>
            <a:ext cx="4610100" cy="1447800"/>
          </a:xfrm>
          <a:prstGeom prst="rect">
            <a:avLst/>
          </a:prstGeom>
          <a:noFill/>
          <a:ln w="0">
            <a:noFill/>
            <a:prstDash val="solid"/>
          </a:ln>
        </p:spPr>
        <p:txBody>
          <a:bodyPr/>
          <a:lstStyle/>
          <a:p>
            <a:pPr algn="l">
              <a:defRPr sz="1050" b="0">
                <a:solidFill>
                  <a:srgbClr val="E2E8F0"/>
                </a:solidFill>
              </a:defRPr>
            </a:pPr>
            <a:r>
              <a:rPr sz="1050" b="0">
                <a:solidFill>
                  <a:srgbClr val="E2E8F0"/>
                </a:solidFill>
              </a:rPr>
              <a:t>public interface CourseValidator {</a:t>
            </a:r>
          </a:p>
          <a:p>
            <a:pPr algn="l">
              <a:defRPr sz="1050" b="0">
                <a:solidFill>
                  <a:srgbClr val="E2E8F0"/>
                </a:solidFill>
              </a:defRPr>
            </a:pPr>
            <a:r>
              <a:rPr sz="1050" b="0">
                <a:solidFill>
                  <a:srgbClr val="E2E8F0"/>
                </a:solidFill>
              </a:rPr>
              <a:t>    void validate(RegistrationValidationContext context);</a:t>
            </a:r>
          </a:p>
          <a:p>
            <a:pPr algn="l">
              <a:defRPr sz="1050" b="0">
                <a:solidFill>
                  <a:srgbClr val="E2E8F0"/>
                </a:solidFill>
              </a:defRPr>
            </a:pPr>
            <a:r>
              <a:rPr sz="1050" b="0">
                <a:solidFill>
                  <a:srgbClr val="E2E8F0"/>
                </a:solidFill>
              </a:rPr>
              <a:t>}</a:t>
            </a:r>
          </a:p>
          <a:p>
            <a:endParaRPr sz="1050" b="0">
              <a:solidFill>
                <a:srgbClr val="E2E8F0"/>
              </a:solidFill>
            </a:endParaRPr>
          </a:p>
          <a:p>
            <a:pPr algn="l">
              <a:defRPr sz="1050" b="0">
                <a:solidFill>
                  <a:srgbClr val="E2E8F0"/>
                </a:solidFill>
              </a:defRPr>
            </a:pPr>
            <a:r>
              <a:rPr sz="1050" b="0">
                <a:solidFill>
                  <a:srgbClr val="E2E8F0"/>
                </a:solidFill>
              </a:rPr>
              <a:t>public interface Registrable {</a:t>
            </a:r>
          </a:p>
          <a:p>
            <a:pPr algn="l">
              <a:defRPr sz="1050" b="0">
                <a:solidFill>
                  <a:srgbClr val="E2E8F0"/>
                </a:solidFill>
              </a:defRPr>
            </a:pPr>
            <a:r>
              <a:rPr sz="1050" b="0">
                <a:solidFill>
                  <a:srgbClr val="E2E8F0"/>
                </a:solidFill>
              </a:rPr>
              <a:t>    void register(String studentId, String courseId);</a:t>
            </a:r>
          </a:p>
          <a:p>
            <a:pPr algn="l">
              <a:defRPr sz="1050" b="0">
                <a:solidFill>
                  <a:srgbClr val="E2E8F0"/>
                </a:solidFill>
              </a:defRPr>
            </a:pPr>
            <a:r>
              <a:rPr sz="1050" b="0">
                <a:solidFill>
                  <a:srgbClr val="E2E8F0"/>
                </a:solidFill>
              </a:rPr>
              <a:t>}</a:t>
            </a:r>
          </a:p>
        </p:txBody>
      </p:sp>
      <p:sp>
        <p:nvSpPr>
          <p:cNvPr id="9" name="Rectangle: Rounded Corners 8">
            <a:extLst>
              <a:ext uri="{FF2B5EF4-FFF2-40B4-BE49-F238E27FC236}">
                <a16:creationId xmlns:a16="http://schemas.microsoft.com/office/drawing/2014/main" id="{1E507D70-853A-4E38-959C-CDC9BAFB917B}"/>
              </a:ext>
            </a:extLst>
          </p:cNvPr>
          <p:cNvSpPr>
            <a:spLocks noGrp="1"/>
          </p:cNvSpPr>
          <p:nvPr/>
        </p:nvSpPr>
        <p:spPr>
          <a:xfrm>
            <a:off x="666750" y="3467100"/>
            <a:ext cx="4953000" cy="1866900"/>
          </a:xfrm>
          <a:prstGeom prst="roundRect">
            <a:avLst>
              <a:gd name="adj" fmla="val 6122"/>
            </a:avLst>
          </a:prstGeom>
          <a:solidFill>
            <a:srgbClr val="0B1220"/>
          </a:solidFill>
          <a:ln w="9525">
            <a:solidFill>
              <a:srgbClr val="0B1220"/>
            </a:solidFill>
            <a:prstDash val="solid"/>
          </a:ln>
        </p:spPr>
      </p:sp>
      <p:sp>
        <p:nvSpPr>
          <p:cNvPr id="10" name="Rectangle 9">
            <a:extLst>
              <a:ext uri="{FF2B5EF4-FFF2-40B4-BE49-F238E27FC236}">
                <a16:creationId xmlns:a16="http://schemas.microsoft.com/office/drawing/2014/main" id="{A38B890C-B90D-442A-B2A7-DBED06CDF903}"/>
              </a:ext>
            </a:extLst>
          </p:cNvPr>
          <p:cNvSpPr>
            <a:spLocks noGrp="1"/>
          </p:cNvSpPr>
          <p:nvPr/>
        </p:nvSpPr>
        <p:spPr>
          <a:xfrm>
            <a:off x="838200" y="3619500"/>
            <a:ext cx="4610100" cy="1600200"/>
          </a:xfrm>
          <a:prstGeom prst="rect">
            <a:avLst/>
          </a:prstGeom>
          <a:noFill/>
          <a:ln w="0">
            <a:noFill/>
            <a:prstDash val="solid"/>
          </a:ln>
        </p:spPr>
        <p:txBody>
          <a:bodyPr/>
          <a:lstStyle/>
          <a:p>
            <a:pPr algn="l">
              <a:defRPr sz="1050" b="0">
                <a:solidFill>
                  <a:srgbClr val="E2E8F0"/>
                </a:solidFill>
              </a:defRPr>
            </a:pPr>
            <a:r>
              <a:rPr sz="1050" b="0">
                <a:solidFill>
                  <a:srgbClr val="E2E8F0"/>
                </a:solidFill>
              </a:rPr>
              <a:t>public class RegistrationService implements Registrable {</a:t>
            </a:r>
          </a:p>
          <a:p>
            <a:pPr algn="l">
              <a:defRPr sz="1050" b="0">
                <a:solidFill>
                  <a:srgbClr val="E2E8F0"/>
                </a:solidFill>
              </a:defRPr>
            </a:pPr>
            <a:r>
              <a:rPr sz="1050" b="0">
                <a:solidFill>
                  <a:srgbClr val="E2E8F0"/>
                </a:solidFill>
              </a:rPr>
              <a:t>    private final List&lt;CourseValidator&gt; validators;</a:t>
            </a:r>
          </a:p>
          <a:p>
            <a:endParaRPr sz="1050" b="0">
              <a:solidFill>
                <a:srgbClr val="E2E8F0"/>
              </a:solidFill>
            </a:endParaRPr>
          </a:p>
          <a:p>
            <a:pPr algn="l">
              <a:defRPr sz="1050" b="0">
                <a:solidFill>
                  <a:srgbClr val="E2E8F0"/>
                </a:solidFill>
              </a:defRPr>
            </a:pPr>
            <a:r>
              <a:rPr sz="1050" b="0">
                <a:solidFill>
                  <a:srgbClr val="E2E8F0"/>
                </a:solidFill>
              </a:rPr>
              <a:t>    @Override</a:t>
            </a:r>
          </a:p>
          <a:p>
            <a:pPr algn="l">
              <a:defRPr sz="1050" b="0">
                <a:solidFill>
                  <a:srgbClr val="E2E8F0"/>
                </a:solidFill>
              </a:defRPr>
            </a:pPr>
            <a:r>
              <a:rPr sz="1050" b="0">
                <a:solidFill>
                  <a:srgbClr val="E2E8F0"/>
                </a:solidFill>
              </a:rPr>
              <a:t>    public void register(String studentId, String courseId) {</a:t>
            </a:r>
          </a:p>
          <a:p>
            <a:pPr algn="l">
              <a:defRPr sz="1050" b="0">
                <a:solidFill>
                  <a:srgbClr val="E2E8F0"/>
                </a:solidFill>
              </a:defRPr>
            </a:pPr>
            <a:r>
              <a:rPr sz="1050" b="0">
                <a:solidFill>
                  <a:srgbClr val="E2E8F0"/>
                </a:solidFill>
              </a:rPr>
              <a:t>        registerCourse(studentId, courseId);</a:t>
            </a:r>
          </a:p>
          <a:p>
            <a:pPr algn="l">
              <a:defRPr sz="1050" b="0">
                <a:solidFill>
                  <a:srgbClr val="E2E8F0"/>
                </a:solidFill>
              </a:defRPr>
            </a:pPr>
            <a:r>
              <a:rPr sz="1050" b="0">
                <a:solidFill>
                  <a:srgbClr val="E2E8F0"/>
                </a:solidFill>
              </a:rPr>
              <a:t>    }</a:t>
            </a:r>
          </a:p>
          <a:p>
            <a:pPr algn="l">
              <a:defRPr sz="1050" b="0">
                <a:solidFill>
                  <a:srgbClr val="E2E8F0"/>
                </a:solidFill>
              </a:defRPr>
            </a:pPr>
            <a:r>
              <a:rPr sz="1050" b="0">
                <a:solidFill>
                  <a:srgbClr val="E2E8F0"/>
                </a:solidFill>
              </a:rPr>
              <a:t>}</a:t>
            </a:r>
          </a:p>
        </p:txBody>
      </p:sp>
      <p:sp>
        <p:nvSpPr>
          <p:cNvPr id="11" name="Rectangle: Rounded Corners 10">
            <a:extLst>
              <a:ext uri="{FF2B5EF4-FFF2-40B4-BE49-F238E27FC236}">
                <a16:creationId xmlns:a16="http://schemas.microsoft.com/office/drawing/2014/main" id="{8017626C-7173-4197-91F2-54C058A1ABA5}"/>
              </a:ext>
            </a:extLst>
          </p:cNvPr>
          <p:cNvSpPr>
            <a:spLocks noGrp="1"/>
          </p:cNvSpPr>
          <p:nvPr/>
        </p:nvSpPr>
        <p:spPr>
          <a:xfrm>
            <a:off x="6191250" y="1504950"/>
            <a:ext cx="4762500" cy="1257300"/>
          </a:xfrm>
          <a:prstGeom prst="roundRect">
            <a:avLst>
              <a:gd name="adj" fmla="val 9091"/>
            </a:avLst>
          </a:prstGeom>
          <a:solidFill>
            <a:srgbClr val="FFFFFF"/>
          </a:solidFill>
          <a:ln w="9525">
            <a:solidFill>
              <a:srgbClr val="DDE7F3"/>
            </a:solidFill>
            <a:prstDash val="solid"/>
          </a:ln>
        </p:spPr>
      </p:sp>
      <p:sp>
        <p:nvSpPr>
          <p:cNvPr id="12" name="Rectangle 11">
            <a:extLst>
              <a:ext uri="{FF2B5EF4-FFF2-40B4-BE49-F238E27FC236}">
                <a16:creationId xmlns:a16="http://schemas.microsoft.com/office/drawing/2014/main" id="{C97593AC-68CC-49E4-A1E8-14AAB9729294}"/>
              </a:ext>
            </a:extLst>
          </p:cNvPr>
          <p:cNvSpPr>
            <a:spLocks noGrp="1"/>
          </p:cNvSpPr>
          <p:nvPr/>
        </p:nvSpPr>
        <p:spPr>
          <a:xfrm>
            <a:off x="6191250" y="1504950"/>
            <a:ext cx="66675" cy="1257300"/>
          </a:xfrm>
          <a:prstGeom prst="rect">
            <a:avLst/>
          </a:prstGeom>
          <a:solidFill>
            <a:srgbClr val="0B5FFF"/>
          </a:solidFill>
          <a:ln w="9525">
            <a:solidFill>
              <a:srgbClr val="0B5FFF"/>
            </a:solidFill>
            <a:prstDash val="solid"/>
          </a:ln>
        </p:spPr>
      </p:sp>
      <p:sp>
        <p:nvSpPr>
          <p:cNvPr id="13" name="Rectangle 12">
            <a:extLst>
              <a:ext uri="{FF2B5EF4-FFF2-40B4-BE49-F238E27FC236}">
                <a16:creationId xmlns:a16="http://schemas.microsoft.com/office/drawing/2014/main" id="{64021108-38CA-4DF4-8FD0-EA14DAC6A0C7}"/>
              </a:ext>
            </a:extLst>
          </p:cNvPr>
          <p:cNvSpPr>
            <a:spLocks noGrp="1"/>
          </p:cNvSpPr>
          <p:nvPr/>
        </p:nvSpPr>
        <p:spPr>
          <a:xfrm>
            <a:off x="6419850" y="1676400"/>
            <a:ext cx="43053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Interface là hợp đồng</a:t>
            </a:r>
          </a:p>
        </p:txBody>
      </p:sp>
      <p:sp>
        <p:nvSpPr>
          <p:cNvPr id="14" name="Rectangle 13">
            <a:extLst>
              <a:ext uri="{FF2B5EF4-FFF2-40B4-BE49-F238E27FC236}">
                <a16:creationId xmlns:a16="http://schemas.microsoft.com/office/drawing/2014/main" id="{90514597-4625-4663-94BF-7935F10F6FA4}"/>
              </a:ext>
            </a:extLst>
          </p:cNvPr>
          <p:cNvSpPr>
            <a:spLocks noGrp="1"/>
          </p:cNvSpPr>
          <p:nvPr/>
        </p:nvSpPr>
        <p:spPr>
          <a:xfrm>
            <a:off x="6419850" y="2019300"/>
            <a:ext cx="4305300" cy="590550"/>
          </a:xfrm>
          <a:prstGeom prst="rect">
            <a:avLst/>
          </a:prstGeom>
          <a:noFill/>
          <a:ln w="0">
            <a:noFill/>
            <a:prstDash val="solid"/>
          </a:ln>
        </p:spPr>
        <p:txBody>
          <a:bodyPr/>
          <a:lstStyle/>
          <a:p>
            <a:pPr algn="l">
              <a:defRPr sz="1200" b="0">
                <a:solidFill>
                  <a:srgbClr val="64748B"/>
                </a:solidFill>
              </a:defRPr>
            </a:pPr>
            <a:r>
              <a:rPr sz="1200" b="0">
                <a:solidFill>
                  <a:srgbClr val="64748B"/>
                </a:solidFill>
              </a:rPr>
              <a:t>CourseValidator không quyết định rule cụ thể là gì. Nó chỉ khóa phương thức validate(context), để các validator khác nhau cùng tuân theo một contract.</a:t>
            </a:r>
          </a:p>
        </p:txBody>
      </p:sp>
      <p:sp>
        <p:nvSpPr>
          <p:cNvPr id="15" name="Rectangle: Rounded Corners 14">
            <a:extLst>
              <a:ext uri="{FF2B5EF4-FFF2-40B4-BE49-F238E27FC236}">
                <a16:creationId xmlns:a16="http://schemas.microsoft.com/office/drawing/2014/main" id="{9A42E92B-3635-4BF7-8CC9-4071A0D7C4E2}"/>
              </a:ext>
            </a:extLst>
          </p:cNvPr>
          <p:cNvSpPr>
            <a:spLocks noGrp="1"/>
          </p:cNvSpPr>
          <p:nvPr/>
        </p:nvSpPr>
        <p:spPr>
          <a:xfrm>
            <a:off x="6191250" y="3009900"/>
            <a:ext cx="4762500" cy="1257300"/>
          </a:xfrm>
          <a:prstGeom prst="roundRect">
            <a:avLst>
              <a:gd name="adj" fmla="val 9091"/>
            </a:avLst>
          </a:prstGeom>
          <a:solidFill>
            <a:srgbClr val="FFFFFF"/>
          </a:solidFill>
          <a:ln w="9525">
            <a:solidFill>
              <a:srgbClr val="DDE7F3"/>
            </a:solidFill>
            <a:prstDash val="solid"/>
          </a:ln>
        </p:spPr>
      </p:sp>
      <p:sp>
        <p:nvSpPr>
          <p:cNvPr id="16" name="Rectangle 15">
            <a:extLst>
              <a:ext uri="{FF2B5EF4-FFF2-40B4-BE49-F238E27FC236}">
                <a16:creationId xmlns:a16="http://schemas.microsoft.com/office/drawing/2014/main" id="{5C161571-2976-45A8-8E22-32FCB41FE9CB}"/>
              </a:ext>
            </a:extLst>
          </p:cNvPr>
          <p:cNvSpPr>
            <a:spLocks noGrp="1"/>
          </p:cNvSpPr>
          <p:nvPr/>
        </p:nvSpPr>
        <p:spPr>
          <a:xfrm>
            <a:off x="6191250" y="3009900"/>
            <a:ext cx="66675" cy="1257300"/>
          </a:xfrm>
          <a:prstGeom prst="rect">
            <a:avLst/>
          </a:prstGeom>
          <a:solidFill>
            <a:srgbClr val="16A34A"/>
          </a:solidFill>
          <a:ln w="9525">
            <a:solidFill>
              <a:srgbClr val="16A34A"/>
            </a:solidFill>
            <a:prstDash val="solid"/>
          </a:ln>
        </p:spPr>
      </p:sp>
      <p:sp>
        <p:nvSpPr>
          <p:cNvPr id="17" name="Rectangle 16">
            <a:extLst>
              <a:ext uri="{FF2B5EF4-FFF2-40B4-BE49-F238E27FC236}">
                <a16:creationId xmlns:a16="http://schemas.microsoft.com/office/drawing/2014/main" id="{0E48A7FB-BFCC-4E8F-87DB-CA89CC03858D}"/>
              </a:ext>
            </a:extLst>
          </p:cNvPr>
          <p:cNvSpPr>
            <a:spLocks noGrp="1"/>
          </p:cNvSpPr>
          <p:nvPr/>
        </p:nvSpPr>
        <p:spPr>
          <a:xfrm>
            <a:off x="6419850" y="3181350"/>
            <a:ext cx="43053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Abstraction trong service</a:t>
            </a:r>
          </a:p>
        </p:txBody>
      </p:sp>
      <p:sp>
        <p:nvSpPr>
          <p:cNvPr id="18" name="Rectangle 17">
            <a:extLst>
              <a:ext uri="{FF2B5EF4-FFF2-40B4-BE49-F238E27FC236}">
                <a16:creationId xmlns:a16="http://schemas.microsoft.com/office/drawing/2014/main" id="{F4EEEBFD-31B0-4FD3-B671-E9CAC6ECD9C0}"/>
              </a:ext>
            </a:extLst>
          </p:cNvPr>
          <p:cNvSpPr>
            <a:spLocks noGrp="1"/>
          </p:cNvSpPr>
          <p:nvPr/>
        </p:nvSpPr>
        <p:spPr>
          <a:xfrm>
            <a:off x="6419850" y="3524250"/>
            <a:ext cx="4305300" cy="590550"/>
          </a:xfrm>
          <a:prstGeom prst="rect">
            <a:avLst/>
          </a:prstGeom>
          <a:noFill/>
          <a:ln w="0">
            <a:noFill/>
            <a:prstDash val="solid"/>
          </a:ln>
        </p:spPr>
        <p:txBody>
          <a:bodyPr/>
          <a:lstStyle/>
          <a:p>
            <a:pPr algn="l">
              <a:defRPr sz="1200" b="0">
                <a:solidFill>
                  <a:srgbClr val="64748B"/>
                </a:solidFill>
              </a:defRPr>
            </a:pPr>
            <a:r>
              <a:rPr sz="1200" b="0">
                <a:solidFill>
                  <a:srgbClr val="64748B"/>
                </a:solidFill>
              </a:rPr>
              <a:t>RegistrationService gọi contract Registrable và CourseValidator, nhờ đó nghiệp vụ đăng ký phụ thuộc vào hành vi trừu tượng thay vì class cụ thể.</a:t>
            </a:r>
          </a:p>
        </p:txBody>
      </p:sp>
      <p:sp>
        <p:nvSpPr>
          <p:cNvPr id="19" name="Rectangle: Rounded Corners 18">
            <a:extLst>
              <a:ext uri="{FF2B5EF4-FFF2-40B4-BE49-F238E27FC236}">
                <a16:creationId xmlns:a16="http://schemas.microsoft.com/office/drawing/2014/main" id="{7412EF3B-35A2-4024-9E8B-C5F9ABF6E27C}"/>
              </a:ext>
            </a:extLst>
          </p:cNvPr>
          <p:cNvSpPr>
            <a:spLocks noGrp="1"/>
          </p:cNvSpPr>
          <p:nvPr/>
        </p:nvSpPr>
        <p:spPr>
          <a:xfrm>
            <a:off x="6191250" y="4514850"/>
            <a:ext cx="4762500" cy="1066800"/>
          </a:xfrm>
          <a:prstGeom prst="roundRect">
            <a:avLst>
              <a:gd name="adj" fmla="val 10714"/>
            </a:avLst>
          </a:prstGeom>
          <a:solidFill>
            <a:srgbClr val="FFFFFF"/>
          </a:solidFill>
          <a:ln w="9525">
            <a:solidFill>
              <a:srgbClr val="DDE7F3"/>
            </a:solidFill>
            <a:prstDash val="solid"/>
          </a:ln>
        </p:spPr>
      </p:sp>
      <p:sp>
        <p:nvSpPr>
          <p:cNvPr id="20" name="Rectangle 19">
            <a:extLst>
              <a:ext uri="{FF2B5EF4-FFF2-40B4-BE49-F238E27FC236}">
                <a16:creationId xmlns:a16="http://schemas.microsoft.com/office/drawing/2014/main" id="{7E015906-AE08-4BA0-BCD3-F4AD31167F77}"/>
              </a:ext>
            </a:extLst>
          </p:cNvPr>
          <p:cNvSpPr>
            <a:spLocks noGrp="1"/>
          </p:cNvSpPr>
          <p:nvPr/>
        </p:nvSpPr>
        <p:spPr>
          <a:xfrm>
            <a:off x="6191250" y="4514850"/>
            <a:ext cx="66675" cy="1066800"/>
          </a:xfrm>
          <a:prstGeom prst="rect">
            <a:avLst/>
          </a:prstGeom>
          <a:solidFill>
            <a:srgbClr val="D97706"/>
          </a:solidFill>
          <a:ln w="9525">
            <a:solidFill>
              <a:srgbClr val="D97706"/>
            </a:solidFill>
            <a:prstDash val="solid"/>
          </a:ln>
        </p:spPr>
      </p:sp>
      <p:sp>
        <p:nvSpPr>
          <p:cNvPr id="21" name="Rectangle 20">
            <a:extLst>
              <a:ext uri="{FF2B5EF4-FFF2-40B4-BE49-F238E27FC236}">
                <a16:creationId xmlns:a16="http://schemas.microsoft.com/office/drawing/2014/main" id="{92A256E7-030B-4BB0-9040-BAD5D61C20FA}"/>
              </a:ext>
            </a:extLst>
          </p:cNvPr>
          <p:cNvSpPr>
            <a:spLocks noGrp="1"/>
          </p:cNvSpPr>
          <p:nvPr/>
        </p:nvSpPr>
        <p:spPr>
          <a:xfrm>
            <a:off x="6419850" y="4686300"/>
            <a:ext cx="43053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Tại sao cần cách này?</a:t>
            </a:r>
          </a:p>
        </p:txBody>
      </p:sp>
      <p:sp>
        <p:nvSpPr>
          <p:cNvPr id="22" name="Rectangle 21">
            <a:extLst>
              <a:ext uri="{FF2B5EF4-FFF2-40B4-BE49-F238E27FC236}">
                <a16:creationId xmlns:a16="http://schemas.microsoft.com/office/drawing/2014/main" id="{89DF8E11-B488-4484-9478-4C94030E5B9E}"/>
              </a:ext>
            </a:extLst>
          </p:cNvPr>
          <p:cNvSpPr>
            <a:spLocks noGrp="1"/>
          </p:cNvSpPr>
          <p:nvPr/>
        </p:nvSpPr>
        <p:spPr>
          <a:xfrm>
            <a:off x="6419850" y="5029200"/>
            <a:ext cx="4305300" cy="400050"/>
          </a:xfrm>
          <a:prstGeom prst="rect">
            <a:avLst/>
          </a:prstGeom>
          <a:noFill/>
          <a:ln w="0">
            <a:noFill/>
            <a:prstDash val="solid"/>
          </a:ln>
        </p:spPr>
        <p:txBody>
          <a:bodyPr/>
          <a:lstStyle/>
          <a:p>
            <a:pPr algn="l">
              <a:defRPr sz="1200" b="0">
                <a:solidFill>
                  <a:srgbClr val="64748B"/>
                </a:solidFill>
              </a:defRPr>
            </a:pPr>
            <a:r>
              <a:rPr sz="1200" b="0">
                <a:solidFill>
                  <a:srgbClr val="64748B"/>
                </a:solidFill>
              </a:rPr>
              <a:t>Bài toán đăng ký môn học có nhiều rule biến động. Interface giúp thêm, bớt hoặc thay rule mà không làm service phình to.</a:t>
            </a:r>
          </a:p>
        </p:txBody>
      </p:sp>
    </p:spTree>
    <p:extLst>
      <p:ext uri="{BB962C8B-B14F-4D97-AF65-F5344CB8AC3E}">
        <p14:creationId xmlns:p14="http://schemas.microsoft.com/office/powerpoint/2010/main" val="133356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D35FBC89-AAA2-4D93-B0FB-F24556AA6AD2}"/>
              </a:ext>
            </a:extLst>
          </p:cNvPr>
          <p:cNvSpPr>
            <a:spLocks noGrp="1"/>
          </p:cNvSpPr>
          <p:nvPr/>
        </p:nvSpPr>
        <p:spPr>
          <a:xfrm>
            <a:off x="0" y="0"/>
            <a:ext cx="12192000" cy="6858000"/>
          </a:xfrm>
          <a:prstGeom prst="rect">
            <a:avLst/>
          </a:prstGeom>
          <a:solidFill>
            <a:srgbClr val="F8FBFF"/>
          </a:solidFill>
          <a:ln w="0">
            <a:noFill/>
            <a:prstDash val="solid"/>
          </a:ln>
        </p:spPr>
      </p:sp>
      <p:sp>
        <p:nvSpPr>
          <p:cNvPr id="2" name="Rectangle 1">
            <a:extLst>
              <a:ext uri="{FF2B5EF4-FFF2-40B4-BE49-F238E27FC236}">
                <a16:creationId xmlns:a16="http://schemas.microsoft.com/office/drawing/2014/main" id="{ADE6F502-5F43-4331-A278-B8421DFFEC76}"/>
              </a:ext>
            </a:extLst>
          </p:cNvPr>
          <p:cNvSpPr>
            <a:spLocks noGrp="1"/>
          </p:cNvSpPr>
          <p:nvPr/>
        </p:nvSpPr>
        <p:spPr>
          <a:xfrm>
            <a:off x="609600" y="323850"/>
            <a:ext cx="7239000" cy="266700"/>
          </a:xfrm>
          <a:prstGeom prst="rect">
            <a:avLst/>
          </a:prstGeom>
          <a:noFill/>
          <a:ln w="0">
            <a:noFill/>
            <a:prstDash val="solid"/>
          </a:ln>
        </p:spPr>
        <p:txBody>
          <a:bodyPr/>
          <a:lstStyle/>
          <a:p>
            <a:pPr algn="l">
              <a:defRPr sz="1050" b="1">
                <a:solidFill>
                  <a:srgbClr val="0B5FFF"/>
                </a:solidFill>
              </a:defRPr>
            </a:pPr>
            <a:r>
              <a:rPr sz="1050" b="1">
                <a:solidFill>
                  <a:srgbClr val="0B5FFF"/>
                </a:solidFill>
              </a:rPr>
              <a:t>THIẾT KẾ OOP | Minh chứng từ source</a:t>
            </a:r>
          </a:p>
        </p:txBody>
      </p:sp>
      <p:sp>
        <p:nvSpPr>
          <p:cNvPr id="3" name="Rectangle 2">
            <a:extLst>
              <a:ext uri="{FF2B5EF4-FFF2-40B4-BE49-F238E27FC236}">
                <a16:creationId xmlns:a16="http://schemas.microsoft.com/office/drawing/2014/main" id="{A9FE4ED8-EA0C-47EF-B50D-0E2BC8C08FA6}"/>
              </a:ext>
            </a:extLst>
          </p:cNvPr>
          <p:cNvSpPr>
            <a:spLocks noGrp="1"/>
          </p:cNvSpPr>
          <p:nvPr/>
        </p:nvSpPr>
        <p:spPr>
          <a:xfrm>
            <a:off x="609600" y="628650"/>
            <a:ext cx="10096500" cy="533400"/>
          </a:xfrm>
          <a:prstGeom prst="rect">
            <a:avLst/>
          </a:prstGeom>
          <a:noFill/>
          <a:ln w="0">
            <a:noFill/>
            <a:prstDash val="solid"/>
          </a:ln>
        </p:spPr>
        <p:txBody>
          <a:bodyPr/>
          <a:lstStyle/>
          <a:p>
            <a:pPr algn="l">
              <a:defRPr sz="2550" b="1">
                <a:solidFill>
                  <a:srgbClr val="0F172A"/>
                </a:solidFill>
              </a:defRPr>
            </a:pPr>
            <a:r>
              <a:rPr sz="2550" b="1">
                <a:solidFill>
                  <a:srgbClr val="0F172A"/>
                </a:solidFill>
              </a:rPr>
              <a:t>Polymorphism trong chuỗi validator</a:t>
            </a:r>
          </a:p>
        </p:txBody>
      </p:sp>
      <p:sp>
        <p:nvSpPr>
          <p:cNvPr id="4" name="Straight Connector 3">
            <a:extLst>
              <a:ext uri="{FF2B5EF4-FFF2-40B4-BE49-F238E27FC236}">
                <a16:creationId xmlns:a16="http://schemas.microsoft.com/office/drawing/2014/main" id="{24895778-74DA-4BC6-B74A-473BCC5A1B47}"/>
              </a:ext>
            </a:extLst>
          </p:cNvPr>
          <p:cNvSpPr>
            <a:spLocks noGrp="1"/>
          </p:cNvSpPr>
          <p:nvPr/>
        </p:nvSpPr>
        <p:spPr>
          <a:xfrm>
            <a:off x="609600" y="1257300"/>
            <a:ext cx="10972800" cy="0"/>
          </a:xfrm>
          <a:prstGeom prst="line">
            <a:avLst/>
          </a:prstGeom>
          <a:noFill/>
          <a:ln w="9525">
            <a:solidFill>
              <a:srgbClr val="DDE7F3"/>
            </a:solidFill>
            <a:prstDash val="solid"/>
          </a:ln>
        </p:spPr>
      </p:sp>
      <p:sp>
        <p:nvSpPr>
          <p:cNvPr id="5" name="Rectangle 4">
            <a:extLst>
              <a:ext uri="{FF2B5EF4-FFF2-40B4-BE49-F238E27FC236}">
                <a16:creationId xmlns:a16="http://schemas.microsoft.com/office/drawing/2014/main" id="{A4F28CDF-271A-41BC-84C6-A992C0D68DCD}"/>
              </a:ext>
            </a:extLst>
          </p:cNvPr>
          <p:cNvSpPr>
            <a:spLocks noGrp="1"/>
          </p:cNvSpPr>
          <p:nvPr/>
        </p:nvSpPr>
        <p:spPr>
          <a:xfrm>
            <a:off x="609600" y="6457950"/>
            <a:ext cx="4953000" cy="209550"/>
          </a:xfrm>
          <a:prstGeom prst="rect">
            <a:avLst/>
          </a:prstGeom>
          <a:noFill/>
          <a:ln w="0">
            <a:noFill/>
            <a:prstDash val="solid"/>
          </a:ln>
        </p:spPr>
        <p:txBody>
          <a:bodyPr/>
          <a:lstStyle/>
          <a:p>
            <a:pPr algn="l">
              <a:defRPr sz="900" b="0">
                <a:solidFill>
                  <a:srgbClr val="94A3B8"/>
                </a:solidFill>
              </a:defRPr>
            </a:pPr>
            <a:r>
              <a:rPr sz="900" b="0">
                <a:solidFill>
                  <a:srgbClr val="94A3B8"/>
                </a:solidFill>
              </a:rPr>
              <a:t>Nhóm 2 - Phenikaa University</a:t>
            </a:r>
          </a:p>
        </p:txBody>
      </p:sp>
      <p:sp>
        <p:nvSpPr>
          <p:cNvPr id="6" name="Rectangle 5">
            <a:extLst>
              <a:ext uri="{FF2B5EF4-FFF2-40B4-BE49-F238E27FC236}">
                <a16:creationId xmlns:a16="http://schemas.microsoft.com/office/drawing/2014/main" id="{9768C643-AF33-4826-9D18-7C3BC70BE704}"/>
              </a:ext>
            </a:extLst>
          </p:cNvPr>
          <p:cNvSpPr>
            <a:spLocks noGrp="1"/>
          </p:cNvSpPr>
          <p:nvPr/>
        </p:nvSpPr>
        <p:spPr>
          <a:xfrm>
            <a:off x="10382250" y="6457950"/>
            <a:ext cx="1200150" cy="209550"/>
          </a:xfrm>
          <a:prstGeom prst="rect">
            <a:avLst/>
          </a:prstGeom>
          <a:noFill/>
          <a:ln w="0">
            <a:noFill/>
            <a:prstDash val="solid"/>
          </a:ln>
        </p:spPr>
        <p:txBody>
          <a:bodyPr/>
          <a:lstStyle/>
          <a:p>
            <a:pPr algn="r">
              <a:defRPr sz="900" b="0">
                <a:solidFill>
                  <a:srgbClr val="94A3B8"/>
                </a:solidFill>
              </a:defRPr>
            </a:pPr>
            <a:r>
              <a:rPr sz="900" b="0">
                <a:solidFill>
                  <a:srgbClr val="94A3B8"/>
                </a:solidFill>
              </a:rPr>
              <a:t>06C</a:t>
            </a:r>
          </a:p>
        </p:txBody>
      </p:sp>
      <p:sp>
        <p:nvSpPr>
          <p:cNvPr id="7" name="Rectangle: Rounded Corners 6">
            <a:extLst>
              <a:ext uri="{FF2B5EF4-FFF2-40B4-BE49-F238E27FC236}">
                <a16:creationId xmlns:a16="http://schemas.microsoft.com/office/drawing/2014/main" id="{2B8AA1F2-885F-4A55-BAA5-5F8FAB9DC0AC}"/>
              </a:ext>
            </a:extLst>
          </p:cNvPr>
          <p:cNvSpPr>
            <a:spLocks noGrp="1"/>
          </p:cNvSpPr>
          <p:nvPr/>
        </p:nvSpPr>
        <p:spPr>
          <a:xfrm>
            <a:off x="704850" y="1581150"/>
            <a:ext cx="4191000" cy="1485900"/>
          </a:xfrm>
          <a:prstGeom prst="roundRect">
            <a:avLst>
              <a:gd name="adj" fmla="val 7692"/>
            </a:avLst>
          </a:prstGeom>
          <a:solidFill>
            <a:srgbClr val="0B1220"/>
          </a:solidFill>
          <a:ln w="9525">
            <a:solidFill>
              <a:srgbClr val="0B1220"/>
            </a:solidFill>
            <a:prstDash val="solid"/>
          </a:ln>
        </p:spPr>
      </p:sp>
      <p:sp>
        <p:nvSpPr>
          <p:cNvPr id="8" name="Rectangle 7">
            <a:extLst>
              <a:ext uri="{FF2B5EF4-FFF2-40B4-BE49-F238E27FC236}">
                <a16:creationId xmlns:a16="http://schemas.microsoft.com/office/drawing/2014/main" id="{A0BF1A17-8BAE-4B2C-AE59-6D60EB5F5740}"/>
              </a:ext>
            </a:extLst>
          </p:cNvPr>
          <p:cNvSpPr>
            <a:spLocks noGrp="1"/>
          </p:cNvSpPr>
          <p:nvPr/>
        </p:nvSpPr>
        <p:spPr>
          <a:xfrm>
            <a:off x="876300" y="1733550"/>
            <a:ext cx="3848100" cy="1219200"/>
          </a:xfrm>
          <a:prstGeom prst="rect">
            <a:avLst/>
          </a:prstGeom>
          <a:noFill/>
          <a:ln w="0">
            <a:noFill/>
            <a:prstDash val="solid"/>
          </a:ln>
        </p:spPr>
        <p:txBody>
          <a:bodyPr/>
          <a:lstStyle/>
          <a:p>
            <a:pPr algn="l">
              <a:defRPr sz="1050" b="0">
                <a:solidFill>
                  <a:srgbClr val="E2E8F0"/>
                </a:solidFill>
              </a:defRPr>
            </a:pPr>
            <a:r>
              <a:rPr sz="1050" b="0">
                <a:solidFill>
                  <a:srgbClr val="E2E8F0"/>
                </a:solidFill>
              </a:rPr>
              <a:t>private final List&lt;CourseValidator&gt; validators;</a:t>
            </a:r>
          </a:p>
          <a:p>
            <a:endParaRPr sz="1050" b="0">
              <a:solidFill>
                <a:srgbClr val="E2E8F0"/>
              </a:solidFill>
            </a:endParaRPr>
          </a:p>
          <a:p>
            <a:pPr algn="l">
              <a:defRPr sz="1050" b="0">
                <a:solidFill>
                  <a:srgbClr val="E2E8F0"/>
                </a:solidFill>
              </a:defRPr>
            </a:pPr>
            <a:r>
              <a:rPr sz="1050" b="0">
                <a:solidFill>
                  <a:srgbClr val="E2E8F0"/>
                </a:solidFill>
              </a:rPr>
              <a:t>validators.forEach(validator -&gt;</a:t>
            </a:r>
          </a:p>
          <a:p>
            <a:pPr algn="l">
              <a:defRPr sz="1050" b="0">
                <a:solidFill>
                  <a:srgbClr val="E2E8F0"/>
                </a:solidFill>
              </a:defRPr>
            </a:pPr>
            <a:r>
              <a:rPr sz="1050" b="0">
                <a:solidFill>
                  <a:srgbClr val="E2E8F0"/>
                </a:solidFill>
              </a:rPr>
              <a:t>    validator.validate(context)</a:t>
            </a:r>
          </a:p>
          <a:p>
            <a:pPr algn="l">
              <a:defRPr sz="1050" b="0">
                <a:solidFill>
                  <a:srgbClr val="E2E8F0"/>
                </a:solidFill>
              </a:defRPr>
            </a:pPr>
            <a:r>
              <a:rPr sz="1050" b="0">
                <a:solidFill>
                  <a:srgbClr val="E2E8F0"/>
                </a:solidFill>
              </a:rPr>
              <a:t>);</a:t>
            </a:r>
          </a:p>
        </p:txBody>
      </p:sp>
      <p:sp>
        <p:nvSpPr>
          <p:cNvPr id="9" name="Rectangle: Rounded Corners 8">
            <a:extLst>
              <a:ext uri="{FF2B5EF4-FFF2-40B4-BE49-F238E27FC236}">
                <a16:creationId xmlns:a16="http://schemas.microsoft.com/office/drawing/2014/main" id="{A0FBBB98-2401-41B4-8E9F-47173B940B16}"/>
              </a:ext>
            </a:extLst>
          </p:cNvPr>
          <p:cNvSpPr>
            <a:spLocks noGrp="1"/>
          </p:cNvSpPr>
          <p:nvPr/>
        </p:nvSpPr>
        <p:spPr>
          <a:xfrm>
            <a:off x="5467350" y="1581150"/>
            <a:ext cx="1347788" cy="838200"/>
          </a:xfrm>
          <a:prstGeom prst="roundRect">
            <a:avLst>
              <a:gd name="adj" fmla="val 13636"/>
            </a:avLst>
          </a:prstGeom>
          <a:solidFill>
            <a:srgbClr val="F1F5F9"/>
          </a:solidFill>
          <a:ln w="9525">
            <a:solidFill>
              <a:srgbClr val="DDE7F3"/>
            </a:solidFill>
            <a:prstDash val="solid"/>
          </a:ln>
        </p:spPr>
      </p:sp>
      <p:sp>
        <p:nvSpPr>
          <p:cNvPr id="10" name="Rectangle 9">
            <a:extLst>
              <a:ext uri="{FF2B5EF4-FFF2-40B4-BE49-F238E27FC236}">
                <a16:creationId xmlns:a16="http://schemas.microsoft.com/office/drawing/2014/main" id="{AD6F2041-8481-4DB4-AE41-AD41D4ADEDE2}"/>
              </a:ext>
            </a:extLst>
          </p:cNvPr>
          <p:cNvSpPr>
            <a:spLocks noGrp="1"/>
          </p:cNvSpPr>
          <p:nvPr/>
        </p:nvSpPr>
        <p:spPr>
          <a:xfrm>
            <a:off x="5581650" y="1733550"/>
            <a:ext cx="1119188" cy="571500"/>
          </a:xfrm>
          <a:prstGeom prst="rect">
            <a:avLst/>
          </a:prstGeom>
          <a:noFill/>
          <a:ln w="0">
            <a:noFill/>
            <a:prstDash val="solid"/>
          </a:ln>
        </p:spPr>
        <p:txBody>
          <a:bodyPr/>
          <a:lstStyle/>
          <a:p>
            <a:pPr algn="ctr">
              <a:defRPr sz="1275" b="1">
                <a:solidFill>
                  <a:srgbClr val="0F172A"/>
                </a:solidFill>
              </a:defRPr>
            </a:pPr>
            <a:r>
              <a:rPr sz="1275" b="1">
                <a:solidFill>
                  <a:srgbClr val="0F172A"/>
                </a:solidFill>
              </a:rPr>
              <a:t>CourseValidator</a:t>
            </a:r>
          </a:p>
          <a:p>
            <a:pPr algn="ctr">
              <a:defRPr sz="1275" b="1">
                <a:solidFill>
                  <a:srgbClr val="0F172A"/>
                </a:solidFill>
              </a:defRPr>
            </a:pPr>
            <a:r>
              <a:rPr sz="1275" b="1">
                <a:solidFill>
                  <a:srgbClr val="0F172A"/>
                </a:solidFill>
              </a:rPr>
              <a:t>interface</a:t>
            </a:r>
          </a:p>
        </p:txBody>
      </p:sp>
      <p:sp>
        <p:nvSpPr>
          <p:cNvPr id="11" name="Arrow: Right 10">
            <a:extLst>
              <a:ext uri="{FF2B5EF4-FFF2-40B4-BE49-F238E27FC236}">
                <a16:creationId xmlns:a16="http://schemas.microsoft.com/office/drawing/2014/main" id="{CFC75CDC-6BF3-4AD9-AB97-B5D07FC80D95}"/>
              </a:ext>
            </a:extLst>
          </p:cNvPr>
          <p:cNvSpPr>
            <a:spLocks noGrp="1"/>
          </p:cNvSpPr>
          <p:nvPr/>
        </p:nvSpPr>
        <p:spPr>
          <a:xfrm>
            <a:off x="6796088" y="1885950"/>
            <a:ext cx="209550" cy="228600"/>
          </a:xfrm>
          <a:prstGeom prst="rightArrow">
            <a:avLst/>
          </a:prstGeom>
          <a:solidFill>
            <a:srgbClr val="C9DAFF"/>
          </a:solidFill>
          <a:ln w="0">
            <a:solidFill>
              <a:srgbClr val="C9DAFF"/>
            </a:solidFill>
            <a:prstDash val="solid"/>
          </a:ln>
        </p:spPr>
      </p:sp>
      <p:sp>
        <p:nvSpPr>
          <p:cNvPr id="12" name="Rectangle: Rounded Corners 11">
            <a:extLst>
              <a:ext uri="{FF2B5EF4-FFF2-40B4-BE49-F238E27FC236}">
                <a16:creationId xmlns:a16="http://schemas.microsoft.com/office/drawing/2014/main" id="{8DEDD121-5F78-49BF-BC51-39A95733C023}"/>
              </a:ext>
            </a:extLst>
          </p:cNvPr>
          <p:cNvSpPr>
            <a:spLocks noGrp="1"/>
          </p:cNvSpPr>
          <p:nvPr/>
        </p:nvSpPr>
        <p:spPr>
          <a:xfrm>
            <a:off x="6986588" y="1581150"/>
            <a:ext cx="1347788" cy="838200"/>
          </a:xfrm>
          <a:prstGeom prst="roundRect">
            <a:avLst>
              <a:gd name="adj" fmla="val 13636"/>
            </a:avLst>
          </a:prstGeom>
          <a:solidFill>
            <a:srgbClr val="EAF2FF"/>
          </a:solidFill>
          <a:ln w="9525">
            <a:solidFill>
              <a:srgbClr val="BBD3FF"/>
            </a:solidFill>
            <a:prstDash val="solid"/>
          </a:ln>
        </p:spPr>
      </p:sp>
      <p:sp>
        <p:nvSpPr>
          <p:cNvPr id="13" name="Rectangle 12">
            <a:extLst>
              <a:ext uri="{FF2B5EF4-FFF2-40B4-BE49-F238E27FC236}">
                <a16:creationId xmlns:a16="http://schemas.microsoft.com/office/drawing/2014/main" id="{BAC273DB-92F3-477B-9BF3-A0804CE88497}"/>
              </a:ext>
            </a:extLst>
          </p:cNvPr>
          <p:cNvSpPr>
            <a:spLocks noGrp="1"/>
          </p:cNvSpPr>
          <p:nvPr/>
        </p:nvSpPr>
        <p:spPr>
          <a:xfrm>
            <a:off x="7100888" y="1733550"/>
            <a:ext cx="1119188" cy="571500"/>
          </a:xfrm>
          <a:prstGeom prst="rect">
            <a:avLst/>
          </a:prstGeom>
          <a:noFill/>
          <a:ln w="0">
            <a:noFill/>
            <a:prstDash val="solid"/>
          </a:ln>
        </p:spPr>
        <p:txBody>
          <a:bodyPr/>
          <a:lstStyle/>
          <a:p>
            <a:pPr algn="ctr">
              <a:defRPr sz="1275" b="1">
                <a:solidFill>
                  <a:srgbClr val="0B2A6F"/>
                </a:solidFill>
              </a:defRPr>
            </a:pPr>
            <a:r>
              <a:rPr sz="1275" b="1">
                <a:solidFill>
                  <a:srgbClr val="0B2A6F"/>
                </a:solidFill>
              </a:rPr>
              <a:t>CourseExistence</a:t>
            </a:r>
          </a:p>
          <a:p>
            <a:pPr algn="ctr">
              <a:defRPr sz="1275" b="1">
                <a:solidFill>
                  <a:srgbClr val="0B2A6F"/>
                </a:solidFill>
              </a:defRPr>
            </a:pPr>
            <a:r>
              <a:rPr sz="1275" b="1">
                <a:solidFill>
                  <a:srgbClr val="0B2A6F"/>
                </a:solidFill>
              </a:rPr>
              <a:t>Validator</a:t>
            </a:r>
          </a:p>
        </p:txBody>
      </p:sp>
      <p:sp>
        <p:nvSpPr>
          <p:cNvPr id="14" name="Arrow: Right 13">
            <a:extLst>
              <a:ext uri="{FF2B5EF4-FFF2-40B4-BE49-F238E27FC236}">
                <a16:creationId xmlns:a16="http://schemas.microsoft.com/office/drawing/2014/main" id="{D7CE15F8-8718-497C-91D9-B7D75BC1871B}"/>
              </a:ext>
            </a:extLst>
          </p:cNvPr>
          <p:cNvSpPr>
            <a:spLocks noGrp="1"/>
          </p:cNvSpPr>
          <p:nvPr/>
        </p:nvSpPr>
        <p:spPr>
          <a:xfrm>
            <a:off x="8315325" y="1885950"/>
            <a:ext cx="209550" cy="228600"/>
          </a:xfrm>
          <a:prstGeom prst="rightArrow">
            <a:avLst/>
          </a:prstGeom>
          <a:solidFill>
            <a:srgbClr val="C9DAFF"/>
          </a:solidFill>
          <a:ln w="0">
            <a:solidFill>
              <a:srgbClr val="C9DAFF"/>
            </a:solidFill>
            <a:prstDash val="solid"/>
          </a:ln>
        </p:spPr>
      </p:sp>
      <p:sp>
        <p:nvSpPr>
          <p:cNvPr id="15" name="Rectangle: Rounded Corners 14">
            <a:extLst>
              <a:ext uri="{FF2B5EF4-FFF2-40B4-BE49-F238E27FC236}">
                <a16:creationId xmlns:a16="http://schemas.microsoft.com/office/drawing/2014/main" id="{CA99DA6D-77D7-4B1F-ACA4-036BF080F2B5}"/>
              </a:ext>
            </a:extLst>
          </p:cNvPr>
          <p:cNvSpPr>
            <a:spLocks noGrp="1"/>
          </p:cNvSpPr>
          <p:nvPr/>
        </p:nvSpPr>
        <p:spPr>
          <a:xfrm>
            <a:off x="8505825" y="1581150"/>
            <a:ext cx="1347788" cy="838200"/>
          </a:xfrm>
          <a:prstGeom prst="roundRect">
            <a:avLst>
              <a:gd name="adj" fmla="val 13636"/>
            </a:avLst>
          </a:prstGeom>
          <a:solidFill>
            <a:srgbClr val="EAF2FF"/>
          </a:solidFill>
          <a:ln w="9525">
            <a:solidFill>
              <a:srgbClr val="BBD3FF"/>
            </a:solidFill>
            <a:prstDash val="solid"/>
          </a:ln>
        </p:spPr>
      </p:sp>
      <p:sp>
        <p:nvSpPr>
          <p:cNvPr id="16" name="Rectangle 15">
            <a:extLst>
              <a:ext uri="{FF2B5EF4-FFF2-40B4-BE49-F238E27FC236}">
                <a16:creationId xmlns:a16="http://schemas.microsoft.com/office/drawing/2014/main" id="{B6871847-72B5-489A-9807-33DC645A0AEC}"/>
              </a:ext>
            </a:extLst>
          </p:cNvPr>
          <p:cNvSpPr>
            <a:spLocks noGrp="1"/>
          </p:cNvSpPr>
          <p:nvPr/>
        </p:nvSpPr>
        <p:spPr>
          <a:xfrm>
            <a:off x="8620125" y="1733550"/>
            <a:ext cx="1119188" cy="571500"/>
          </a:xfrm>
          <a:prstGeom prst="rect">
            <a:avLst/>
          </a:prstGeom>
          <a:noFill/>
          <a:ln w="0">
            <a:noFill/>
            <a:prstDash val="solid"/>
          </a:ln>
        </p:spPr>
        <p:txBody>
          <a:bodyPr/>
          <a:lstStyle/>
          <a:p>
            <a:pPr algn="ctr">
              <a:defRPr sz="1275" b="1">
                <a:solidFill>
                  <a:srgbClr val="0B2A6F"/>
                </a:solidFill>
              </a:defRPr>
            </a:pPr>
            <a:r>
              <a:rPr sz="1275" b="1">
                <a:solidFill>
                  <a:srgbClr val="0B2A6F"/>
                </a:solidFill>
              </a:rPr>
              <a:t>DuplicateCourse</a:t>
            </a:r>
          </a:p>
          <a:p>
            <a:pPr algn="ctr">
              <a:defRPr sz="1275" b="1">
                <a:solidFill>
                  <a:srgbClr val="0B2A6F"/>
                </a:solidFill>
              </a:defRPr>
            </a:pPr>
            <a:r>
              <a:rPr sz="1275" b="1">
                <a:solidFill>
                  <a:srgbClr val="0B2A6F"/>
                </a:solidFill>
              </a:rPr>
              <a:t>Validator</a:t>
            </a:r>
          </a:p>
        </p:txBody>
      </p:sp>
      <p:sp>
        <p:nvSpPr>
          <p:cNvPr id="17" name="Arrow: Right 16">
            <a:extLst>
              <a:ext uri="{FF2B5EF4-FFF2-40B4-BE49-F238E27FC236}">
                <a16:creationId xmlns:a16="http://schemas.microsoft.com/office/drawing/2014/main" id="{EE501B1C-5D0C-4177-B3AC-53FDE5845773}"/>
              </a:ext>
            </a:extLst>
          </p:cNvPr>
          <p:cNvSpPr>
            <a:spLocks noGrp="1"/>
          </p:cNvSpPr>
          <p:nvPr/>
        </p:nvSpPr>
        <p:spPr>
          <a:xfrm>
            <a:off x="9834563" y="1885950"/>
            <a:ext cx="209550" cy="228600"/>
          </a:xfrm>
          <a:prstGeom prst="rightArrow">
            <a:avLst/>
          </a:prstGeom>
          <a:solidFill>
            <a:srgbClr val="C9DAFF"/>
          </a:solidFill>
          <a:ln w="0">
            <a:solidFill>
              <a:srgbClr val="C9DAFF"/>
            </a:solidFill>
            <a:prstDash val="solid"/>
          </a:ln>
        </p:spPr>
      </p:sp>
      <p:sp>
        <p:nvSpPr>
          <p:cNvPr id="18" name="Rectangle: Rounded Corners 17">
            <a:extLst>
              <a:ext uri="{FF2B5EF4-FFF2-40B4-BE49-F238E27FC236}">
                <a16:creationId xmlns:a16="http://schemas.microsoft.com/office/drawing/2014/main" id="{A2952FA7-8A23-456D-8691-4367011F8759}"/>
              </a:ext>
            </a:extLst>
          </p:cNvPr>
          <p:cNvSpPr>
            <a:spLocks noGrp="1"/>
          </p:cNvSpPr>
          <p:nvPr/>
        </p:nvSpPr>
        <p:spPr>
          <a:xfrm>
            <a:off x="10025063" y="1581150"/>
            <a:ext cx="1347788" cy="838200"/>
          </a:xfrm>
          <a:prstGeom prst="roundRect">
            <a:avLst>
              <a:gd name="adj" fmla="val 13636"/>
            </a:avLst>
          </a:prstGeom>
          <a:solidFill>
            <a:srgbClr val="EAF8F0"/>
          </a:solidFill>
          <a:ln w="9525">
            <a:solidFill>
              <a:srgbClr val="BFE9CF"/>
            </a:solidFill>
            <a:prstDash val="solid"/>
          </a:ln>
        </p:spPr>
      </p:sp>
      <p:sp>
        <p:nvSpPr>
          <p:cNvPr id="19" name="Rectangle 18">
            <a:extLst>
              <a:ext uri="{FF2B5EF4-FFF2-40B4-BE49-F238E27FC236}">
                <a16:creationId xmlns:a16="http://schemas.microsoft.com/office/drawing/2014/main" id="{DE7A19B4-4B84-44F5-847F-E4BFDFA2035A}"/>
              </a:ext>
            </a:extLst>
          </p:cNvPr>
          <p:cNvSpPr>
            <a:spLocks noGrp="1"/>
          </p:cNvSpPr>
          <p:nvPr/>
        </p:nvSpPr>
        <p:spPr>
          <a:xfrm>
            <a:off x="10139363" y="1733550"/>
            <a:ext cx="1119188" cy="571500"/>
          </a:xfrm>
          <a:prstGeom prst="rect">
            <a:avLst/>
          </a:prstGeom>
          <a:noFill/>
          <a:ln w="0">
            <a:noFill/>
            <a:prstDash val="solid"/>
          </a:ln>
        </p:spPr>
        <p:txBody>
          <a:bodyPr/>
          <a:lstStyle/>
          <a:p>
            <a:pPr algn="ctr">
              <a:defRPr sz="1275" b="1">
                <a:solidFill>
                  <a:srgbClr val="166534"/>
                </a:solidFill>
              </a:defRPr>
            </a:pPr>
            <a:r>
              <a:rPr sz="1275" b="1">
                <a:solidFill>
                  <a:srgbClr val="166534"/>
                </a:solidFill>
              </a:rPr>
              <a:t>Capacity/Credit/</a:t>
            </a:r>
          </a:p>
          <a:p>
            <a:pPr algn="ctr">
              <a:defRPr sz="1275" b="1">
                <a:solidFill>
                  <a:srgbClr val="166534"/>
                </a:solidFill>
              </a:defRPr>
            </a:pPr>
            <a:r>
              <a:rPr sz="1275" b="1">
                <a:solidFill>
                  <a:srgbClr val="166534"/>
                </a:solidFill>
              </a:rPr>
              <a:t>Schedule Validator</a:t>
            </a:r>
          </a:p>
        </p:txBody>
      </p:sp>
      <p:sp>
        <p:nvSpPr>
          <p:cNvPr id="20" name="Rectangle: Rounded Corners 19">
            <a:extLst>
              <a:ext uri="{FF2B5EF4-FFF2-40B4-BE49-F238E27FC236}">
                <a16:creationId xmlns:a16="http://schemas.microsoft.com/office/drawing/2014/main" id="{66E6E3D5-41D2-4D10-BC12-CD79E9BFA903}"/>
              </a:ext>
            </a:extLst>
          </p:cNvPr>
          <p:cNvSpPr>
            <a:spLocks noGrp="1"/>
          </p:cNvSpPr>
          <p:nvPr/>
        </p:nvSpPr>
        <p:spPr>
          <a:xfrm>
            <a:off x="704850" y="3429000"/>
            <a:ext cx="4953000" cy="2133600"/>
          </a:xfrm>
          <a:prstGeom prst="roundRect">
            <a:avLst>
              <a:gd name="adj" fmla="val 5357"/>
            </a:avLst>
          </a:prstGeom>
          <a:solidFill>
            <a:srgbClr val="0B1220"/>
          </a:solidFill>
          <a:ln w="9525">
            <a:solidFill>
              <a:srgbClr val="0B1220"/>
            </a:solidFill>
            <a:prstDash val="solid"/>
          </a:ln>
        </p:spPr>
      </p:sp>
      <p:sp>
        <p:nvSpPr>
          <p:cNvPr id="21" name="Rectangle 20">
            <a:extLst>
              <a:ext uri="{FF2B5EF4-FFF2-40B4-BE49-F238E27FC236}">
                <a16:creationId xmlns:a16="http://schemas.microsoft.com/office/drawing/2014/main" id="{DB012C9A-BAF6-4C5E-979E-3E9CF157C1A4}"/>
              </a:ext>
            </a:extLst>
          </p:cNvPr>
          <p:cNvSpPr>
            <a:spLocks noGrp="1"/>
          </p:cNvSpPr>
          <p:nvPr/>
        </p:nvSpPr>
        <p:spPr>
          <a:xfrm>
            <a:off x="876300" y="3581400"/>
            <a:ext cx="4610100" cy="1866900"/>
          </a:xfrm>
          <a:prstGeom prst="rect">
            <a:avLst/>
          </a:prstGeom>
          <a:noFill/>
          <a:ln w="0">
            <a:noFill/>
            <a:prstDash val="solid"/>
          </a:ln>
        </p:spPr>
        <p:txBody>
          <a:bodyPr/>
          <a:lstStyle/>
          <a:p>
            <a:pPr algn="l">
              <a:defRPr sz="1050" b="0">
                <a:solidFill>
                  <a:srgbClr val="E2E8F0"/>
                </a:solidFill>
              </a:defRPr>
            </a:pPr>
            <a:r>
              <a:rPr sz="1050" b="0">
                <a:solidFill>
                  <a:srgbClr val="E2E8F0"/>
                </a:solidFill>
              </a:rPr>
              <a:t>@Component</a:t>
            </a:r>
          </a:p>
          <a:p>
            <a:pPr algn="l">
              <a:defRPr sz="1050" b="0">
                <a:solidFill>
                  <a:srgbClr val="E2E8F0"/>
                </a:solidFill>
              </a:defRPr>
            </a:pPr>
            <a:r>
              <a:rPr sz="1050" b="0">
                <a:solidFill>
                  <a:srgbClr val="E2E8F0"/>
                </a:solidFill>
              </a:rPr>
              <a:t>@Order(20)</a:t>
            </a:r>
          </a:p>
          <a:p>
            <a:pPr algn="l">
              <a:defRPr sz="1050" b="0">
                <a:solidFill>
                  <a:srgbClr val="E2E8F0"/>
                </a:solidFill>
              </a:defRPr>
            </a:pPr>
            <a:r>
              <a:rPr sz="1050" b="0">
                <a:solidFill>
                  <a:srgbClr val="E2E8F0"/>
                </a:solidFill>
              </a:rPr>
              <a:t>public class DuplicateCourseValidator</a:t>
            </a:r>
          </a:p>
          <a:p>
            <a:pPr algn="l">
              <a:defRPr sz="1050" b="0">
                <a:solidFill>
                  <a:srgbClr val="E2E8F0"/>
                </a:solidFill>
              </a:defRPr>
            </a:pPr>
            <a:r>
              <a:rPr sz="1050" b="0">
                <a:solidFill>
                  <a:srgbClr val="E2E8F0"/>
                </a:solidFill>
              </a:rPr>
              <a:t>        implements CourseValidator {</a:t>
            </a:r>
          </a:p>
          <a:p>
            <a:pPr algn="l">
              <a:defRPr sz="1050" b="0">
                <a:solidFill>
                  <a:srgbClr val="E2E8F0"/>
                </a:solidFill>
              </a:defRPr>
            </a:pPr>
            <a:r>
              <a:rPr sz="1050" b="0">
                <a:solidFill>
                  <a:srgbClr val="E2E8F0"/>
                </a:solidFill>
              </a:rPr>
              <a:t>    @Override</a:t>
            </a:r>
          </a:p>
          <a:p>
            <a:pPr algn="l">
              <a:defRPr sz="1050" b="0">
                <a:solidFill>
                  <a:srgbClr val="E2E8F0"/>
                </a:solidFill>
              </a:defRPr>
            </a:pPr>
            <a:r>
              <a:rPr sz="1050" b="0">
                <a:solidFill>
                  <a:srgbClr val="E2E8F0"/>
                </a:solidFill>
              </a:rPr>
              <a:t>    public void validate(RegistrationValidationContext context) {</a:t>
            </a:r>
          </a:p>
          <a:p>
            <a:pPr algn="l">
              <a:defRPr sz="1050" b="0">
                <a:solidFill>
                  <a:srgbClr val="E2E8F0"/>
                </a:solidFill>
              </a:defRPr>
            </a:pPr>
            <a:r>
              <a:rPr sz="1050" b="0">
                <a:solidFill>
                  <a:srgbClr val="E2E8F0"/>
                </a:solidFill>
              </a:rPr>
              <a:t>        // kiểm tra môn đã đăng ký hay chưa</a:t>
            </a:r>
          </a:p>
          <a:p>
            <a:pPr algn="l">
              <a:defRPr sz="1050" b="0">
                <a:solidFill>
                  <a:srgbClr val="E2E8F0"/>
                </a:solidFill>
              </a:defRPr>
            </a:pPr>
            <a:r>
              <a:rPr sz="1050" b="0">
                <a:solidFill>
                  <a:srgbClr val="E2E8F0"/>
                </a:solidFill>
              </a:rPr>
              <a:t>    }</a:t>
            </a:r>
          </a:p>
          <a:p>
            <a:pPr algn="l">
              <a:defRPr sz="1050" b="0">
                <a:solidFill>
                  <a:srgbClr val="E2E8F0"/>
                </a:solidFill>
              </a:defRPr>
            </a:pPr>
            <a:r>
              <a:rPr sz="1050" b="0">
                <a:solidFill>
                  <a:srgbClr val="E2E8F0"/>
                </a:solidFill>
              </a:rPr>
              <a:t>}</a:t>
            </a:r>
          </a:p>
        </p:txBody>
      </p:sp>
      <p:sp>
        <p:nvSpPr>
          <p:cNvPr id="22" name="Rectangle: Rounded Corners 21">
            <a:extLst>
              <a:ext uri="{FF2B5EF4-FFF2-40B4-BE49-F238E27FC236}">
                <a16:creationId xmlns:a16="http://schemas.microsoft.com/office/drawing/2014/main" id="{5168BEF9-415D-44A4-998A-A6A482ADAB58}"/>
              </a:ext>
            </a:extLst>
          </p:cNvPr>
          <p:cNvSpPr>
            <a:spLocks noGrp="1"/>
          </p:cNvSpPr>
          <p:nvPr/>
        </p:nvSpPr>
        <p:spPr>
          <a:xfrm>
            <a:off x="6096000" y="2990850"/>
            <a:ext cx="4953000" cy="1123950"/>
          </a:xfrm>
          <a:prstGeom prst="roundRect">
            <a:avLst>
              <a:gd name="adj" fmla="val 10169"/>
            </a:avLst>
          </a:prstGeom>
          <a:solidFill>
            <a:srgbClr val="FFFFFF"/>
          </a:solidFill>
          <a:ln w="9525">
            <a:solidFill>
              <a:srgbClr val="DDE7F3"/>
            </a:solidFill>
            <a:prstDash val="solid"/>
          </a:ln>
        </p:spPr>
      </p:sp>
      <p:sp>
        <p:nvSpPr>
          <p:cNvPr id="23" name="Rectangle 22">
            <a:extLst>
              <a:ext uri="{FF2B5EF4-FFF2-40B4-BE49-F238E27FC236}">
                <a16:creationId xmlns:a16="http://schemas.microsoft.com/office/drawing/2014/main" id="{2F1D9B8E-BB76-4B9E-82D6-9C6F7FF5B9B4}"/>
              </a:ext>
            </a:extLst>
          </p:cNvPr>
          <p:cNvSpPr>
            <a:spLocks noGrp="1"/>
          </p:cNvSpPr>
          <p:nvPr/>
        </p:nvSpPr>
        <p:spPr>
          <a:xfrm>
            <a:off x="6096000" y="2990850"/>
            <a:ext cx="66675" cy="1123950"/>
          </a:xfrm>
          <a:prstGeom prst="rect">
            <a:avLst/>
          </a:prstGeom>
          <a:solidFill>
            <a:srgbClr val="0B5FFF"/>
          </a:solidFill>
          <a:ln w="9525">
            <a:solidFill>
              <a:srgbClr val="0B5FFF"/>
            </a:solidFill>
            <a:prstDash val="solid"/>
          </a:ln>
        </p:spPr>
      </p:sp>
      <p:sp>
        <p:nvSpPr>
          <p:cNvPr id="24" name="Rectangle 23">
            <a:extLst>
              <a:ext uri="{FF2B5EF4-FFF2-40B4-BE49-F238E27FC236}">
                <a16:creationId xmlns:a16="http://schemas.microsoft.com/office/drawing/2014/main" id="{53345874-04D2-4199-994B-D763D655DB29}"/>
              </a:ext>
            </a:extLst>
          </p:cNvPr>
          <p:cNvSpPr>
            <a:spLocks noGrp="1"/>
          </p:cNvSpPr>
          <p:nvPr/>
        </p:nvSpPr>
        <p:spPr>
          <a:xfrm>
            <a:off x="6324600" y="3162300"/>
            <a:ext cx="44958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Chứng minh polymorphism</a:t>
            </a:r>
          </a:p>
        </p:txBody>
      </p:sp>
      <p:sp>
        <p:nvSpPr>
          <p:cNvPr id="25" name="Rectangle 24">
            <a:extLst>
              <a:ext uri="{FF2B5EF4-FFF2-40B4-BE49-F238E27FC236}">
                <a16:creationId xmlns:a16="http://schemas.microsoft.com/office/drawing/2014/main" id="{DA7196A2-C57A-4547-AABE-8DDAC3E41637}"/>
              </a:ext>
            </a:extLst>
          </p:cNvPr>
          <p:cNvSpPr>
            <a:spLocks noGrp="1"/>
          </p:cNvSpPr>
          <p:nvPr/>
        </p:nvSpPr>
        <p:spPr>
          <a:xfrm>
            <a:off x="6324600" y="3505200"/>
            <a:ext cx="4495800" cy="457200"/>
          </a:xfrm>
          <a:prstGeom prst="rect">
            <a:avLst/>
          </a:prstGeom>
          <a:noFill/>
          <a:ln w="0">
            <a:noFill/>
            <a:prstDash val="solid"/>
          </a:ln>
        </p:spPr>
        <p:txBody>
          <a:bodyPr/>
          <a:lstStyle/>
          <a:p>
            <a:pPr algn="l">
              <a:defRPr sz="1200" b="0">
                <a:solidFill>
                  <a:srgbClr val="64748B"/>
                </a:solidFill>
              </a:defRPr>
            </a:pPr>
            <a:r>
              <a:rPr sz="1200" b="0">
                <a:solidFill>
                  <a:srgbClr val="64748B"/>
                </a:solidFill>
              </a:rPr>
              <a:t>Cùng một lời gọi `validate(context)`, nhưng hành vi thực thi phụ thuộc vào object validator thật được Spring inject vào danh sách.</a:t>
            </a:r>
          </a:p>
        </p:txBody>
      </p:sp>
      <p:sp>
        <p:nvSpPr>
          <p:cNvPr id="26" name="Rectangle: Rounded Corners 25">
            <a:extLst>
              <a:ext uri="{FF2B5EF4-FFF2-40B4-BE49-F238E27FC236}">
                <a16:creationId xmlns:a16="http://schemas.microsoft.com/office/drawing/2014/main" id="{A7761F65-B5EE-48F4-9949-B1E6B4B74163}"/>
              </a:ext>
            </a:extLst>
          </p:cNvPr>
          <p:cNvSpPr>
            <a:spLocks noGrp="1"/>
          </p:cNvSpPr>
          <p:nvPr/>
        </p:nvSpPr>
        <p:spPr>
          <a:xfrm>
            <a:off x="6096000" y="4438650"/>
            <a:ext cx="4953000" cy="1123950"/>
          </a:xfrm>
          <a:prstGeom prst="roundRect">
            <a:avLst>
              <a:gd name="adj" fmla="val 10169"/>
            </a:avLst>
          </a:prstGeom>
          <a:solidFill>
            <a:srgbClr val="FFFFFF"/>
          </a:solidFill>
          <a:ln w="9525">
            <a:solidFill>
              <a:srgbClr val="DDE7F3"/>
            </a:solidFill>
            <a:prstDash val="solid"/>
          </a:ln>
        </p:spPr>
      </p:sp>
      <p:sp>
        <p:nvSpPr>
          <p:cNvPr id="27" name="Rectangle 26">
            <a:extLst>
              <a:ext uri="{FF2B5EF4-FFF2-40B4-BE49-F238E27FC236}">
                <a16:creationId xmlns:a16="http://schemas.microsoft.com/office/drawing/2014/main" id="{F43171E7-10B3-44FD-82A8-FEF623F4DF7C}"/>
              </a:ext>
            </a:extLst>
          </p:cNvPr>
          <p:cNvSpPr>
            <a:spLocks noGrp="1"/>
          </p:cNvSpPr>
          <p:nvPr/>
        </p:nvSpPr>
        <p:spPr>
          <a:xfrm>
            <a:off x="6096000" y="4438650"/>
            <a:ext cx="66675" cy="1123950"/>
          </a:xfrm>
          <a:prstGeom prst="rect">
            <a:avLst/>
          </a:prstGeom>
          <a:solidFill>
            <a:srgbClr val="16A34A"/>
          </a:solidFill>
          <a:ln w="9525">
            <a:solidFill>
              <a:srgbClr val="16A34A"/>
            </a:solidFill>
            <a:prstDash val="solid"/>
          </a:ln>
        </p:spPr>
      </p:sp>
      <p:sp>
        <p:nvSpPr>
          <p:cNvPr id="28" name="Rectangle 27">
            <a:extLst>
              <a:ext uri="{FF2B5EF4-FFF2-40B4-BE49-F238E27FC236}">
                <a16:creationId xmlns:a16="http://schemas.microsoft.com/office/drawing/2014/main" id="{C589C5E0-81C3-4AAC-B1A4-DCA175788E44}"/>
              </a:ext>
            </a:extLst>
          </p:cNvPr>
          <p:cNvSpPr>
            <a:spLocks noGrp="1"/>
          </p:cNvSpPr>
          <p:nvPr/>
        </p:nvSpPr>
        <p:spPr>
          <a:xfrm>
            <a:off x="6324600" y="4610100"/>
            <a:ext cx="44958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Lợi ích</a:t>
            </a:r>
          </a:p>
        </p:txBody>
      </p:sp>
      <p:sp>
        <p:nvSpPr>
          <p:cNvPr id="29" name="Rectangle 28">
            <a:extLst>
              <a:ext uri="{FF2B5EF4-FFF2-40B4-BE49-F238E27FC236}">
                <a16:creationId xmlns:a16="http://schemas.microsoft.com/office/drawing/2014/main" id="{8384805F-6B41-49BE-A6D0-3DEDA8ED758B}"/>
              </a:ext>
            </a:extLst>
          </p:cNvPr>
          <p:cNvSpPr>
            <a:spLocks noGrp="1"/>
          </p:cNvSpPr>
          <p:nvPr/>
        </p:nvSpPr>
        <p:spPr>
          <a:xfrm>
            <a:off x="6324600" y="4953000"/>
            <a:ext cx="4495800" cy="457200"/>
          </a:xfrm>
          <a:prstGeom prst="rect">
            <a:avLst/>
          </a:prstGeom>
          <a:noFill/>
          <a:ln w="0">
            <a:noFill/>
            <a:prstDash val="solid"/>
          </a:ln>
        </p:spPr>
        <p:txBody>
          <a:bodyPr/>
          <a:lstStyle/>
          <a:p>
            <a:pPr algn="l">
              <a:defRPr sz="1200" b="0">
                <a:solidFill>
                  <a:srgbClr val="64748B"/>
                </a:solidFill>
              </a:defRPr>
            </a:pPr>
            <a:r>
              <a:rPr sz="1200" b="0">
                <a:solidFill>
                  <a:srgbClr val="64748B"/>
                </a:solidFill>
              </a:rPr>
              <a:t>Service không cần if/else dài cho từng rule. Mỗi rule có một class riêng, dễ kiểm thử và dễ bổ sung khi nghiệp vụ thay đổi.</a:t>
            </a:r>
          </a:p>
        </p:txBody>
      </p:sp>
    </p:spTree>
    <p:extLst>
      <p:ext uri="{BB962C8B-B14F-4D97-AF65-F5344CB8AC3E}">
        <p14:creationId xmlns:p14="http://schemas.microsoft.com/office/powerpoint/2010/main" val="1435350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E57219F-2C86-40DA-86FB-8C55AFFE01F8}"/>
              </a:ext>
            </a:extLst>
          </p:cNvPr>
          <p:cNvSpPr>
            <a:spLocks noGrp="1"/>
          </p:cNvSpPr>
          <p:nvPr/>
        </p:nvSpPr>
        <p:spPr>
          <a:xfrm>
            <a:off x="0" y="0"/>
            <a:ext cx="12192000" cy="6858000"/>
          </a:xfrm>
          <a:prstGeom prst="rect">
            <a:avLst/>
          </a:prstGeom>
          <a:solidFill>
            <a:srgbClr val="F8FBFF"/>
          </a:solidFill>
          <a:ln w="0">
            <a:noFill/>
            <a:prstDash val="solid"/>
          </a:ln>
        </p:spPr>
      </p:sp>
      <p:sp>
        <p:nvSpPr>
          <p:cNvPr id="2" name="Rectangle 1">
            <a:extLst>
              <a:ext uri="{FF2B5EF4-FFF2-40B4-BE49-F238E27FC236}">
                <a16:creationId xmlns:a16="http://schemas.microsoft.com/office/drawing/2014/main" id="{9D3C9067-B37A-44B8-80A0-4F4FA78DD795}"/>
              </a:ext>
            </a:extLst>
          </p:cNvPr>
          <p:cNvSpPr>
            <a:spLocks noGrp="1"/>
          </p:cNvSpPr>
          <p:nvPr/>
        </p:nvSpPr>
        <p:spPr>
          <a:xfrm>
            <a:off x="609600" y="323850"/>
            <a:ext cx="7239000" cy="266700"/>
          </a:xfrm>
          <a:prstGeom prst="rect">
            <a:avLst/>
          </a:prstGeom>
          <a:noFill/>
          <a:ln w="0">
            <a:noFill/>
            <a:prstDash val="solid"/>
          </a:ln>
        </p:spPr>
        <p:txBody>
          <a:bodyPr/>
          <a:lstStyle/>
          <a:p>
            <a:pPr algn="l">
              <a:defRPr sz="1050" b="1">
                <a:solidFill>
                  <a:srgbClr val="0B5FFF"/>
                </a:solidFill>
              </a:defRPr>
            </a:pPr>
            <a:r>
              <a:rPr sz="1050" b="1">
                <a:solidFill>
                  <a:srgbClr val="0B5FFF"/>
                </a:solidFill>
              </a:rPr>
              <a:t>THIẾT KẾ OOP | Minh chứng từ source</a:t>
            </a:r>
          </a:p>
        </p:txBody>
      </p:sp>
      <p:sp>
        <p:nvSpPr>
          <p:cNvPr id="3" name="Rectangle 2">
            <a:extLst>
              <a:ext uri="{FF2B5EF4-FFF2-40B4-BE49-F238E27FC236}">
                <a16:creationId xmlns:a16="http://schemas.microsoft.com/office/drawing/2014/main" id="{FE6D2BB6-1BDB-4808-AED7-2F61D8EE8F13}"/>
              </a:ext>
            </a:extLst>
          </p:cNvPr>
          <p:cNvSpPr>
            <a:spLocks noGrp="1"/>
          </p:cNvSpPr>
          <p:nvPr/>
        </p:nvSpPr>
        <p:spPr>
          <a:xfrm>
            <a:off x="609600" y="628650"/>
            <a:ext cx="10096500" cy="533400"/>
          </a:xfrm>
          <a:prstGeom prst="rect">
            <a:avLst/>
          </a:prstGeom>
          <a:noFill/>
          <a:ln w="0">
            <a:noFill/>
            <a:prstDash val="solid"/>
          </a:ln>
        </p:spPr>
        <p:txBody>
          <a:bodyPr/>
          <a:lstStyle/>
          <a:p>
            <a:pPr algn="l">
              <a:defRPr sz="2550" b="1">
                <a:solidFill>
                  <a:srgbClr val="0F172A"/>
                </a:solidFill>
              </a:defRPr>
            </a:pPr>
            <a:r>
              <a:rPr sz="2550" b="1">
                <a:solidFill>
                  <a:srgbClr val="0F172A"/>
                </a:solidFill>
              </a:rPr>
              <a:t>Collections dùng để biểu diễn dữ liệu nghiệp vụ</a:t>
            </a:r>
          </a:p>
        </p:txBody>
      </p:sp>
      <p:sp>
        <p:nvSpPr>
          <p:cNvPr id="4" name="Straight Connector 3">
            <a:extLst>
              <a:ext uri="{FF2B5EF4-FFF2-40B4-BE49-F238E27FC236}">
                <a16:creationId xmlns:a16="http://schemas.microsoft.com/office/drawing/2014/main" id="{D414C483-A5AD-4A7A-B9B7-55100AE985CC}"/>
              </a:ext>
            </a:extLst>
          </p:cNvPr>
          <p:cNvSpPr>
            <a:spLocks noGrp="1"/>
          </p:cNvSpPr>
          <p:nvPr/>
        </p:nvSpPr>
        <p:spPr>
          <a:xfrm>
            <a:off x="609600" y="1257300"/>
            <a:ext cx="10972800" cy="0"/>
          </a:xfrm>
          <a:prstGeom prst="line">
            <a:avLst/>
          </a:prstGeom>
          <a:noFill/>
          <a:ln w="9525">
            <a:solidFill>
              <a:srgbClr val="DDE7F3"/>
            </a:solidFill>
            <a:prstDash val="solid"/>
          </a:ln>
        </p:spPr>
      </p:sp>
      <p:sp>
        <p:nvSpPr>
          <p:cNvPr id="5" name="Rectangle 4">
            <a:extLst>
              <a:ext uri="{FF2B5EF4-FFF2-40B4-BE49-F238E27FC236}">
                <a16:creationId xmlns:a16="http://schemas.microsoft.com/office/drawing/2014/main" id="{767EF124-3A4E-49DB-B220-CE82842A073D}"/>
              </a:ext>
            </a:extLst>
          </p:cNvPr>
          <p:cNvSpPr>
            <a:spLocks noGrp="1"/>
          </p:cNvSpPr>
          <p:nvPr/>
        </p:nvSpPr>
        <p:spPr>
          <a:xfrm>
            <a:off x="609600" y="6457950"/>
            <a:ext cx="4953000" cy="209550"/>
          </a:xfrm>
          <a:prstGeom prst="rect">
            <a:avLst/>
          </a:prstGeom>
          <a:noFill/>
          <a:ln w="0">
            <a:noFill/>
            <a:prstDash val="solid"/>
          </a:ln>
        </p:spPr>
        <p:txBody>
          <a:bodyPr/>
          <a:lstStyle/>
          <a:p>
            <a:pPr algn="l">
              <a:defRPr sz="900" b="0">
                <a:solidFill>
                  <a:srgbClr val="94A3B8"/>
                </a:solidFill>
              </a:defRPr>
            </a:pPr>
            <a:r>
              <a:rPr sz="900" b="0">
                <a:solidFill>
                  <a:srgbClr val="94A3B8"/>
                </a:solidFill>
              </a:rPr>
              <a:t>Nhóm 2 - Phenikaa University</a:t>
            </a:r>
          </a:p>
        </p:txBody>
      </p:sp>
      <p:sp>
        <p:nvSpPr>
          <p:cNvPr id="6" name="Rectangle 5">
            <a:extLst>
              <a:ext uri="{FF2B5EF4-FFF2-40B4-BE49-F238E27FC236}">
                <a16:creationId xmlns:a16="http://schemas.microsoft.com/office/drawing/2014/main" id="{56E1E522-5321-4EE9-BCCA-DE0D526F5330}"/>
              </a:ext>
            </a:extLst>
          </p:cNvPr>
          <p:cNvSpPr>
            <a:spLocks noGrp="1"/>
          </p:cNvSpPr>
          <p:nvPr/>
        </p:nvSpPr>
        <p:spPr>
          <a:xfrm>
            <a:off x="10382250" y="6457950"/>
            <a:ext cx="1200150" cy="209550"/>
          </a:xfrm>
          <a:prstGeom prst="rect">
            <a:avLst/>
          </a:prstGeom>
          <a:noFill/>
          <a:ln w="0">
            <a:noFill/>
            <a:prstDash val="solid"/>
          </a:ln>
        </p:spPr>
        <p:txBody>
          <a:bodyPr/>
          <a:lstStyle/>
          <a:p>
            <a:pPr algn="r">
              <a:defRPr sz="900" b="0">
                <a:solidFill>
                  <a:srgbClr val="94A3B8"/>
                </a:solidFill>
              </a:defRPr>
            </a:pPr>
            <a:r>
              <a:rPr sz="900" b="0">
                <a:solidFill>
                  <a:srgbClr val="94A3B8"/>
                </a:solidFill>
              </a:rPr>
              <a:t>06D</a:t>
            </a:r>
          </a:p>
        </p:txBody>
      </p:sp>
      <p:sp>
        <p:nvSpPr>
          <p:cNvPr id="7" name="Rectangle: Rounded Corners 6">
            <a:extLst>
              <a:ext uri="{FF2B5EF4-FFF2-40B4-BE49-F238E27FC236}">
                <a16:creationId xmlns:a16="http://schemas.microsoft.com/office/drawing/2014/main" id="{75E3E88B-00D2-4A4D-936E-380275D60EE6}"/>
              </a:ext>
            </a:extLst>
          </p:cNvPr>
          <p:cNvSpPr>
            <a:spLocks noGrp="1"/>
          </p:cNvSpPr>
          <p:nvPr/>
        </p:nvSpPr>
        <p:spPr>
          <a:xfrm>
            <a:off x="685800" y="1466850"/>
            <a:ext cx="4895850" cy="1676400"/>
          </a:xfrm>
          <a:prstGeom prst="roundRect">
            <a:avLst>
              <a:gd name="adj" fmla="val 6818"/>
            </a:avLst>
          </a:prstGeom>
          <a:solidFill>
            <a:srgbClr val="0B1220"/>
          </a:solidFill>
          <a:ln w="9525">
            <a:solidFill>
              <a:srgbClr val="0B1220"/>
            </a:solidFill>
            <a:prstDash val="solid"/>
          </a:ln>
        </p:spPr>
      </p:sp>
      <p:sp>
        <p:nvSpPr>
          <p:cNvPr id="8" name="Rectangle 7">
            <a:extLst>
              <a:ext uri="{FF2B5EF4-FFF2-40B4-BE49-F238E27FC236}">
                <a16:creationId xmlns:a16="http://schemas.microsoft.com/office/drawing/2014/main" id="{31230EA9-A024-4C19-95BF-1B36C36681D6}"/>
              </a:ext>
            </a:extLst>
          </p:cNvPr>
          <p:cNvSpPr>
            <a:spLocks noGrp="1"/>
          </p:cNvSpPr>
          <p:nvPr/>
        </p:nvSpPr>
        <p:spPr>
          <a:xfrm>
            <a:off x="857250" y="1619250"/>
            <a:ext cx="4552950" cy="1409700"/>
          </a:xfrm>
          <a:prstGeom prst="rect">
            <a:avLst/>
          </a:prstGeom>
          <a:noFill/>
          <a:ln w="0">
            <a:noFill/>
            <a:prstDash val="solid"/>
          </a:ln>
        </p:spPr>
        <p:txBody>
          <a:bodyPr/>
          <a:lstStyle/>
          <a:p>
            <a:pPr algn="l">
              <a:defRPr sz="1050" b="0">
                <a:solidFill>
                  <a:srgbClr val="E2E8F0"/>
                </a:solidFill>
              </a:defRPr>
            </a:pPr>
            <a:r>
              <a:rPr sz="1050" b="0">
                <a:solidFill>
                  <a:srgbClr val="E2E8F0"/>
                </a:solidFill>
              </a:rPr>
              <a:t>public class Course {</a:t>
            </a:r>
          </a:p>
          <a:p>
            <a:pPr algn="l">
              <a:defRPr sz="1050" b="0">
                <a:solidFill>
                  <a:srgbClr val="E2E8F0"/>
                </a:solidFill>
              </a:defRPr>
            </a:pPr>
            <a:r>
              <a:rPr sz="1050" b="0">
                <a:solidFill>
                  <a:srgbClr val="E2E8F0"/>
                </a:solidFill>
              </a:rPr>
              <a:t>    private List&lt;Schedule&gt; schedules = new ArrayList&lt;&gt;();</a:t>
            </a:r>
          </a:p>
          <a:p>
            <a:pPr algn="l">
              <a:defRPr sz="1050" b="0">
                <a:solidFill>
                  <a:srgbClr val="E2E8F0"/>
                </a:solidFill>
              </a:defRPr>
            </a:pPr>
            <a:r>
              <a:rPr sz="1050" b="0">
                <a:solidFill>
                  <a:srgbClr val="E2E8F0"/>
                </a:solidFill>
              </a:rPr>
              <a:t>}</a:t>
            </a:r>
          </a:p>
          <a:p>
            <a:endParaRPr sz="1050" b="0">
              <a:solidFill>
                <a:srgbClr val="E2E8F0"/>
              </a:solidFill>
            </a:endParaRPr>
          </a:p>
          <a:p>
            <a:pPr algn="l">
              <a:defRPr sz="1050" b="0">
                <a:solidFill>
                  <a:srgbClr val="E2E8F0"/>
                </a:solidFill>
              </a:defRPr>
            </a:pPr>
            <a:r>
              <a:rPr sz="1050" b="0">
                <a:solidFill>
                  <a:srgbClr val="E2E8F0"/>
                </a:solidFill>
              </a:rPr>
              <a:t>public final class RegistrationValidationContext {</a:t>
            </a:r>
          </a:p>
          <a:p>
            <a:pPr algn="l">
              <a:defRPr sz="1050" b="0">
                <a:solidFill>
                  <a:srgbClr val="E2E8F0"/>
                </a:solidFill>
              </a:defRPr>
            </a:pPr>
            <a:r>
              <a:rPr sz="1050" b="0">
                <a:solidFill>
                  <a:srgbClr val="E2E8F0"/>
                </a:solidFill>
              </a:rPr>
              <a:t>    private final List&lt;Course&gt; registeredCourses;</a:t>
            </a:r>
          </a:p>
          <a:p>
            <a:pPr algn="l">
              <a:defRPr sz="1050" b="0">
                <a:solidFill>
                  <a:srgbClr val="E2E8F0"/>
                </a:solidFill>
              </a:defRPr>
            </a:pPr>
            <a:r>
              <a:rPr sz="1050" b="0">
                <a:solidFill>
                  <a:srgbClr val="E2E8F0"/>
                </a:solidFill>
              </a:rPr>
              <a:t>}</a:t>
            </a:r>
          </a:p>
        </p:txBody>
      </p:sp>
      <p:sp>
        <p:nvSpPr>
          <p:cNvPr id="9" name="Rectangle: Rounded Corners 8">
            <a:extLst>
              <a:ext uri="{FF2B5EF4-FFF2-40B4-BE49-F238E27FC236}">
                <a16:creationId xmlns:a16="http://schemas.microsoft.com/office/drawing/2014/main" id="{ED79E225-6C16-4435-BBA5-4E487E01640B}"/>
              </a:ext>
            </a:extLst>
          </p:cNvPr>
          <p:cNvSpPr>
            <a:spLocks noGrp="1"/>
          </p:cNvSpPr>
          <p:nvPr/>
        </p:nvSpPr>
        <p:spPr>
          <a:xfrm>
            <a:off x="685800" y="3429000"/>
            <a:ext cx="4895850" cy="2400300"/>
          </a:xfrm>
          <a:prstGeom prst="roundRect">
            <a:avLst>
              <a:gd name="adj" fmla="val 4762"/>
            </a:avLst>
          </a:prstGeom>
          <a:solidFill>
            <a:srgbClr val="0B1220"/>
          </a:solidFill>
          <a:ln w="9525">
            <a:solidFill>
              <a:srgbClr val="0B1220"/>
            </a:solidFill>
            <a:prstDash val="solid"/>
          </a:ln>
        </p:spPr>
      </p:sp>
      <p:sp>
        <p:nvSpPr>
          <p:cNvPr id="10" name="Rectangle 9">
            <a:extLst>
              <a:ext uri="{FF2B5EF4-FFF2-40B4-BE49-F238E27FC236}">
                <a16:creationId xmlns:a16="http://schemas.microsoft.com/office/drawing/2014/main" id="{4A845715-6501-43BA-ACA5-641A090A640C}"/>
              </a:ext>
            </a:extLst>
          </p:cNvPr>
          <p:cNvSpPr>
            <a:spLocks noGrp="1"/>
          </p:cNvSpPr>
          <p:nvPr/>
        </p:nvSpPr>
        <p:spPr>
          <a:xfrm>
            <a:off x="857250" y="3581400"/>
            <a:ext cx="4552950" cy="2133600"/>
          </a:xfrm>
          <a:prstGeom prst="rect">
            <a:avLst/>
          </a:prstGeom>
          <a:noFill/>
          <a:ln w="0">
            <a:noFill/>
            <a:prstDash val="solid"/>
          </a:ln>
        </p:spPr>
        <p:txBody>
          <a:bodyPr/>
          <a:lstStyle/>
          <a:p>
            <a:pPr algn="l">
              <a:defRPr sz="1050" b="0">
                <a:solidFill>
                  <a:srgbClr val="E2E8F0"/>
                </a:solidFill>
              </a:defRPr>
            </a:pPr>
            <a:r>
              <a:rPr sz="1050" b="0">
                <a:solidFill>
                  <a:srgbClr val="E2E8F0"/>
                </a:solidFill>
              </a:rPr>
              <a:t>return registrationRepository.findByStudentId(studentId)</a:t>
            </a:r>
          </a:p>
          <a:p>
            <a:pPr algn="l">
              <a:defRPr sz="1050" b="0">
                <a:solidFill>
                  <a:srgbClr val="E2E8F0"/>
                </a:solidFill>
              </a:defRPr>
            </a:pPr>
            <a:r>
              <a:rPr sz="1050" b="0">
                <a:solidFill>
                  <a:srgbClr val="E2E8F0"/>
                </a:solidFill>
              </a:rPr>
              <a:t>    .stream()</a:t>
            </a:r>
          </a:p>
          <a:p>
            <a:pPr algn="l">
              <a:defRPr sz="1050" b="0">
                <a:solidFill>
                  <a:srgbClr val="E2E8F0"/>
                </a:solidFill>
              </a:defRPr>
            </a:pPr>
            <a:r>
              <a:rPr sz="1050" b="0">
                <a:solidFill>
                  <a:srgbClr val="E2E8F0"/>
                </a:solidFill>
              </a:rPr>
              <a:t>    .filter(registration -&gt;</a:t>
            </a:r>
          </a:p>
          <a:p>
            <a:pPr algn="l">
              <a:defRPr sz="1050" b="0">
                <a:solidFill>
                  <a:srgbClr val="E2E8F0"/>
                </a:solidFill>
              </a:defRPr>
            </a:pPr>
            <a:r>
              <a:rPr sz="1050" b="0">
                <a:solidFill>
                  <a:srgbClr val="E2E8F0"/>
                </a:solidFill>
              </a:rPr>
              <a:t>        RegistrationStatus.ACTIVE == registration.getStatus())</a:t>
            </a:r>
          </a:p>
          <a:p>
            <a:pPr algn="l">
              <a:defRPr sz="1050" b="0">
                <a:solidFill>
                  <a:srgbClr val="E2E8F0"/>
                </a:solidFill>
              </a:defRPr>
            </a:pPr>
            <a:r>
              <a:rPr sz="1050" b="0">
                <a:solidFill>
                  <a:srgbClr val="E2E8F0"/>
                </a:solidFill>
              </a:rPr>
              <a:t>    .toList();</a:t>
            </a:r>
          </a:p>
          <a:p>
            <a:endParaRPr sz="1050" b="0">
              <a:solidFill>
                <a:srgbClr val="E2E8F0"/>
              </a:solidFill>
            </a:endParaRPr>
          </a:p>
          <a:p>
            <a:pPr algn="l">
              <a:defRPr sz="1050" b="0">
                <a:solidFill>
                  <a:srgbClr val="E2E8F0"/>
                </a:solidFill>
              </a:defRPr>
            </a:pPr>
            <a:r>
              <a:rPr sz="1050" b="0">
                <a:solidFill>
                  <a:srgbClr val="E2E8F0"/>
                </a:solidFill>
              </a:rPr>
              <a:t>return findActiveRegistration(studentId)</a:t>
            </a:r>
          </a:p>
          <a:p>
            <a:pPr algn="l">
              <a:defRPr sz="1050" b="0">
                <a:solidFill>
                  <a:srgbClr val="E2E8F0"/>
                </a:solidFill>
              </a:defRPr>
            </a:pPr>
            <a:r>
              <a:rPr sz="1050" b="0">
                <a:solidFill>
                  <a:srgbClr val="E2E8F0"/>
                </a:solidFill>
              </a:rPr>
              <a:t>    .map(this::resolveRegisteredCourses)</a:t>
            </a:r>
          </a:p>
          <a:p>
            <a:pPr algn="l">
              <a:defRPr sz="1050" b="0">
                <a:solidFill>
                  <a:srgbClr val="E2E8F0"/>
                </a:solidFill>
              </a:defRPr>
            </a:pPr>
            <a:r>
              <a:rPr sz="1050" b="0">
                <a:solidFill>
                  <a:srgbClr val="E2E8F0"/>
                </a:solidFill>
              </a:rPr>
              <a:t>    .orElseGet(List::of)</a:t>
            </a:r>
          </a:p>
          <a:p>
            <a:pPr algn="l">
              <a:defRPr sz="1050" b="0">
                <a:solidFill>
                  <a:srgbClr val="E2E8F0"/>
                </a:solidFill>
              </a:defRPr>
            </a:pPr>
            <a:r>
              <a:rPr sz="1050" b="0">
                <a:solidFill>
                  <a:srgbClr val="E2E8F0"/>
                </a:solidFill>
              </a:rPr>
              <a:t>    .stream()</a:t>
            </a:r>
          </a:p>
          <a:p>
            <a:pPr algn="l">
              <a:defRPr sz="1050" b="0">
                <a:solidFill>
                  <a:srgbClr val="E2E8F0"/>
                </a:solidFill>
              </a:defRPr>
            </a:pPr>
            <a:r>
              <a:rPr sz="1050" b="0">
                <a:solidFill>
                  <a:srgbClr val="E2E8F0"/>
                </a:solidFill>
              </a:rPr>
              <a:t>    .mapToInt(Course::getCredits)</a:t>
            </a:r>
          </a:p>
          <a:p>
            <a:pPr algn="l">
              <a:defRPr sz="1050" b="0">
                <a:solidFill>
                  <a:srgbClr val="E2E8F0"/>
                </a:solidFill>
              </a:defRPr>
            </a:pPr>
            <a:r>
              <a:rPr sz="1050" b="0">
                <a:solidFill>
                  <a:srgbClr val="E2E8F0"/>
                </a:solidFill>
              </a:rPr>
              <a:t>    .sum();</a:t>
            </a:r>
          </a:p>
        </p:txBody>
      </p:sp>
      <p:sp>
        <p:nvSpPr>
          <p:cNvPr id="11" name="Rectangle: Rounded Corners 10">
            <a:extLst>
              <a:ext uri="{FF2B5EF4-FFF2-40B4-BE49-F238E27FC236}">
                <a16:creationId xmlns:a16="http://schemas.microsoft.com/office/drawing/2014/main" id="{9A99AFBA-CA1C-449D-905D-4C918AD4B6E3}"/>
              </a:ext>
            </a:extLst>
          </p:cNvPr>
          <p:cNvSpPr>
            <a:spLocks noGrp="1"/>
          </p:cNvSpPr>
          <p:nvPr/>
        </p:nvSpPr>
        <p:spPr>
          <a:xfrm>
            <a:off x="6153150" y="1466850"/>
            <a:ext cx="4762500" cy="1085850"/>
          </a:xfrm>
          <a:prstGeom prst="roundRect">
            <a:avLst>
              <a:gd name="adj" fmla="val 10526"/>
            </a:avLst>
          </a:prstGeom>
          <a:solidFill>
            <a:srgbClr val="FFFFFF"/>
          </a:solidFill>
          <a:ln w="9525">
            <a:solidFill>
              <a:srgbClr val="DDE7F3"/>
            </a:solidFill>
            <a:prstDash val="solid"/>
          </a:ln>
        </p:spPr>
      </p:sp>
      <p:sp>
        <p:nvSpPr>
          <p:cNvPr id="12" name="Rectangle 11">
            <a:extLst>
              <a:ext uri="{FF2B5EF4-FFF2-40B4-BE49-F238E27FC236}">
                <a16:creationId xmlns:a16="http://schemas.microsoft.com/office/drawing/2014/main" id="{7F401E37-EB09-4DF0-97C4-7B65561F7AE6}"/>
              </a:ext>
            </a:extLst>
          </p:cNvPr>
          <p:cNvSpPr>
            <a:spLocks noGrp="1"/>
          </p:cNvSpPr>
          <p:nvPr/>
        </p:nvSpPr>
        <p:spPr>
          <a:xfrm>
            <a:off x="6153150" y="1466850"/>
            <a:ext cx="66675" cy="1085850"/>
          </a:xfrm>
          <a:prstGeom prst="rect">
            <a:avLst/>
          </a:prstGeom>
          <a:solidFill>
            <a:srgbClr val="0B5FFF"/>
          </a:solidFill>
          <a:ln w="9525">
            <a:solidFill>
              <a:srgbClr val="0B5FFF"/>
            </a:solidFill>
            <a:prstDash val="solid"/>
          </a:ln>
        </p:spPr>
      </p:sp>
      <p:sp>
        <p:nvSpPr>
          <p:cNvPr id="13" name="Rectangle 12">
            <a:extLst>
              <a:ext uri="{FF2B5EF4-FFF2-40B4-BE49-F238E27FC236}">
                <a16:creationId xmlns:a16="http://schemas.microsoft.com/office/drawing/2014/main" id="{D6706BFB-8ABA-42D8-91A9-0ABCF96BF154}"/>
              </a:ext>
            </a:extLst>
          </p:cNvPr>
          <p:cNvSpPr>
            <a:spLocks noGrp="1"/>
          </p:cNvSpPr>
          <p:nvPr/>
        </p:nvSpPr>
        <p:spPr>
          <a:xfrm>
            <a:off x="6381750" y="1638300"/>
            <a:ext cx="43053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List</a:t>
            </a:r>
          </a:p>
        </p:txBody>
      </p:sp>
      <p:sp>
        <p:nvSpPr>
          <p:cNvPr id="14" name="Rectangle 13">
            <a:extLst>
              <a:ext uri="{FF2B5EF4-FFF2-40B4-BE49-F238E27FC236}">
                <a16:creationId xmlns:a16="http://schemas.microsoft.com/office/drawing/2014/main" id="{352590FF-FFD7-4EAE-971B-57685102756A}"/>
              </a:ext>
            </a:extLst>
          </p:cNvPr>
          <p:cNvSpPr>
            <a:spLocks noGrp="1"/>
          </p:cNvSpPr>
          <p:nvPr/>
        </p:nvSpPr>
        <p:spPr>
          <a:xfrm>
            <a:off x="6381750" y="1981200"/>
            <a:ext cx="4305300" cy="419100"/>
          </a:xfrm>
          <a:prstGeom prst="rect">
            <a:avLst/>
          </a:prstGeom>
          <a:noFill/>
          <a:ln w="0">
            <a:noFill/>
            <a:prstDash val="solid"/>
          </a:ln>
        </p:spPr>
        <p:txBody>
          <a:bodyPr/>
          <a:lstStyle/>
          <a:p>
            <a:pPr algn="l">
              <a:defRPr sz="1200" b="0">
                <a:solidFill>
                  <a:srgbClr val="64748B"/>
                </a:solidFill>
              </a:defRPr>
            </a:pPr>
            <a:r>
              <a:rPr sz="1200" b="0">
                <a:solidFill>
                  <a:srgbClr val="64748B"/>
                </a:solidFill>
              </a:rPr>
              <a:t>Dùng cho danh sách lịch học của một môn, danh sách môn đã đăng ký, danh sách validator và danh sách bản ghi JSON.</a:t>
            </a:r>
          </a:p>
        </p:txBody>
      </p:sp>
      <p:sp>
        <p:nvSpPr>
          <p:cNvPr id="15" name="Rectangle: Rounded Corners 14">
            <a:extLst>
              <a:ext uri="{FF2B5EF4-FFF2-40B4-BE49-F238E27FC236}">
                <a16:creationId xmlns:a16="http://schemas.microsoft.com/office/drawing/2014/main" id="{53FF2EDB-1B1C-438D-ACFA-224DC8382466}"/>
              </a:ext>
            </a:extLst>
          </p:cNvPr>
          <p:cNvSpPr>
            <a:spLocks noGrp="1"/>
          </p:cNvSpPr>
          <p:nvPr/>
        </p:nvSpPr>
        <p:spPr>
          <a:xfrm>
            <a:off x="6153150" y="2857500"/>
            <a:ext cx="4762500" cy="1085850"/>
          </a:xfrm>
          <a:prstGeom prst="roundRect">
            <a:avLst>
              <a:gd name="adj" fmla="val 10526"/>
            </a:avLst>
          </a:prstGeom>
          <a:solidFill>
            <a:srgbClr val="FFFFFF"/>
          </a:solidFill>
          <a:ln w="9525">
            <a:solidFill>
              <a:srgbClr val="DDE7F3"/>
            </a:solidFill>
            <a:prstDash val="solid"/>
          </a:ln>
        </p:spPr>
      </p:sp>
      <p:sp>
        <p:nvSpPr>
          <p:cNvPr id="16" name="Rectangle 15">
            <a:extLst>
              <a:ext uri="{FF2B5EF4-FFF2-40B4-BE49-F238E27FC236}">
                <a16:creationId xmlns:a16="http://schemas.microsoft.com/office/drawing/2014/main" id="{78D78B06-1EF2-4BC9-8F7C-B0C0258F2156}"/>
              </a:ext>
            </a:extLst>
          </p:cNvPr>
          <p:cNvSpPr>
            <a:spLocks noGrp="1"/>
          </p:cNvSpPr>
          <p:nvPr/>
        </p:nvSpPr>
        <p:spPr>
          <a:xfrm>
            <a:off x="6153150" y="2857500"/>
            <a:ext cx="66675" cy="1085850"/>
          </a:xfrm>
          <a:prstGeom prst="rect">
            <a:avLst/>
          </a:prstGeom>
          <a:solidFill>
            <a:srgbClr val="16A34A"/>
          </a:solidFill>
          <a:ln w="9525">
            <a:solidFill>
              <a:srgbClr val="16A34A"/>
            </a:solidFill>
            <a:prstDash val="solid"/>
          </a:ln>
        </p:spPr>
      </p:sp>
      <p:sp>
        <p:nvSpPr>
          <p:cNvPr id="17" name="Rectangle 16">
            <a:extLst>
              <a:ext uri="{FF2B5EF4-FFF2-40B4-BE49-F238E27FC236}">
                <a16:creationId xmlns:a16="http://schemas.microsoft.com/office/drawing/2014/main" id="{9C46EA9F-3501-4252-BF5B-EAE731E2223D}"/>
              </a:ext>
            </a:extLst>
          </p:cNvPr>
          <p:cNvSpPr>
            <a:spLocks noGrp="1"/>
          </p:cNvSpPr>
          <p:nvPr/>
        </p:nvSpPr>
        <p:spPr>
          <a:xfrm>
            <a:off x="6381750" y="3028950"/>
            <a:ext cx="43053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Optional</a:t>
            </a:r>
          </a:p>
        </p:txBody>
      </p:sp>
      <p:sp>
        <p:nvSpPr>
          <p:cNvPr id="18" name="Rectangle 17">
            <a:extLst>
              <a:ext uri="{FF2B5EF4-FFF2-40B4-BE49-F238E27FC236}">
                <a16:creationId xmlns:a16="http://schemas.microsoft.com/office/drawing/2014/main" id="{7C6E9778-7DF4-4627-9C4E-7D3A8C3E2299}"/>
              </a:ext>
            </a:extLst>
          </p:cNvPr>
          <p:cNvSpPr>
            <a:spLocks noGrp="1"/>
          </p:cNvSpPr>
          <p:nvPr/>
        </p:nvSpPr>
        <p:spPr>
          <a:xfrm>
            <a:off x="6381750" y="3371850"/>
            <a:ext cx="4305300" cy="419100"/>
          </a:xfrm>
          <a:prstGeom prst="rect">
            <a:avLst/>
          </a:prstGeom>
          <a:noFill/>
          <a:ln w="0">
            <a:noFill/>
            <a:prstDash val="solid"/>
          </a:ln>
        </p:spPr>
        <p:txBody>
          <a:bodyPr/>
          <a:lstStyle/>
          <a:p>
            <a:pPr algn="l">
              <a:defRPr sz="1200" b="0">
                <a:solidFill>
                  <a:srgbClr val="64748B"/>
                </a:solidFill>
              </a:defRPr>
            </a:pPr>
            <a:r>
              <a:rPr sz="1200" b="0">
                <a:solidFill>
                  <a:srgbClr val="64748B"/>
                </a:solidFill>
              </a:rPr>
              <a:t>Dùng khi tìm môn hoặc đăng ký có thể có hoặc không, giúp service xử lý rõ ràng thay vì dùng null.</a:t>
            </a:r>
          </a:p>
        </p:txBody>
      </p:sp>
      <p:sp>
        <p:nvSpPr>
          <p:cNvPr id="19" name="Rectangle: Rounded Corners 18">
            <a:extLst>
              <a:ext uri="{FF2B5EF4-FFF2-40B4-BE49-F238E27FC236}">
                <a16:creationId xmlns:a16="http://schemas.microsoft.com/office/drawing/2014/main" id="{B42D46B9-EC05-4763-A7B7-35D7129074DB}"/>
              </a:ext>
            </a:extLst>
          </p:cNvPr>
          <p:cNvSpPr>
            <a:spLocks noGrp="1"/>
          </p:cNvSpPr>
          <p:nvPr/>
        </p:nvSpPr>
        <p:spPr>
          <a:xfrm>
            <a:off x="6153150" y="4248150"/>
            <a:ext cx="4762500" cy="1085850"/>
          </a:xfrm>
          <a:prstGeom prst="roundRect">
            <a:avLst>
              <a:gd name="adj" fmla="val 10526"/>
            </a:avLst>
          </a:prstGeom>
          <a:solidFill>
            <a:srgbClr val="FFFFFF"/>
          </a:solidFill>
          <a:ln w="9525">
            <a:solidFill>
              <a:srgbClr val="DDE7F3"/>
            </a:solidFill>
            <a:prstDash val="solid"/>
          </a:ln>
        </p:spPr>
      </p:sp>
      <p:sp>
        <p:nvSpPr>
          <p:cNvPr id="20" name="Rectangle 19">
            <a:extLst>
              <a:ext uri="{FF2B5EF4-FFF2-40B4-BE49-F238E27FC236}">
                <a16:creationId xmlns:a16="http://schemas.microsoft.com/office/drawing/2014/main" id="{A9BBB0DD-CC5D-4489-8CBB-1488360FFA7A}"/>
              </a:ext>
            </a:extLst>
          </p:cNvPr>
          <p:cNvSpPr>
            <a:spLocks noGrp="1"/>
          </p:cNvSpPr>
          <p:nvPr/>
        </p:nvSpPr>
        <p:spPr>
          <a:xfrm>
            <a:off x="6153150" y="4248150"/>
            <a:ext cx="66675" cy="1085850"/>
          </a:xfrm>
          <a:prstGeom prst="rect">
            <a:avLst/>
          </a:prstGeom>
          <a:solidFill>
            <a:srgbClr val="D97706"/>
          </a:solidFill>
          <a:ln w="9525">
            <a:solidFill>
              <a:srgbClr val="D97706"/>
            </a:solidFill>
            <a:prstDash val="solid"/>
          </a:ln>
        </p:spPr>
      </p:sp>
      <p:sp>
        <p:nvSpPr>
          <p:cNvPr id="21" name="Rectangle 20">
            <a:extLst>
              <a:ext uri="{FF2B5EF4-FFF2-40B4-BE49-F238E27FC236}">
                <a16:creationId xmlns:a16="http://schemas.microsoft.com/office/drawing/2014/main" id="{1C922270-E14B-43D8-99D8-4BDE58BAA1E0}"/>
              </a:ext>
            </a:extLst>
          </p:cNvPr>
          <p:cNvSpPr>
            <a:spLocks noGrp="1"/>
          </p:cNvSpPr>
          <p:nvPr/>
        </p:nvSpPr>
        <p:spPr>
          <a:xfrm>
            <a:off x="6381750" y="4419600"/>
            <a:ext cx="43053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Stream</a:t>
            </a:r>
          </a:p>
        </p:txBody>
      </p:sp>
      <p:sp>
        <p:nvSpPr>
          <p:cNvPr id="22" name="Rectangle 21">
            <a:extLst>
              <a:ext uri="{FF2B5EF4-FFF2-40B4-BE49-F238E27FC236}">
                <a16:creationId xmlns:a16="http://schemas.microsoft.com/office/drawing/2014/main" id="{144997FD-8C9E-4A0C-847C-B12E62945177}"/>
              </a:ext>
            </a:extLst>
          </p:cNvPr>
          <p:cNvSpPr>
            <a:spLocks noGrp="1"/>
          </p:cNvSpPr>
          <p:nvPr/>
        </p:nvSpPr>
        <p:spPr>
          <a:xfrm>
            <a:off x="6381750" y="4762500"/>
            <a:ext cx="4305300" cy="419100"/>
          </a:xfrm>
          <a:prstGeom prst="rect">
            <a:avLst/>
          </a:prstGeom>
          <a:noFill/>
          <a:ln w="0">
            <a:noFill/>
            <a:prstDash val="solid"/>
          </a:ln>
        </p:spPr>
        <p:txBody>
          <a:bodyPr/>
          <a:lstStyle/>
          <a:p>
            <a:pPr algn="l">
              <a:defRPr sz="1200" b="0">
                <a:solidFill>
                  <a:srgbClr val="64748B"/>
                </a:solidFill>
              </a:defRPr>
            </a:pPr>
            <a:r>
              <a:rPr sz="1200" b="0">
                <a:solidFill>
                  <a:srgbClr val="64748B"/>
                </a:solidFill>
              </a:rPr>
              <a:t>Dùng để lọc đăng ký active, tính tổng tín chỉ, tìm môn theo mã và chuyển dữ liệu sang response.</a:t>
            </a:r>
          </a:p>
        </p:txBody>
      </p:sp>
    </p:spTree>
    <p:extLst>
      <p:ext uri="{BB962C8B-B14F-4D97-AF65-F5344CB8AC3E}">
        <p14:creationId xmlns:p14="http://schemas.microsoft.com/office/powerpoint/2010/main" val="238460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1374C7F-1CAC-405B-A773-9AFC76F1F2C5}"/>
              </a:ext>
            </a:extLst>
          </p:cNvPr>
          <p:cNvSpPr>
            <a:spLocks noGrp="1"/>
          </p:cNvSpPr>
          <p:nvPr/>
        </p:nvSpPr>
        <p:spPr>
          <a:xfrm>
            <a:off x="0" y="0"/>
            <a:ext cx="12192000" cy="6858000"/>
          </a:xfrm>
          <a:prstGeom prst="rect">
            <a:avLst/>
          </a:prstGeom>
          <a:solidFill>
            <a:srgbClr val="F8FBFF"/>
          </a:solidFill>
          <a:ln w="0">
            <a:noFill/>
            <a:prstDash val="solid"/>
          </a:ln>
        </p:spPr>
      </p:sp>
      <p:sp>
        <p:nvSpPr>
          <p:cNvPr id="2" name="Rectangle 1">
            <a:extLst>
              <a:ext uri="{FF2B5EF4-FFF2-40B4-BE49-F238E27FC236}">
                <a16:creationId xmlns:a16="http://schemas.microsoft.com/office/drawing/2014/main" id="{EB11FCC8-62A0-4530-9AFA-E9DB2E993D99}"/>
              </a:ext>
            </a:extLst>
          </p:cNvPr>
          <p:cNvSpPr>
            <a:spLocks noGrp="1"/>
          </p:cNvSpPr>
          <p:nvPr/>
        </p:nvSpPr>
        <p:spPr>
          <a:xfrm>
            <a:off x="609600" y="323850"/>
            <a:ext cx="7239000" cy="266700"/>
          </a:xfrm>
          <a:prstGeom prst="rect">
            <a:avLst/>
          </a:prstGeom>
          <a:noFill/>
          <a:ln w="0">
            <a:noFill/>
            <a:prstDash val="solid"/>
          </a:ln>
        </p:spPr>
        <p:txBody>
          <a:bodyPr/>
          <a:lstStyle/>
          <a:p>
            <a:pPr algn="l">
              <a:defRPr sz="1050" b="1">
                <a:solidFill>
                  <a:srgbClr val="0B5FFF"/>
                </a:solidFill>
              </a:defRPr>
            </a:pPr>
            <a:r>
              <a:rPr sz="1050" b="1">
                <a:solidFill>
                  <a:srgbClr val="0B5FFF"/>
                </a:solidFill>
              </a:rPr>
              <a:t>THIẾT KẾ OOP | Minh chứng từ source</a:t>
            </a:r>
          </a:p>
        </p:txBody>
      </p:sp>
      <p:sp>
        <p:nvSpPr>
          <p:cNvPr id="3" name="Rectangle 2">
            <a:extLst>
              <a:ext uri="{FF2B5EF4-FFF2-40B4-BE49-F238E27FC236}">
                <a16:creationId xmlns:a16="http://schemas.microsoft.com/office/drawing/2014/main" id="{C3F719B6-FD76-402C-A046-FB25FC90164C}"/>
              </a:ext>
            </a:extLst>
          </p:cNvPr>
          <p:cNvSpPr>
            <a:spLocks noGrp="1"/>
          </p:cNvSpPr>
          <p:nvPr/>
        </p:nvSpPr>
        <p:spPr>
          <a:xfrm>
            <a:off x="609600" y="628650"/>
            <a:ext cx="10096500" cy="533400"/>
          </a:xfrm>
          <a:prstGeom prst="rect">
            <a:avLst/>
          </a:prstGeom>
          <a:noFill/>
          <a:ln w="0">
            <a:noFill/>
            <a:prstDash val="solid"/>
          </a:ln>
        </p:spPr>
        <p:txBody>
          <a:bodyPr/>
          <a:lstStyle/>
          <a:p>
            <a:pPr algn="l">
              <a:defRPr sz="2550" b="1">
                <a:solidFill>
                  <a:srgbClr val="0F172A"/>
                </a:solidFill>
              </a:defRPr>
            </a:pPr>
            <a:r>
              <a:rPr sz="2550" b="1">
                <a:solidFill>
                  <a:srgbClr val="0F172A"/>
                </a:solidFill>
              </a:rPr>
              <a:t>Exception Handling thống nhất qua REST API</a:t>
            </a:r>
          </a:p>
        </p:txBody>
      </p:sp>
      <p:sp>
        <p:nvSpPr>
          <p:cNvPr id="4" name="Straight Connector 3">
            <a:extLst>
              <a:ext uri="{FF2B5EF4-FFF2-40B4-BE49-F238E27FC236}">
                <a16:creationId xmlns:a16="http://schemas.microsoft.com/office/drawing/2014/main" id="{3592BB9E-24FD-4697-BA2E-66E8D3E67BFD}"/>
              </a:ext>
            </a:extLst>
          </p:cNvPr>
          <p:cNvSpPr>
            <a:spLocks noGrp="1"/>
          </p:cNvSpPr>
          <p:nvPr/>
        </p:nvSpPr>
        <p:spPr>
          <a:xfrm>
            <a:off x="609600" y="1257300"/>
            <a:ext cx="10972800" cy="0"/>
          </a:xfrm>
          <a:prstGeom prst="line">
            <a:avLst/>
          </a:prstGeom>
          <a:noFill/>
          <a:ln w="9525">
            <a:solidFill>
              <a:srgbClr val="DDE7F3"/>
            </a:solidFill>
            <a:prstDash val="solid"/>
          </a:ln>
        </p:spPr>
      </p:sp>
      <p:sp>
        <p:nvSpPr>
          <p:cNvPr id="5" name="Rectangle 4">
            <a:extLst>
              <a:ext uri="{FF2B5EF4-FFF2-40B4-BE49-F238E27FC236}">
                <a16:creationId xmlns:a16="http://schemas.microsoft.com/office/drawing/2014/main" id="{27073E57-DA05-43B8-8794-E360FC7055D3}"/>
              </a:ext>
            </a:extLst>
          </p:cNvPr>
          <p:cNvSpPr>
            <a:spLocks noGrp="1"/>
          </p:cNvSpPr>
          <p:nvPr/>
        </p:nvSpPr>
        <p:spPr>
          <a:xfrm>
            <a:off x="609600" y="6457950"/>
            <a:ext cx="4953000" cy="209550"/>
          </a:xfrm>
          <a:prstGeom prst="rect">
            <a:avLst/>
          </a:prstGeom>
          <a:noFill/>
          <a:ln w="0">
            <a:noFill/>
            <a:prstDash val="solid"/>
          </a:ln>
        </p:spPr>
        <p:txBody>
          <a:bodyPr/>
          <a:lstStyle/>
          <a:p>
            <a:pPr algn="l">
              <a:defRPr sz="900" b="0">
                <a:solidFill>
                  <a:srgbClr val="94A3B8"/>
                </a:solidFill>
              </a:defRPr>
            </a:pPr>
            <a:r>
              <a:rPr sz="900" b="0">
                <a:solidFill>
                  <a:srgbClr val="94A3B8"/>
                </a:solidFill>
              </a:rPr>
              <a:t>Nhóm 2 - Phenikaa University</a:t>
            </a:r>
          </a:p>
        </p:txBody>
      </p:sp>
      <p:sp>
        <p:nvSpPr>
          <p:cNvPr id="6" name="Rectangle 5">
            <a:extLst>
              <a:ext uri="{FF2B5EF4-FFF2-40B4-BE49-F238E27FC236}">
                <a16:creationId xmlns:a16="http://schemas.microsoft.com/office/drawing/2014/main" id="{88A23EA9-8A05-4C71-9026-3D8B7386888C}"/>
              </a:ext>
            </a:extLst>
          </p:cNvPr>
          <p:cNvSpPr>
            <a:spLocks noGrp="1"/>
          </p:cNvSpPr>
          <p:nvPr/>
        </p:nvSpPr>
        <p:spPr>
          <a:xfrm>
            <a:off x="10382250" y="6457950"/>
            <a:ext cx="1200150" cy="209550"/>
          </a:xfrm>
          <a:prstGeom prst="rect">
            <a:avLst/>
          </a:prstGeom>
          <a:noFill/>
          <a:ln w="0">
            <a:noFill/>
            <a:prstDash val="solid"/>
          </a:ln>
        </p:spPr>
        <p:txBody>
          <a:bodyPr/>
          <a:lstStyle/>
          <a:p>
            <a:pPr algn="r">
              <a:defRPr sz="900" b="0">
                <a:solidFill>
                  <a:srgbClr val="94A3B8"/>
                </a:solidFill>
              </a:defRPr>
            </a:pPr>
            <a:r>
              <a:rPr sz="900" b="0">
                <a:solidFill>
                  <a:srgbClr val="94A3B8"/>
                </a:solidFill>
              </a:rPr>
              <a:t>06E</a:t>
            </a:r>
          </a:p>
        </p:txBody>
      </p:sp>
      <p:sp>
        <p:nvSpPr>
          <p:cNvPr id="7" name="Rectangle: Rounded Corners 6">
            <a:extLst>
              <a:ext uri="{FF2B5EF4-FFF2-40B4-BE49-F238E27FC236}">
                <a16:creationId xmlns:a16="http://schemas.microsoft.com/office/drawing/2014/main" id="{9858B611-1A43-4430-9417-9718628D7100}"/>
              </a:ext>
            </a:extLst>
          </p:cNvPr>
          <p:cNvSpPr>
            <a:spLocks noGrp="1"/>
          </p:cNvSpPr>
          <p:nvPr/>
        </p:nvSpPr>
        <p:spPr>
          <a:xfrm>
            <a:off x="666750" y="1466850"/>
            <a:ext cx="4953000" cy="2381250"/>
          </a:xfrm>
          <a:prstGeom prst="roundRect">
            <a:avLst>
              <a:gd name="adj" fmla="val 4800"/>
            </a:avLst>
          </a:prstGeom>
          <a:solidFill>
            <a:srgbClr val="0B1220"/>
          </a:solidFill>
          <a:ln w="9525">
            <a:solidFill>
              <a:srgbClr val="0B1220"/>
            </a:solidFill>
            <a:prstDash val="solid"/>
          </a:ln>
        </p:spPr>
      </p:sp>
      <p:sp>
        <p:nvSpPr>
          <p:cNvPr id="8" name="Rectangle 7">
            <a:extLst>
              <a:ext uri="{FF2B5EF4-FFF2-40B4-BE49-F238E27FC236}">
                <a16:creationId xmlns:a16="http://schemas.microsoft.com/office/drawing/2014/main" id="{628DD22D-DBDE-4CB2-974D-89A552D78FF9}"/>
              </a:ext>
            </a:extLst>
          </p:cNvPr>
          <p:cNvSpPr>
            <a:spLocks noGrp="1"/>
          </p:cNvSpPr>
          <p:nvPr/>
        </p:nvSpPr>
        <p:spPr>
          <a:xfrm>
            <a:off x="838200" y="1619250"/>
            <a:ext cx="4610100" cy="2114550"/>
          </a:xfrm>
          <a:prstGeom prst="rect">
            <a:avLst/>
          </a:prstGeom>
          <a:noFill/>
          <a:ln w="0">
            <a:noFill/>
            <a:prstDash val="solid"/>
          </a:ln>
        </p:spPr>
        <p:txBody>
          <a:bodyPr/>
          <a:lstStyle/>
          <a:p>
            <a:pPr algn="l">
              <a:defRPr sz="1050" b="0">
                <a:solidFill>
                  <a:srgbClr val="E2E8F0"/>
                </a:solidFill>
              </a:defRPr>
            </a:pPr>
            <a:r>
              <a:rPr sz="1050" b="0">
                <a:solidFill>
                  <a:srgbClr val="E2E8F0"/>
                </a:solidFill>
              </a:rPr>
              <a:t>public class BusinessException extends RuntimeException {</a:t>
            </a:r>
          </a:p>
          <a:p>
            <a:pPr algn="l">
              <a:defRPr sz="1050" b="0">
                <a:solidFill>
                  <a:srgbClr val="E2E8F0"/>
                </a:solidFill>
              </a:defRPr>
            </a:pPr>
            <a:r>
              <a:rPr sz="1050" b="0">
                <a:solidFill>
                  <a:srgbClr val="E2E8F0"/>
                </a:solidFill>
              </a:rPr>
              <a:t>    private final String errorCode;</a:t>
            </a:r>
          </a:p>
          <a:p>
            <a:endParaRPr sz="1050" b="0">
              <a:solidFill>
                <a:srgbClr val="E2E8F0"/>
              </a:solidFill>
            </a:endParaRPr>
          </a:p>
          <a:p>
            <a:pPr algn="l">
              <a:defRPr sz="1050" b="0">
                <a:solidFill>
                  <a:srgbClr val="E2E8F0"/>
                </a:solidFill>
              </a:defRPr>
            </a:pPr>
            <a:r>
              <a:rPr sz="1050" b="0">
                <a:solidFill>
                  <a:srgbClr val="E2E8F0"/>
                </a:solidFill>
              </a:rPr>
              <a:t>    public BusinessException(String errorCode, String message) {</a:t>
            </a:r>
          </a:p>
          <a:p>
            <a:pPr algn="l">
              <a:defRPr sz="1050" b="0">
                <a:solidFill>
                  <a:srgbClr val="E2E8F0"/>
                </a:solidFill>
              </a:defRPr>
            </a:pPr>
            <a:r>
              <a:rPr sz="1050" b="0">
                <a:solidFill>
                  <a:srgbClr val="E2E8F0"/>
                </a:solidFill>
              </a:rPr>
              <a:t>        super(message);</a:t>
            </a:r>
          </a:p>
          <a:p>
            <a:pPr algn="l">
              <a:defRPr sz="1050" b="0">
                <a:solidFill>
                  <a:srgbClr val="E2E8F0"/>
                </a:solidFill>
              </a:defRPr>
            </a:pPr>
            <a:r>
              <a:rPr sz="1050" b="0">
                <a:solidFill>
                  <a:srgbClr val="E2E8F0"/>
                </a:solidFill>
              </a:rPr>
              <a:t>        this.errorCode = errorCode;</a:t>
            </a:r>
          </a:p>
          <a:p>
            <a:pPr algn="l">
              <a:defRPr sz="1050" b="0">
                <a:solidFill>
                  <a:srgbClr val="E2E8F0"/>
                </a:solidFill>
              </a:defRPr>
            </a:pPr>
            <a:r>
              <a:rPr sz="1050" b="0">
                <a:solidFill>
                  <a:srgbClr val="E2E8F0"/>
                </a:solidFill>
              </a:rPr>
              <a:t>    }</a:t>
            </a:r>
          </a:p>
          <a:p>
            <a:endParaRPr sz="1050" b="0">
              <a:solidFill>
                <a:srgbClr val="E2E8F0"/>
              </a:solidFill>
            </a:endParaRPr>
          </a:p>
          <a:p>
            <a:pPr algn="l">
              <a:defRPr sz="1050" b="0">
                <a:solidFill>
                  <a:srgbClr val="E2E8F0"/>
                </a:solidFill>
              </a:defRPr>
            </a:pPr>
            <a:r>
              <a:rPr sz="1050" b="0">
                <a:solidFill>
                  <a:srgbClr val="E2E8F0"/>
                </a:solidFill>
              </a:rPr>
              <a:t>    public String getErrorCode() { return errorCode; }</a:t>
            </a:r>
          </a:p>
          <a:p>
            <a:pPr algn="l">
              <a:defRPr sz="1050" b="0">
                <a:solidFill>
                  <a:srgbClr val="E2E8F0"/>
                </a:solidFill>
              </a:defRPr>
            </a:pPr>
            <a:r>
              <a:rPr sz="1050" b="0">
                <a:solidFill>
                  <a:srgbClr val="E2E8F0"/>
                </a:solidFill>
              </a:rPr>
              <a:t>}</a:t>
            </a:r>
          </a:p>
        </p:txBody>
      </p:sp>
      <p:sp>
        <p:nvSpPr>
          <p:cNvPr id="9" name="Rectangle: Rounded Corners 8">
            <a:extLst>
              <a:ext uri="{FF2B5EF4-FFF2-40B4-BE49-F238E27FC236}">
                <a16:creationId xmlns:a16="http://schemas.microsoft.com/office/drawing/2014/main" id="{C8520B51-9942-472A-B083-75FD13044AF1}"/>
              </a:ext>
            </a:extLst>
          </p:cNvPr>
          <p:cNvSpPr>
            <a:spLocks noGrp="1"/>
          </p:cNvSpPr>
          <p:nvPr/>
        </p:nvSpPr>
        <p:spPr>
          <a:xfrm>
            <a:off x="666750" y="4095750"/>
            <a:ext cx="4953000" cy="1828800"/>
          </a:xfrm>
          <a:prstGeom prst="roundRect">
            <a:avLst>
              <a:gd name="adj" fmla="val 6250"/>
            </a:avLst>
          </a:prstGeom>
          <a:solidFill>
            <a:srgbClr val="0B1220"/>
          </a:solidFill>
          <a:ln w="9525">
            <a:solidFill>
              <a:srgbClr val="0B1220"/>
            </a:solidFill>
            <a:prstDash val="solid"/>
          </a:ln>
        </p:spPr>
      </p:sp>
      <p:sp>
        <p:nvSpPr>
          <p:cNvPr id="10" name="Rectangle 9">
            <a:extLst>
              <a:ext uri="{FF2B5EF4-FFF2-40B4-BE49-F238E27FC236}">
                <a16:creationId xmlns:a16="http://schemas.microsoft.com/office/drawing/2014/main" id="{53421916-D018-4100-88E1-4758521402FE}"/>
              </a:ext>
            </a:extLst>
          </p:cNvPr>
          <p:cNvSpPr>
            <a:spLocks noGrp="1"/>
          </p:cNvSpPr>
          <p:nvPr/>
        </p:nvSpPr>
        <p:spPr>
          <a:xfrm>
            <a:off x="838200" y="4248150"/>
            <a:ext cx="4610100" cy="1562100"/>
          </a:xfrm>
          <a:prstGeom prst="rect">
            <a:avLst/>
          </a:prstGeom>
          <a:noFill/>
          <a:ln w="0">
            <a:noFill/>
            <a:prstDash val="solid"/>
          </a:ln>
        </p:spPr>
        <p:txBody>
          <a:bodyPr/>
          <a:lstStyle/>
          <a:p>
            <a:pPr algn="l">
              <a:defRPr sz="1050" b="0">
                <a:solidFill>
                  <a:srgbClr val="E2E8F0"/>
                </a:solidFill>
              </a:defRPr>
            </a:pPr>
            <a:r>
              <a:rPr sz="1050" b="0">
                <a:solidFill>
                  <a:srgbClr val="E2E8F0"/>
                </a:solidFill>
              </a:rPr>
              <a:t>@RestControllerAdvice</a:t>
            </a:r>
          </a:p>
          <a:p>
            <a:pPr algn="l">
              <a:defRPr sz="1050" b="0">
                <a:solidFill>
                  <a:srgbClr val="E2E8F0"/>
                </a:solidFill>
              </a:defRPr>
            </a:pPr>
            <a:r>
              <a:rPr sz="1050" b="0">
                <a:solidFill>
                  <a:srgbClr val="E2E8F0"/>
                </a:solidFill>
              </a:rPr>
              <a:t>public class GlobalExceptionHandler {</a:t>
            </a:r>
          </a:p>
          <a:p>
            <a:pPr algn="l">
              <a:defRPr sz="1050" b="0">
                <a:solidFill>
                  <a:srgbClr val="E2E8F0"/>
                </a:solidFill>
              </a:defRPr>
            </a:pPr>
            <a:r>
              <a:rPr sz="1050" b="0">
                <a:solidFill>
                  <a:srgbClr val="E2E8F0"/>
                </a:solidFill>
              </a:rPr>
              <a:t>    @ExceptionHandler(BusinessException.class)</a:t>
            </a:r>
          </a:p>
          <a:p>
            <a:pPr algn="l">
              <a:defRPr sz="1050" b="0">
                <a:solidFill>
                  <a:srgbClr val="E2E8F0"/>
                </a:solidFill>
              </a:defRPr>
            </a:pPr>
            <a:r>
              <a:rPr sz="1050" b="0">
                <a:solidFill>
                  <a:srgbClr val="E2E8F0"/>
                </a:solidFill>
              </a:rPr>
              <a:t>    public ResponseEntity&lt;ApiErrorResponse&gt; handleBusinessException(</a:t>
            </a:r>
          </a:p>
          <a:p>
            <a:pPr algn="l">
              <a:defRPr sz="1050" b="0">
                <a:solidFill>
                  <a:srgbClr val="E2E8F0"/>
                </a:solidFill>
              </a:defRPr>
            </a:pPr>
            <a:r>
              <a:rPr sz="1050" b="0">
                <a:solidFill>
                  <a:srgbClr val="E2E8F0"/>
                </a:solidFill>
              </a:rPr>
              <a:t>            BusinessException exception) {</a:t>
            </a:r>
          </a:p>
          <a:p>
            <a:pPr algn="l">
              <a:defRPr sz="1050" b="0">
                <a:solidFill>
                  <a:srgbClr val="E2E8F0"/>
                </a:solidFill>
              </a:defRPr>
            </a:pPr>
            <a:r>
              <a:rPr sz="1050" b="0">
                <a:solidFill>
                  <a:srgbClr val="E2E8F0"/>
                </a:solidFill>
              </a:rPr>
              <a:t>        return ResponseEntity.badRequest()</a:t>
            </a:r>
          </a:p>
          <a:p>
            <a:pPr algn="l">
              <a:defRPr sz="1050" b="0">
                <a:solidFill>
                  <a:srgbClr val="E2E8F0"/>
                </a:solidFill>
              </a:defRPr>
            </a:pPr>
            <a:r>
              <a:rPr sz="1050" b="0">
                <a:solidFill>
                  <a:srgbClr val="E2E8F0"/>
                </a:solidFill>
              </a:rPr>
              <a:t>            .body(ApiErrorResponse.of(</a:t>
            </a:r>
          </a:p>
          <a:p>
            <a:pPr algn="l">
              <a:defRPr sz="1050" b="0">
                <a:solidFill>
                  <a:srgbClr val="E2E8F0"/>
                </a:solidFill>
              </a:defRPr>
            </a:pPr>
            <a:r>
              <a:rPr sz="1050" b="0">
                <a:solidFill>
                  <a:srgbClr val="E2E8F0"/>
                </a:solidFill>
              </a:rPr>
              <a:t>                exception.getMessage(),</a:t>
            </a:r>
          </a:p>
          <a:p>
            <a:pPr algn="l">
              <a:defRPr sz="1050" b="0">
                <a:solidFill>
                  <a:srgbClr val="E2E8F0"/>
                </a:solidFill>
              </a:defRPr>
            </a:pPr>
            <a:r>
              <a:rPr sz="1050" b="0">
                <a:solidFill>
                  <a:srgbClr val="E2E8F0"/>
                </a:solidFill>
              </a:rPr>
              <a:t>                exception.getErrorCode()));</a:t>
            </a:r>
          </a:p>
          <a:p>
            <a:pPr algn="l">
              <a:defRPr sz="1050" b="0">
                <a:solidFill>
                  <a:srgbClr val="E2E8F0"/>
                </a:solidFill>
              </a:defRPr>
            </a:pPr>
            <a:r>
              <a:rPr sz="1050" b="0">
                <a:solidFill>
                  <a:srgbClr val="E2E8F0"/>
                </a:solidFill>
              </a:rPr>
              <a:t>    }</a:t>
            </a:r>
          </a:p>
          <a:p>
            <a:pPr algn="l">
              <a:defRPr sz="1050" b="0">
                <a:solidFill>
                  <a:srgbClr val="E2E8F0"/>
                </a:solidFill>
              </a:defRPr>
            </a:pPr>
            <a:r>
              <a:rPr sz="1050" b="0">
                <a:solidFill>
                  <a:srgbClr val="E2E8F0"/>
                </a:solidFill>
              </a:rPr>
              <a:t>}</a:t>
            </a:r>
          </a:p>
        </p:txBody>
      </p:sp>
      <p:sp>
        <p:nvSpPr>
          <p:cNvPr id="11" name="Rectangle: Rounded Corners 10">
            <a:extLst>
              <a:ext uri="{FF2B5EF4-FFF2-40B4-BE49-F238E27FC236}">
                <a16:creationId xmlns:a16="http://schemas.microsoft.com/office/drawing/2014/main" id="{2B2A37B6-4192-4C6F-BCB9-3D1264251940}"/>
              </a:ext>
            </a:extLst>
          </p:cNvPr>
          <p:cNvSpPr>
            <a:spLocks noGrp="1"/>
          </p:cNvSpPr>
          <p:nvPr/>
        </p:nvSpPr>
        <p:spPr>
          <a:xfrm>
            <a:off x="6191250" y="1562100"/>
            <a:ext cx="4762500" cy="1123950"/>
          </a:xfrm>
          <a:prstGeom prst="roundRect">
            <a:avLst>
              <a:gd name="adj" fmla="val 10169"/>
            </a:avLst>
          </a:prstGeom>
          <a:solidFill>
            <a:srgbClr val="FFFFFF"/>
          </a:solidFill>
          <a:ln w="9525">
            <a:solidFill>
              <a:srgbClr val="DDE7F3"/>
            </a:solidFill>
            <a:prstDash val="solid"/>
          </a:ln>
        </p:spPr>
      </p:sp>
      <p:sp>
        <p:nvSpPr>
          <p:cNvPr id="12" name="Rectangle 11">
            <a:extLst>
              <a:ext uri="{FF2B5EF4-FFF2-40B4-BE49-F238E27FC236}">
                <a16:creationId xmlns:a16="http://schemas.microsoft.com/office/drawing/2014/main" id="{748DBFC3-C60C-4F02-BC6C-6A80DEE3BC91}"/>
              </a:ext>
            </a:extLst>
          </p:cNvPr>
          <p:cNvSpPr>
            <a:spLocks noGrp="1"/>
          </p:cNvSpPr>
          <p:nvPr/>
        </p:nvSpPr>
        <p:spPr>
          <a:xfrm>
            <a:off x="6191250" y="1562100"/>
            <a:ext cx="66675" cy="1123950"/>
          </a:xfrm>
          <a:prstGeom prst="rect">
            <a:avLst/>
          </a:prstGeom>
          <a:solidFill>
            <a:srgbClr val="0B5FFF"/>
          </a:solidFill>
          <a:ln w="9525">
            <a:solidFill>
              <a:srgbClr val="0B5FFF"/>
            </a:solidFill>
            <a:prstDash val="solid"/>
          </a:ln>
        </p:spPr>
      </p:sp>
      <p:sp>
        <p:nvSpPr>
          <p:cNvPr id="13" name="Rectangle 12">
            <a:extLst>
              <a:ext uri="{FF2B5EF4-FFF2-40B4-BE49-F238E27FC236}">
                <a16:creationId xmlns:a16="http://schemas.microsoft.com/office/drawing/2014/main" id="{8B746B74-B00B-4CCD-B880-1B48E7858A0A}"/>
              </a:ext>
            </a:extLst>
          </p:cNvPr>
          <p:cNvSpPr>
            <a:spLocks noGrp="1"/>
          </p:cNvSpPr>
          <p:nvPr/>
        </p:nvSpPr>
        <p:spPr>
          <a:xfrm>
            <a:off x="6419850" y="1733550"/>
            <a:ext cx="43053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Tổ chức lỗi</a:t>
            </a:r>
          </a:p>
        </p:txBody>
      </p:sp>
      <p:sp>
        <p:nvSpPr>
          <p:cNvPr id="14" name="Rectangle 13">
            <a:extLst>
              <a:ext uri="{FF2B5EF4-FFF2-40B4-BE49-F238E27FC236}">
                <a16:creationId xmlns:a16="http://schemas.microsoft.com/office/drawing/2014/main" id="{8A606D9F-21B3-4FC0-85DF-B6A200A2A87A}"/>
              </a:ext>
            </a:extLst>
          </p:cNvPr>
          <p:cNvSpPr>
            <a:spLocks noGrp="1"/>
          </p:cNvSpPr>
          <p:nvPr/>
        </p:nvSpPr>
        <p:spPr>
          <a:xfrm>
            <a:off x="6419850" y="2076450"/>
            <a:ext cx="4305300" cy="457200"/>
          </a:xfrm>
          <a:prstGeom prst="rect">
            <a:avLst/>
          </a:prstGeom>
          <a:noFill/>
          <a:ln w="0">
            <a:noFill/>
            <a:prstDash val="solid"/>
          </a:ln>
        </p:spPr>
        <p:txBody>
          <a:bodyPr/>
          <a:lstStyle/>
          <a:p>
            <a:pPr algn="l">
              <a:defRPr sz="1200" b="0">
                <a:solidFill>
                  <a:srgbClr val="64748B"/>
                </a:solidFill>
              </a:defRPr>
            </a:pPr>
            <a:r>
              <a:rPr sz="1200" b="0">
                <a:solidFill>
                  <a:srgbClr val="64748B"/>
                </a:solidFill>
              </a:rPr>
              <a:t>Validator và service ném BusinessException hoặc exception con. Controller không cần tự bắt lỗi từng trường hợp.</a:t>
            </a:r>
          </a:p>
        </p:txBody>
      </p:sp>
      <p:sp>
        <p:nvSpPr>
          <p:cNvPr id="15" name="Rectangle: Rounded Corners 14">
            <a:extLst>
              <a:ext uri="{FF2B5EF4-FFF2-40B4-BE49-F238E27FC236}">
                <a16:creationId xmlns:a16="http://schemas.microsoft.com/office/drawing/2014/main" id="{1BAF4DC7-F8DE-4544-B396-46740B258D10}"/>
              </a:ext>
            </a:extLst>
          </p:cNvPr>
          <p:cNvSpPr>
            <a:spLocks noGrp="1"/>
          </p:cNvSpPr>
          <p:nvPr/>
        </p:nvSpPr>
        <p:spPr>
          <a:xfrm>
            <a:off x="6191250" y="3028950"/>
            <a:ext cx="4762500" cy="1123950"/>
          </a:xfrm>
          <a:prstGeom prst="roundRect">
            <a:avLst>
              <a:gd name="adj" fmla="val 10169"/>
            </a:avLst>
          </a:prstGeom>
          <a:solidFill>
            <a:srgbClr val="FFFFFF"/>
          </a:solidFill>
          <a:ln w="9525">
            <a:solidFill>
              <a:srgbClr val="DDE7F3"/>
            </a:solidFill>
            <a:prstDash val="solid"/>
          </a:ln>
        </p:spPr>
      </p:sp>
      <p:sp>
        <p:nvSpPr>
          <p:cNvPr id="16" name="Rectangle 15">
            <a:extLst>
              <a:ext uri="{FF2B5EF4-FFF2-40B4-BE49-F238E27FC236}">
                <a16:creationId xmlns:a16="http://schemas.microsoft.com/office/drawing/2014/main" id="{80833ECA-D22C-42B6-AD94-774A496A7377}"/>
              </a:ext>
            </a:extLst>
          </p:cNvPr>
          <p:cNvSpPr>
            <a:spLocks noGrp="1"/>
          </p:cNvSpPr>
          <p:nvPr/>
        </p:nvSpPr>
        <p:spPr>
          <a:xfrm>
            <a:off x="6191250" y="3028950"/>
            <a:ext cx="66675" cy="1123950"/>
          </a:xfrm>
          <a:prstGeom prst="rect">
            <a:avLst/>
          </a:prstGeom>
          <a:solidFill>
            <a:srgbClr val="DC2626"/>
          </a:solidFill>
          <a:ln w="9525">
            <a:solidFill>
              <a:srgbClr val="DC2626"/>
            </a:solidFill>
            <a:prstDash val="solid"/>
          </a:ln>
        </p:spPr>
      </p:sp>
      <p:sp>
        <p:nvSpPr>
          <p:cNvPr id="17" name="Rectangle 16">
            <a:extLst>
              <a:ext uri="{FF2B5EF4-FFF2-40B4-BE49-F238E27FC236}">
                <a16:creationId xmlns:a16="http://schemas.microsoft.com/office/drawing/2014/main" id="{29E47087-A62C-4660-AE83-459F087FBA76}"/>
              </a:ext>
            </a:extLst>
          </p:cNvPr>
          <p:cNvSpPr>
            <a:spLocks noGrp="1"/>
          </p:cNvSpPr>
          <p:nvPr/>
        </p:nvSpPr>
        <p:spPr>
          <a:xfrm>
            <a:off x="6419850" y="3200400"/>
            <a:ext cx="43053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Response lỗi</a:t>
            </a:r>
          </a:p>
        </p:txBody>
      </p:sp>
      <p:sp>
        <p:nvSpPr>
          <p:cNvPr id="18" name="Rectangle 17">
            <a:extLst>
              <a:ext uri="{FF2B5EF4-FFF2-40B4-BE49-F238E27FC236}">
                <a16:creationId xmlns:a16="http://schemas.microsoft.com/office/drawing/2014/main" id="{A829D6E8-BBB9-4863-B3BB-225211917CD6}"/>
              </a:ext>
            </a:extLst>
          </p:cNvPr>
          <p:cNvSpPr>
            <a:spLocks noGrp="1"/>
          </p:cNvSpPr>
          <p:nvPr/>
        </p:nvSpPr>
        <p:spPr>
          <a:xfrm>
            <a:off x="6419850" y="3543300"/>
            <a:ext cx="4305300" cy="457200"/>
          </a:xfrm>
          <a:prstGeom prst="rect">
            <a:avLst/>
          </a:prstGeom>
          <a:noFill/>
          <a:ln w="0">
            <a:noFill/>
            <a:prstDash val="solid"/>
          </a:ln>
        </p:spPr>
        <p:txBody>
          <a:bodyPr/>
          <a:lstStyle/>
          <a:p>
            <a:pPr algn="l">
              <a:defRPr sz="1200" b="0">
                <a:solidFill>
                  <a:srgbClr val="64748B"/>
                </a:solidFill>
              </a:defRPr>
            </a:pPr>
            <a:r>
              <a:rPr sz="1200" b="0">
                <a:solidFill>
                  <a:srgbClr val="64748B"/>
                </a:solidFill>
              </a:rPr>
              <a:t>GlobalExceptionHandler chuyển lỗi thành ApiErrorResponse gồm success, message, errorCode và timestamp.</a:t>
            </a:r>
          </a:p>
        </p:txBody>
      </p:sp>
      <p:sp>
        <p:nvSpPr>
          <p:cNvPr id="19" name="Rectangle: Rounded Corners 18">
            <a:extLst>
              <a:ext uri="{FF2B5EF4-FFF2-40B4-BE49-F238E27FC236}">
                <a16:creationId xmlns:a16="http://schemas.microsoft.com/office/drawing/2014/main" id="{880C010A-ADBD-454B-95D7-5604CFBDFE9F}"/>
              </a:ext>
            </a:extLst>
          </p:cNvPr>
          <p:cNvSpPr>
            <a:spLocks noGrp="1"/>
          </p:cNvSpPr>
          <p:nvPr/>
        </p:nvSpPr>
        <p:spPr>
          <a:xfrm>
            <a:off x="6191250" y="4495800"/>
            <a:ext cx="4762500" cy="1123950"/>
          </a:xfrm>
          <a:prstGeom prst="roundRect">
            <a:avLst>
              <a:gd name="adj" fmla="val 10169"/>
            </a:avLst>
          </a:prstGeom>
          <a:solidFill>
            <a:srgbClr val="FFFFFF"/>
          </a:solidFill>
          <a:ln w="9525">
            <a:solidFill>
              <a:srgbClr val="DDE7F3"/>
            </a:solidFill>
            <a:prstDash val="solid"/>
          </a:ln>
        </p:spPr>
      </p:sp>
      <p:sp>
        <p:nvSpPr>
          <p:cNvPr id="20" name="Rectangle 19">
            <a:extLst>
              <a:ext uri="{FF2B5EF4-FFF2-40B4-BE49-F238E27FC236}">
                <a16:creationId xmlns:a16="http://schemas.microsoft.com/office/drawing/2014/main" id="{7FF6398A-67CD-4910-9D7D-680A085C3259}"/>
              </a:ext>
            </a:extLst>
          </p:cNvPr>
          <p:cNvSpPr>
            <a:spLocks noGrp="1"/>
          </p:cNvSpPr>
          <p:nvPr/>
        </p:nvSpPr>
        <p:spPr>
          <a:xfrm>
            <a:off x="6191250" y="4495800"/>
            <a:ext cx="66675" cy="1123950"/>
          </a:xfrm>
          <a:prstGeom prst="rect">
            <a:avLst/>
          </a:prstGeom>
          <a:solidFill>
            <a:srgbClr val="16A34A"/>
          </a:solidFill>
          <a:ln w="9525">
            <a:solidFill>
              <a:srgbClr val="16A34A"/>
            </a:solidFill>
            <a:prstDash val="solid"/>
          </a:ln>
        </p:spPr>
      </p:sp>
      <p:sp>
        <p:nvSpPr>
          <p:cNvPr id="21" name="Rectangle 20">
            <a:extLst>
              <a:ext uri="{FF2B5EF4-FFF2-40B4-BE49-F238E27FC236}">
                <a16:creationId xmlns:a16="http://schemas.microsoft.com/office/drawing/2014/main" id="{CDD0427D-0DC9-4DA4-83C2-A306338E5110}"/>
              </a:ext>
            </a:extLst>
          </p:cNvPr>
          <p:cNvSpPr>
            <a:spLocks noGrp="1"/>
          </p:cNvSpPr>
          <p:nvPr/>
        </p:nvSpPr>
        <p:spPr>
          <a:xfrm>
            <a:off x="6419850" y="4667250"/>
            <a:ext cx="430530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Lợi ích</a:t>
            </a:r>
          </a:p>
        </p:txBody>
      </p:sp>
      <p:sp>
        <p:nvSpPr>
          <p:cNvPr id="22" name="Rectangle 21">
            <a:extLst>
              <a:ext uri="{FF2B5EF4-FFF2-40B4-BE49-F238E27FC236}">
                <a16:creationId xmlns:a16="http://schemas.microsoft.com/office/drawing/2014/main" id="{60F97E8D-980F-4AD7-96D9-F704714FB1A4}"/>
              </a:ext>
            </a:extLst>
          </p:cNvPr>
          <p:cNvSpPr>
            <a:spLocks noGrp="1"/>
          </p:cNvSpPr>
          <p:nvPr/>
        </p:nvSpPr>
        <p:spPr>
          <a:xfrm>
            <a:off x="6419850" y="5010150"/>
            <a:ext cx="4305300" cy="457200"/>
          </a:xfrm>
          <a:prstGeom prst="rect">
            <a:avLst/>
          </a:prstGeom>
          <a:noFill/>
          <a:ln w="0">
            <a:noFill/>
            <a:prstDash val="solid"/>
          </a:ln>
        </p:spPr>
        <p:txBody>
          <a:bodyPr/>
          <a:lstStyle/>
          <a:p>
            <a:pPr algn="l">
              <a:defRPr sz="1200" b="0">
                <a:solidFill>
                  <a:srgbClr val="64748B"/>
                </a:solidFill>
              </a:defRPr>
            </a:pPr>
            <a:r>
              <a:rPr sz="1200" b="0">
                <a:solidFill>
                  <a:srgbClr val="64748B"/>
                </a:solidFill>
              </a:rPr>
              <a:t>Frontend nhận lỗi nhất quán để hiện toast/message; backend giữ được ranh giới rõ giữa nghiệp vụ và trình bày API.</a:t>
            </a:r>
          </a:p>
        </p:txBody>
      </p:sp>
    </p:spTree>
    <p:extLst>
      <p:ext uri="{BB962C8B-B14F-4D97-AF65-F5344CB8AC3E}">
        <p14:creationId xmlns:p14="http://schemas.microsoft.com/office/powerpoint/2010/main" val="371925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4F43319-99D6-415B-8627-C9E793C4C29C}"/>
              </a:ext>
            </a:extLst>
          </p:cNvPr>
          <p:cNvSpPr>
            <a:spLocks noGrp="1"/>
          </p:cNvSpPr>
          <p:nvPr/>
        </p:nvSpPr>
        <p:spPr>
          <a:xfrm>
            <a:off x="0" y="0"/>
            <a:ext cx="12192000" cy="6858000"/>
          </a:xfrm>
          <a:prstGeom prst="rect">
            <a:avLst/>
          </a:prstGeom>
          <a:solidFill>
            <a:srgbClr val="F8FBFF"/>
          </a:solidFill>
          <a:ln w="0">
            <a:noFill/>
            <a:prstDash val="solid"/>
          </a:ln>
        </p:spPr>
      </p:sp>
      <p:sp>
        <p:nvSpPr>
          <p:cNvPr id="2" name="Rectangle 1">
            <a:extLst>
              <a:ext uri="{FF2B5EF4-FFF2-40B4-BE49-F238E27FC236}">
                <a16:creationId xmlns:a16="http://schemas.microsoft.com/office/drawing/2014/main" id="{4560A060-14EF-414F-B166-916F152829DB}"/>
              </a:ext>
            </a:extLst>
          </p:cNvPr>
          <p:cNvSpPr>
            <a:spLocks noGrp="1"/>
          </p:cNvSpPr>
          <p:nvPr/>
        </p:nvSpPr>
        <p:spPr>
          <a:xfrm>
            <a:off x="609600" y="323850"/>
            <a:ext cx="7239000" cy="266700"/>
          </a:xfrm>
          <a:prstGeom prst="rect">
            <a:avLst/>
          </a:prstGeom>
          <a:noFill/>
          <a:ln w="0">
            <a:noFill/>
            <a:prstDash val="solid"/>
          </a:ln>
        </p:spPr>
        <p:txBody>
          <a:bodyPr/>
          <a:lstStyle/>
          <a:p>
            <a:pPr algn="l">
              <a:defRPr sz="1050" b="1">
                <a:solidFill>
                  <a:srgbClr val="0B5FFF"/>
                </a:solidFill>
              </a:defRPr>
            </a:pPr>
            <a:r>
              <a:rPr sz="1050" b="1">
                <a:solidFill>
                  <a:srgbClr val="0B5FFF"/>
                </a:solidFill>
              </a:rPr>
              <a:t>THIẾT KẾ OOP | Minh chứng từ source</a:t>
            </a:r>
          </a:p>
        </p:txBody>
      </p:sp>
      <p:sp>
        <p:nvSpPr>
          <p:cNvPr id="3" name="Rectangle 2">
            <a:extLst>
              <a:ext uri="{FF2B5EF4-FFF2-40B4-BE49-F238E27FC236}">
                <a16:creationId xmlns:a16="http://schemas.microsoft.com/office/drawing/2014/main" id="{800F8EA0-FA4D-4AFC-81F0-FE81106B2BB4}"/>
              </a:ext>
            </a:extLst>
          </p:cNvPr>
          <p:cNvSpPr>
            <a:spLocks noGrp="1"/>
          </p:cNvSpPr>
          <p:nvPr/>
        </p:nvSpPr>
        <p:spPr>
          <a:xfrm>
            <a:off x="609600" y="628650"/>
            <a:ext cx="10096500" cy="533400"/>
          </a:xfrm>
          <a:prstGeom prst="rect">
            <a:avLst/>
          </a:prstGeom>
          <a:noFill/>
          <a:ln w="0">
            <a:noFill/>
            <a:prstDash val="solid"/>
          </a:ln>
        </p:spPr>
        <p:txBody>
          <a:bodyPr/>
          <a:lstStyle/>
          <a:p>
            <a:pPr algn="l">
              <a:defRPr sz="2550" b="1">
                <a:solidFill>
                  <a:srgbClr val="0F172A"/>
                </a:solidFill>
              </a:defRPr>
            </a:pPr>
            <a:r>
              <a:rPr sz="2550" b="1">
                <a:solidFill>
                  <a:srgbClr val="0F172A"/>
                </a:solidFill>
              </a:rPr>
              <a:t>File IO được cô lập trong repository</a:t>
            </a:r>
          </a:p>
        </p:txBody>
      </p:sp>
      <p:sp>
        <p:nvSpPr>
          <p:cNvPr id="4" name="Straight Connector 3">
            <a:extLst>
              <a:ext uri="{FF2B5EF4-FFF2-40B4-BE49-F238E27FC236}">
                <a16:creationId xmlns:a16="http://schemas.microsoft.com/office/drawing/2014/main" id="{B0AFDCAE-A0CD-4515-9892-7A01C6A22668}"/>
              </a:ext>
            </a:extLst>
          </p:cNvPr>
          <p:cNvSpPr>
            <a:spLocks noGrp="1"/>
          </p:cNvSpPr>
          <p:nvPr/>
        </p:nvSpPr>
        <p:spPr>
          <a:xfrm>
            <a:off x="609600" y="1257300"/>
            <a:ext cx="10972800" cy="0"/>
          </a:xfrm>
          <a:prstGeom prst="line">
            <a:avLst/>
          </a:prstGeom>
          <a:noFill/>
          <a:ln w="9525">
            <a:solidFill>
              <a:srgbClr val="DDE7F3"/>
            </a:solidFill>
            <a:prstDash val="solid"/>
          </a:ln>
        </p:spPr>
      </p:sp>
      <p:sp>
        <p:nvSpPr>
          <p:cNvPr id="5" name="Rectangle 4">
            <a:extLst>
              <a:ext uri="{FF2B5EF4-FFF2-40B4-BE49-F238E27FC236}">
                <a16:creationId xmlns:a16="http://schemas.microsoft.com/office/drawing/2014/main" id="{87E4C651-FF2B-4D18-9092-1085D3073F34}"/>
              </a:ext>
            </a:extLst>
          </p:cNvPr>
          <p:cNvSpPr>
            <a:spLocks noGrp="1"/>
          </p:cNvSpPr>
          <p:nvPr/>
        </p:nvSpPr>
        <p:spPr>
          <a:xfrm>
            <a:off x="609600" y="6457950"/>
            <a:ext cx="4953000" cy="209550"/>
          </a:xfrm>
          <a:prstGeom prst="rect">
            <a:avLst/>
          </a:prstGeom>
          <a:noFill/>
          <a:ln w="0">
            <a:noFill/>
            <a:prstDash val="solid"/>
          </a:ln>
        </p:spPr>
        <p:txBody>
          <a:bodyPr/>
          <a:lstStyle/>
          <a:p>
            <a:pPr algn="l">
              <a:defRPr sz="900" b="0">
                <a:solidFill>
                  <a:srgbClr val="94A3B8"/>
                </a:solidFill>
              </a:defRPr>
            </a:pPr>
            <a:r>
              <a:rPr sz="900" b="0">
                <a:solidFill>
                  <a:srgbClr val="94A3B8"/>
                </a:solidFill>
              </a:rPr>
              <a:t>Nhóm 2 - Phenikaa University</a:t>
            </a:r>
          </a:p>
        </p:txBody>
      </p:sp>
      <p:sp>
        <p:nvSpPr>
          <p:cNvPr id="6" name="Rectangle 5">
            <a:extLst>
              <a:ext uri="{FF2B5EF4-FFF2-40B4-BE49-F238E27FC236}">
                <a16:creationId xmlns:a16="http://schemas.microsoft.com/office/drawing/2014/main" id="{3356C024-C6D0-4035-A49E-B6C96CC52E10}"/>
              </a:ext>
            </a:extLst>
          </p:cNvPr>
          <p:cNvSpPr>
            <a:spLocks noGrp="1"/>
          </p:cNvSpPr>
          <p:nvPr/>
        </p:nvSpPr>
        <p:spPr>
          <a:xfrm>
            <a:off x="10382250" y="6457950"/>
            <a:ext cx="1200150" cy="209550"/>
          </a:xfrm>
          <a:prstGeom prst="rect">
            <a:avLst/>
          </a:prstGeom>
          <a:noFill/>
          <a:ln w="0">
            <a:noFill/>
            <a:prstDash val="solid"/>
          </a:ln>
        </p:spPr>
        <p:txBody>
          <a:bodyPr/>
          <a:lstStyle/>
          <a:p>
            <a:pPr algn="r">
              <a:defRPr sz="900" b="0">
                <a:solidFill>
                  <a:srgbClr val="94A3B8"/>
                </a:solidFill>
              </a:defRPr>
            </a:pPr>
            <a:r>
              <a:rPr sz="900" b="0">
                <a:solidFill>
                  <a:srgbClr val="94A3B8"/>
                </a:solidFill>
              </a:rPr>
              <a:t>06F</a:t>
            </a:r>
          </a:p>
        </p:txBody>
      </p:sp>
      <p:sp>
        <p:nvSpPr>
          <p:cNvPr id="7" name="Rectangle: Rounded Corners 6">
            <a:extLst>
              <a:ext uri="{FF2B5EF4-FFF2-40B4-BE49-F238E27FC236}">
                <a16:creationId xmlns:a16="http://schemas.microsoft.com/office/drawing/2014/main" id="{06328181-6A7A-4681-B365-67A30A3F1F22}"/>
              </a:ext>
            </a:extLst>
          </p:cNvPr>
          <p:cNvSpPr>
            <a:spLocks noGrp="1"/>
          </p:cNvSpPr>
          <p:nvPr/>
        </p:nvSpPr>
        <p:spPr>
          <a:xfrm>
            <a:off x="895350" y="1466850"/>
            <a:ext cx="2466975" cy="742950"/>
          </a:xfrm>
          <a:prstGeom prst="roundRect">
            <a:avLst>
              <a:gd name="adj" fmla="val 15385"/>
            </a:avLst>
          </a:prstGeom>
          <a:solidFill>
            <a:srgbClr val="EAF2FF"/>
          </a:solidFill>
          <a:ln w="9525">
            <a:solidFill>
              <a:srgbClr val="BBD3FF"/>
            </a:solidFill>
            <a:prstDash val="solid"/>
          </a:ln>
        </p:spPr>
      </p:sp>
      <p:sp>
        <p:nvSpPr>
          <p:cNvPr id="8" name="Rectangle 7">
            <a:extLst>
              <a:ext uri="{FF2B5EF4-FFF2-40B4-BE49-F238E27FC236}">
                <a16:creationId xmlns:a16="http://schemas.microsoft.com/office/drawing/2014/main" id="{6CD84D8D-C3BA-4192-9BB7-67DC18C7A840}"/>
              </a:ext>
            </a:extLst>
          </p:cNvPr>
          <p:cNvSpPr>
            <a:spLocks noGrp="1"/>
          </p:cNvSpPr>
          <p:nvPr/>
        </p:nvSpPr>
        <p:spPr>
          <a:xfrm>
            <a:off x="1009650" y="1619250"/>
            <a:ext cx="2238375" cy="476250"/>
          </a:xfrm>
          <a:prstGeom prst="rect">
            <a:avLst/>
          </a:prstGeom>
          <a:noFill/>
          <a:ln w="0">
            <a:noFill/>
            <a:prstDash val="solid"/>
          </a:ln>
        </p:spPr>
        <p:txBody>
          <a:bodyPr/>
          <a:lstStyle/>
          <a:p>
            <a:pPr algn="ctr">
              <a:defRPr sz="1275" b="1">
                <a:solidFill>
                  <a:srgbClr val="0B2A6F"/>
                </a:solidFill>
              </a:defRPr>
            </a:pPr>
            <a:r>
              <a:rPr sz="1275" b="1">
                <a:solidFill>
                  <a:srgbClr val="0B2A6F"/>
                </a:solidFill>
              </a:rPr>
              <a:t>Service</a:t>
            </a:r>
          </a:p>
          <a:p>
            <a:pPr algn="ctr">
              <a:defRPr sz="1275" b="1">
                <a:solidFill>
                  <a:srgbClr val="0B2A6F"/>
                </a:solidFill>
              </a:defRPr>
            </a:pPr>
            <a:r>
              <a:rPr sz="1275" b="1">
                <a:solidFill>
                  <a:srgbClr val="0B2A6F"/>
                </a:solidFill>
              </a:rPr>
              <a:t>không mở file</a:t>
            </a:r>
          </a:p>
        </p:txBody>
      </p:sp>
      <p:sp>
        <p:nvSpPr>
          <p:cNvPr id="9" name="Arrow: Right 8">
            <a:extLst>
              <a:ext uri="{FF2B5EF4-FFF2-40B4-BE49-F238E27FC236}">
                <a16:creationId xmlns:a16="http://schemas.microsoft.com/office/drawing/2014/main" id="{EBBE685C-A44F-41E8-8C4A-0BF2AA2BF173}"/>
              </a:ext>
            </a:extLst>
          </p:cNvPr>
          <p:cNvSpPr>
            <a:spLocks noGrp="1"/>
          </p:cNvSpPr>
          <p:nvPr/>
        </p:nvSpPr>
        <p:spPr>
          <a:xfrm>
            <a:off x="3343275" y="1724025"/>
            <a:ext cx="209550" cy="228600"/>
          </a:xfrm>
          <a:prstGeom prst="rightArrow">
            <a:avLst/>
          </a:prstGeom>
          <a:solidFill>
            <a:srgbClr val="C9DAFF"/>
          </a:solidFill>
          <a:ln w="0">
            <a:solidFill>
              <a:srgbClr val="C9DAFF"/>
            </a:solidFill>
            <a:prstDash val="solid"/>
          </a:ln>
        </p:spPr>
      </p:sp>
      <p:sp>
        <p:nvSpPr>
          <p:cNvPr id="10" name="Rectangle: Rounded Corners 9">
            <a:extLst>
              <a:ext uri="{FF2B5EF4-FFF2-40B4-BE49-F238E27FC236}">
                <a16:creationId xmlns:a16="http://schemas.microsoft.com/office/drawing/2014/main" id="{7385674F-A4EF-4A2B-A3E5-25D26C7935D0}"/>
              </a:ext>
            </a:extLst>
          </p:cNvPr>
          <p:cNvSpPr>
            <a:spLocks noGrp="1"/>
          </p:cNvSpPr>
          <p:nvPr/>
        </p:nvSpPr>
        <p:spPr>
          <a:xfrm>
            <a:off x="3533775" y="1466850"/>
            <a:ext cx="2466975" cy="742950"/>
          </a:xfrm>
          <a:prstGeom prst="roundRect">
            <a:avLst>
              <a:gd name="adj" fmla="val 15385"/>
            </a:avLst>
          </a:prstGeom>
          <a:solidFill>
            <a:srgbClr val="EAF2FF"/>
          </a:solidFill>
          <a:ln w="9525">
            <a:solidFill>
              <a:srgbClr val="BBD3FF"/>
            </a:solidFill>
            <a:prstDash val="solid"/>
          </a:ln>
        </p:spPr>
      </p:sp>
      <p:sp>
        <p:nvSpPr>
          <p:cNvPr id="11" name="Rectangle 10">
            <a:extLst>
              <a:ext uri="{FF2B5EF4-FFF2-40B4-BE49-F238E27FC236}">
                <a16:creationId xmlns:a16="http://schemas.microsoft.com/office/drawing/2014/main" id="{67C9576B-EB74-4F37-86E9-17D54CB2A83C}"/>
              </a:ext>
            </a:extLst>
          </p:cNvPr>
          <p:cNvSpPr>
            <a:spLocks noGrp="1"/>
          </p:cNvSpPr>
          <p:nvPr/>
        </p:nvSpPr>
        <p:spPr>
          <a:xfrm>
            <a:off x="3648075" y="1619250"/>
            <a:ext cx="2238375" cy="476250"/>
          </a:xfrm>
          <a:prstGeom prst="rect">
            <a:avLst/>
          </a:prstGeom>
          <a:noFill/>
          <a:ln w="0">
            <a:noFill/>
            <a:prstDash val="solid"/>
          </a:ln>
        </p:spPr>
        <p:txBody>
          <a:bodyPr/>
          <a:lstStyle/>
          <a:p>
            <a:pPr algn="ctr">
              <a:defRPr sz="1275" b="1">
                <a:solidFill>
                  <a:srgbClr val="0B2A6F"/>
                </a:solidFill>
              </a:defRPr>
            </a:pPr>
            <a:r>
              <a:rPr sz="1275" b="1">
                <a:solidFill>
                  <a:srgbClr val="0B2A6F"/>
                </a:solidFill>
              </a:rPr>
              <a:t>Repository</a:t>
            </a:r>
          </a:p>
          <a:p>
            <a:pPr algn="ctr">
              <a:defRPr sz="1275" b="1">
                <a:solidFill>
                  <a:srgbClr val="0B2A6F"/>
                </a:solidFill>
              </a:defRPr>
            </a:pPr>
            <a:r>
              <a:rPr sz="1275" b="1">
                <a:solidFill>
                  <a:srgbClr val="0B2A6F"/>
                </a:solidFill>
              </a:rPr>
              <a:t>ẩn nguồn dữ liệu</a:t>
            </a:r>
          </a:p>
        </p:txBody>
      </p:sp>
      <p:sp>
        <p:nvSpPr>
          <p:cNvPr id="12" name="Arrow: Right 11">
            <a:extLst>
              <a:ext uri="{FF2B5EF4-FFF2-40B4-BE49-F238E27FC236}">
                <a16:creationId xmlns:a16="http://schemas.microsoft.com/office/drawing/2014/main" id="{7BCAC924-5E4C-4B22-BE64-5E4FBF60F167}"/>
              </a:ext>
            </a:extLst>
          </p:cNvPr>
          <p:cNvSpPr>
            <a:spLocks noGrp="1"/>
          </p:cNvSpPr>
          <p:nvPr/>
        </p:nvSpPr>
        <p:spPr>
          <a:xfrm>
            <a:off x="5981700" y="1724025"/>
            <a:ext cx="209550" cy="228600"/>
          </a:xfrm>
          <a:prstGeom prst="rightArrow">
            <a:avLst/>
          </a:prstGeom>
          <a:solidFill>
            <a:srgbClr val="C9DAFF"/>
          </a:solidFill>
          <a:ln w="0">
            <a:solidFill>
              <a:srgbClr val="C9DAFF"/>
            </a:solidFill>
            <a:prstDash val="solid"/>
          </a:ln>
        </p:spPr>
      </p:sp>
      <p:sp>
        <p:nvSpPr>
          <p:cNvPr id="13" name="Rectangle: Rounded Corners 12">
            <a:extLst>
              <a:ext uri="{FF2B5EF4-FFF2-40B4-BE49-F238E27FC236}">
                <a16:creationId xmlns:a16="http://schemas.microsoft.com/office/drawing/2014/main" id="{1DD7693E-9954-4497-9104-65C30FDBCE5D}"/>
              </a:ext>
            </a:extLst>
          </p:cNvPr>
          <p:cNvSpPr>
            <a:spLocks noGrp="1"/>
          </p:cNvSpPr>
          <p:nvPr/>
        </p:nvSpPr>
        <p:spPr>
          <a:xfrm>
            <a:off x="6172200" y="1466850"/>
            <a:ext cx="2466975" cy="742950"/>
          </a:xfrm>
          <a:prstGeom prst="roundRect">
            <a:avLst>
              <a:gd name="adj" fmla="val 15385"/>
            </a:avLst>
          </a:prstGeom>
          <a:solidFill>
            <a:srgbClr val="EAF2FF"/>
          </a:solidFill>
          <a:ln w="9525">
            <a:solidFill>
              <a:srgbClr val="BBD3FF"/>
            </a:solidFill>
            <a:prstDash val="solid"/>
          </a:ln>
        </p:spPr>
      </p:sp>
      <p:sp>
        <p:nvSpPr>
          <p:cNvPr id="14" name="Rectangle 13">
            <a:extLst>
              <a:ext uri="{FF2B5EF4-FFF2-40B4-BE49-F238E27FC236}">
                <a16:creationId xmlns:a16="http://schemas.microsoft.com/office/drawing/2014/main" id="{B20FEF5C-840D-4E19-AE21-909A68A4FD6E}"/>
              </a:ext>
            </a:extLst>
          </p:cNvPr>
          <p:cNvSpPr>
            <a:spLocks noGrp="1"/>
          </p:cNvSpPr>
          <p:nvPr/>
        </p:nvSpPr>
        <p:spPr>
          <a:xfrm>
            <a:off x="6286500" y="1619250"/>
            <a:ext cx="2238375" cy="476250"/>
          </a:xfrm>
          <a:prstGeom prst="rect">
            <a:avLst/>
          </a:prstGeom>
          <a:noFill/>
          <a:ln w="0">
            <a:noFill/>
            <a:prstDash val="solid"/>
          </a:ln>
        </p:spPr>
        <p:txBody>
          <a:bodyPr/>
          <a:lstStyle/>
          <a:p>
            <a:pPr algn="ctr">
              <a:defRPr sz="1275" b="1">
                <a:solidFill>
                  <a:srgbClr val="0B2A6F"/>
                </a:solidFill>
              </a:defRPr>
            </a:pPr>
            <a:r>
              <a:rPr sz="1275" b="1">
                <a:solidFill>
                  <a:srgbClr val="0B2A6F"/>
                </a:solidFill>
              </a:rPr>
              <a:t>JsonFileUtils</a:t>
            </a:r>
          </a:p>
          <a:p>
            <a:pPr algn="ctr">
              <a:defRPr sz="1275" b="1">
                <a:solidFill>
                  <a:srgbClr val="0B2A6F"/>
                </a:solidFill>
              </a:defRPr>
            </a:pPr>
            <a:r>
              <a:rPr sz="1275" b="1">
                <a:solidFill>
                  <a:srgbClr val="0B2A6F"/>
                </a:solidFill>
              </a:rPr>
              <a:t>đọc/ghi UTF-8</a:t>
            </a:r>
          </a:p>
        </p:txBody>
      </p:sp>
      <p:sp>
        <p:nvSpPr>
          <p:cNvPr id="15" name="Arrow: Right 14">
            <a:extLst>
              <a:ext uri="{FF2B5EF4-FFF2-40B4-BE49-F238E27FC236}">
                <a16:creationId xmlns:a16="http://schemas.microsoft.com/office/drawing/2014/main" id="{2C96E83D-5F1F-432A-9648-B46D8EFEE575}"/>
              </a:ext>
            </a:extLst>
          </p:cNvPr>
          <p:cNvSpPr>
            <a:spLocks noGrp="1"/>
          </p:cNvSpPr>
          <p:nvPr/>
        </p:nvSpPr>
        <p:spPr>
          <a:xfrm>
            <a:off x="8620125" y="1724025"/>
            <a:ext cx="209550" cy="228600"/>
          </a:xfrm>
          <a:prstGeom prst="rightArrow">
            <a:avLst/>
          </a:prstGeom>
          <a:solidFill>
            <a:srgbClr val="C9DAFF"/>
          </a:solidFill>
          <a:ln w="0">
            <a:solidFill>
              <a:srgbClr val="C9DAFF"/>
            </a:solidFill>
            <a:prstDash val="solid"/>
          </a:ln>
        </p:spPr>
      </p:sp>
      <p:sp>
        <p:nvSpPr>
          <p:cNvPr id="16" name="Rectangle: Rounded Corners 15">
            <a:extLst>
              <a:ext uri="{FF2B5EF4-FFF2-40B4-BE49-F238E27FC236}">
                <a16:creationId xmlns:a16="http://schemas.microsoft.com/office/drawing/2014/main" id="{A1473B31-0D5D-41DB-AF54-D1CE3C140B80}"/>
              </a:ext>
            </a:extLst>
          </p:cNvPr>
          <p:cNvSpPr>
            <a:spLocks noGrp="1"/>
          </p:cNvSpPr>
          <p:nvPr/>
        </p:nvSpPr>
        <p:spPr>
          <a:xfrm>
            <a:off x="8810625" y="1466850"/>
            <a:ext cx="2466975" cy="742950"/>
          </a:xfrm>
          <a:prstGeom prst="roundRect">
            <a:avLst>
              <a:gd name="adj" fmla="val 15385"/>
            </a:avLst>
          </a:prstGeom>
          <a:solidFill>
            <a:srgbClr val="EAF2FF"/>
          </a:solidFill>
          <a:ln w="9525">
            <a:solidFill>
              <a:srgbClr val="BBD3FF"/>
            </a:solidFill>
            <a:prstDash val="solid"/>
          </a:ln>
        </p:spPr>
      </p:sp>
      <p:sp>
        <p:nvSpPr>
          <p:cNvPr id="17" name="Rectangle 16">
            <a:extLst>
              <a:ext uri="{FF2B5EF4-FFF2-40B4-BE49-F238E27FC236}">
                <a16:creationId xmlns:a16="http://schemas.microsoft.com/office/drawing/2014/main" id="{248D72A7-B9BC-462A-9942-A6CF8009308D}"/>
              </a:ext>
            </a:extLst>
          </p:cNvPr>
          <p:cNvSpPr>
            <a:spLocks noGrp="1"/>
          </p:cNvSpPr>
          <p:nvPr/>
        </p:nvSpPr>
        <p:spPr>
          <a:xfrm>
            <a:off x="8924925" y="1619250"/>
            <a:ext cx="2238375" cy="476250"/>
          </a:xfrm>
          <a:prstGeom prst="rect">
            <a:avLst/>
          </a:prstGeom>
          <a:noFill/>
          <a:ln w="0">
            <a:noFill/>
            <a:prstDash val="solid"/>
          </a:ln>
        </p:spPr>
        <p:txBody>
          <a:bodyPr/>
          <a:lstStyle/>
          <a:p>
            <a:pPr algn="ctr">
              <a:defRPr sz="1275" b="1">
                <a:solidFill>
                  <a:srgbClr val="0B2A6F"/>
                </a:solidFill>
              </a:defRPr>
            </a:pPr>
            <a:r>
              <a:rPr sz="1275" b="1">
                <a:solidFill>
                  <a:srgbClr val="0B2A6F"/>
                </a:solidFill>
              </a:rPr>
              <a:t>data/*.json</a:t>
            </a:r>
          </a:p>
          <a:p>
            <a:pPr algn="ctr">
              <a:defRPr sz="1275" b="1">
                <a:solidFill>
                  <a:srgbClr val="0B2A6F"/>
                </a:solidFill>
              </a:defRPr>
            </a:pPr>
            <a:r>
              <a:rPr sz="1275" b="1">
                <a:solidFill>
                  <a:srgbClr val="0B2A6F"/>
                </a:solidFill>
              </a:rPr>
              <a:t>lưu dữ liệu</a:t>
            </a:r>
          </a:p>
        </p:txBody>
      </p:sp>
      <p:sp>
        <p:nvSpPr>
          <p:cNvPr id="18" name="Rectangle: Rounded Corners 17">
            <a:extLst>
              <a:ext uri="{FF2B5EF4-FFF2-40B4-BE49-F238E27FC236}">
                <a16:creationId xmlns:a16="http://schemas.microsoft.com/office/drawing/2014/main" id="{B67D558F-831C-4CDD-907B-025154318161}"/>
              </a:ext>
            </a:extLst>
          </p:cNvPr>
          <p:cNvSpPr>
            <a:spLocks noGrp="1"/>
          </p:cNvSpPr>
          <p:nvPr/>
        </p:nvSpPr>
        <p:spPr>
          <a:xfrm>
            <a:off x="666750" y="2686050"/>
            <a:ext cx="5334000" cy="2628900"/>
          </a:xfrm>
          <a:prstGeom prst="roundRect">
            <a:avLst>
              <a:gd name="adj" fmla="val 4348"/>
            </a:avLst>
          </a:prstGeom>
          <a:solidFill>
            <a:srgbClr val="0B1220"/>
          </a:solidFill>
          <a:ln w="9525">
            <a:solidFill>
              <a:srgbClr val="0B1220"/>
            </a:solidFill>
            <a:prstDash val="solid"/>
          </a:ln>
        </p:spPr>
      </p:sp>
      <p:sp>
        <p:nvSpPr>
          <p:cNvPr id="19" name="Rectangle 18">
            <a:extLst>
              <a:ext uri="{FF2B5EF4-FFF2-40B4-BE49-F238E27FC236}">
                <a16:creationId xmlns:a16="http://schemas.microsoft.com/office/drawing/2014/main" id="{B5662F74-EE06-4A9D-AD64-630B4373FF23}"/>
              </a:ext>
            </a:extLst>
          </p:cNvPr>
          <p:cNvSpPr>
            <a:spLocks noGrp="1"/>
          </p:cNvSpPr>
          <p:nvPr/>
        </p:nvSpPr>
        <p:spPr>
          <a:xfrm>
            <a:off x="838200" y="2838450"/>
            <a:ext cx="4991100" cy="2362200"/>
          </a:xfrm>
          <a:prstGeom prst="rect">
            <a:avLst/>
          </a:prstGeom>
          <a:noFill/>
          <a:ln w="0">
            <a:noFill/>
            <a:prstDash val="solid"/>
          </a:ln>
        </p:spPr>
        <p:txBody>
          <a:bodyPr/>
          <a:lstStyle/>
          <a:p>
            <a:pPr algn="l">
              <a:defRPr sz="1050" b="0">
                <a:solidFill>
                  <a:srgbClr val="E2E8F0"/>
                </a:solidFill>
              </a:defRPr>
            </a:pPr>
            <a:r>
              <a:rPr sz="1050" b="0">
                <a:solidFill>
                  <a:srgbClr val="E2E8F0"/>
                </a:solidFill>
              </a:rPr>
              <a:t>public &lt;T&gt; List&lt;T&gt; readList(String fileName, Class&lt;T&gt; elementType) {</a:t>
            </a:r>
          </a:p>
          <a:p>
            <a:pPr algn="l">
              <a:defRPr sz="1050" b="0">
                <a:solidFill>
                  <a:srgbClr val="E2E8F0"/>
                </a:solidFill>
              </a:defRPr>
            </a:pPr>
            <a:r>
              <a:rPr sz="1050" b="0">
                <a:solidFill>
                  <a:srgbClr val="E2E8F0"/>
                </a:solidFill>
              </a:rPr>
              <a:t>    Path filePath = resolveDataFile(fileName);</a:t>
            </a:r>
          </a:p>
          <a:p>
            <a:pPr algn="l">
              <a:defRPr sz="1050" b="0">
                <a:solidFill>
                  <a:srgbClr val="E2E8F0"/>
                </a:solidFill>
              </a:defRPr>
            </a:pPr>
            <a:r>
              <a:rPr sz="1050" b="0">
                <a:solidFill>
                  <a:srgbClr val="E2E8F0"/>
                </a:solidFill>
              </a:rPr>
              <a:t>    if (Files.notExists(filePath)) {</a:t>
            </a:r>
          </a:p>
          <a:p>
            <a:pPr algn="l">
              <a:defRPr sz="1050" b="0">
                <a:solidFill>
                  <a:srgbClr val="E2E8F0"/>
                </a:solidFill>
              </a:defRPr>
            </a:pPr>
            <a:r>
              <a:rPr sz="1050" b="0">
                <a:solidFill>
                  <a:srgbClr val="E2E8F0"/>
                </a:solidFill>
              </a:rPr>
              <a:t>        return List.of();</a:t>
            </a:r>
          </a:p>
          <a:p>
            <a:pPr algn="l">
              <a:defRPr sz="1050" b="0">
                <a:solidFill>
                  <a:srgbClr val="E2E8F0"/>
                </a:solidFill>
              </a:defRPr>
            </a:pPr>
            <a:r>
              <a:rPr sz="1050" b="0">
                <a:solidFill>
                  <a:srgbClr val="E2E8F0"/>
                </a:solidFill>
              </a:rPr>
              <a:t>    }</a:t>
            </a:r>
          </a:p>
          <a:p>
            <a:endParaRPr sz="1050" b="0">
              <a:solidFill>
                <a:srgbClr val="E2E8F0"/>
              </a:solidFill>
            </a:endParaRPr>
          </a:p>
          <a:p>
            <a:pPr algn="l">
              <a:defRPr sz="1050" b="0">
                <a:solidFill>
                  <a:srgbClr val="E2E8F0"/>
                </a:solidFill>
              </a:defRPr>
            </a:pPr>
            <a:r>
              <a:rPr sz="1050" b="0">
                <a:solidFill>
                  <a:srgbClr val="E2E8F0"/>
                </a:solidFill>
              </a:rPr>
              <a:t>    JavaType listType = objectMapper.getTypeFactory()</a:t>
            </a:r>
          </a:p>
          <a:p>
            <a:pPr algn="l">
              <a:defRPr sz="1050" b="0">
                <a:solidFill>
                  <a:srgbClr val="E2E8F0"/>
                </a:solidFill>
              </a:defRPr>
            </a:pPr>
            <a:r>
              <a:rPr sz="1050" b="0">
                <a:solidFill>
                  <a:srgbClr val="E2E8F0"/>
                </a:solidFill>
              </a:rPr>
              <a:t>        .constructCollectionType(List.class, elementType);</a:t>
            </a:r>
          </a:p>
          <a:p>
            <a:pPr algn="l">
              <a:defRPr sz="1050" b="0">
                <a:solidFill>
                  <a:srgbClr val="E2E8F0"/>
                </a:solidFill>
              </a:defRPr>
            </a:pPr>
            <a:r>
              <a:rPr sz="1050" b="0">
                <a:solidFill>
                  <a:srgbClr val="E2E8F0"/>
                </a:solidFill>
              </a:rPr>
              <a:t>    try (Reader reader = Files.newBufferedReader(</a:t>
            </a:r>
          </a:p>
          <a:p>
            <a:pPr algn="l">
              <a:defRPr sz="1050" b="0">
                <a:solidFill>
                  <a:srgbClr val="E2E8F0"/>
                </a:solidFill>
              </a:defRPr>
            </a:pPr>
            <a:r>
              <a:rPr sz="1050" b="0">
                <a:solidFill>
                  <a:srgbClr val="E2E8F0"/>
                </a:solidFill>
              </a:rPr>
              <a:t>            filePath, StandardCharsets.UTF_8)) {</a:t>
            </a:r>
          </a:p>
          <a:p>
            <a:pPr algn="l">
              <a:defRPr sz="1050" b="0">
                <a:solidFill>
                  <a:srgbClr val="E2E8F0"/>
                </a:solidFill>
              </a:defRPr>
            </a:pPr>
            <a:r>
              <a:rPr sz="1050" b="0">
                <a:solidFill>
                  <a:srgbClr val="E2E8F0"/>
                </a:solidFill>
              </a:rPr>
              <a:t>        return objectMapper.readValue(reader, listType);</a:t>
            </a:r>
          </a:p>
          <a:p>
            <a:pPr algn="l">
              <a:defRPr sz="1050" b="0">
                <a:solidFill>
                  <a:srgbClr val="E2E8F0"/>
                </a:solidFill>
              </a:defRPr>
            </a:pPr>
            <a:r>
              <a:rPr sz="1050" b="0">
                <a:solidFill>
                  <a:srgbClr val="E2E8F0"/>
                </a:solidFill>
              </a:rPr>
              <a:t>    }</a:t>
            </a:r>
          </a:p>
          <a:p>
            <a:pPr algn="l">
              <a:defRPr sz="1050" b="0">
                <a:solidFill>
                  <a:srgbClr val="E2E8F0"/>
                </a:solidFill>
              </a:defRPr>
            </a:pPr>
            <a:r>
              <a:rPr sz="1050" b="0">
                <a:solidFill>
                  <a:srgbClr val="E2E8F0"/>
                </a:solidFill>
              </a:rPr>
              <a:t>}</a:t>
            </a:r>
          </a:p>
        </p:txBody>
      </p:sp>
      <p:sp>
        <p:nvSpPr>
          <p:cNvPr id="20" name="Rectangle: Rounded Corners 19">
            <a:extLst>
              <a:ext uri="{FF2B5EF4-FFF2-40B4-BE49-F238E27FC236}">
                <a16:creationId xmlns:a16="http://schemas.microsoft.com/office/drawing/2014/main" id="{9C3DC87F-E6E5-44CE-8DCA-A58390D5D4B9}"/>
              </a:ext>
            </a:extLst>
          </p:cNvPr>
          <p:cNvSpPr>
            <a:spLocks noGrp="1"/>
          </p:cNvSpPr>
          <p:nvPr/>
        </p:nvSpPr>
        <p:spPr>
          <a:xfrm>
            <a:off x="6438900" y="2686050"/>
            <a:ext cx="4762500" cy="1962150"/>
          </a:xfrm>
          <a:prstGeom prst="roundRect">
            <a:avLst>
              <a:gd name="adj" fmla="val 5825"/>
            </a:avLst>
          </a:prstGeom>
          <a:solidFill>
            <a:srgbClr val="0B1220"/>
          </a:solidFill>
          <a:ln w="9525">
            <a:solidFill>
              <a:srgbClr val="0B1220"/>
            </a:solidFill>
            <a:prstDash val="solid"/>
          </a:ln>
        </p:spPr>
      </p:sp>
      <p:sp>
        <p:nvSpPr>
          <p:cNvPr id="21" name="Rectangle 20">
            <a:extLst>
              <a:ext uri="{FF2B5EF4-FFF2-40B4-BE49-F238E27FC236}">
                <a16:creationId xmlns:a16="http://schemas.microsoft.com/office/drawing/2014/main" id="{869D2D58-729B-47B4-802F-D963D2B4B811}"/>
              </a:ext>
            </a:extLst>
          </p:cNvPr>
          <p:cNvSpPr>
            <a:spLocks noGrp="1"/>
          </p:cNvSpPr>
          <p:nvPr/>
        </p:nvSpPr>
        <p:spPr>
          <a:xfrm>
            <a:off x="6610350" y="2838450"/>
            <a:ext cx="4419600" cy="1695450"/>
          </a:xfrm>
          <a:prstGeom prst="rect">
            <a:avLst/>
          </a:prstGeom>
          <a:noFill/>
          <a:ln w="0">
            <a:noFill/>
            <a:prstDash val="solid"/>
          </a:ln>
        </p:spPr>
        <p:txBody>
          <a:bodyPr/>
          <a:lstStyle/>
          <a:p>
            <a:pPr algn="l">
              <a:defRPr sz="1050" b="0">
                <a:solidFill>
                  <a:srgbClr val="E2E8F0"/>
                </a:solidFill>
              </a:defRPr>
            </a:pPr>
            <a:r>
              <a:rPr sz="1050" b="0">
                <a:solidFill>
                  <a:srgbClr val="E2E8F0"/>
                </a:solidFill>
              </a:rPr>
              <a:t>public List&lt;Course&gt; findAll() {</a:t>
            </a:r>
          </a:p>
          <a:p>
            <a:pPr algn="l">
              <a:defRPr sz="1050" b="0">
                <a:solidFill>
                  <a:srgbClr val="E2E8F0"/>
                </a:solidFill>
              </a:defRPr>
            </a:pPr>
            <a:r>
              <a:rPr sz="1050" b="0">
                <a:solidFill>
                  <a:srgbClr val="E2E8F0"/>
                </a:solidFill>
              </a:rPr>
              <a:t>    return jsonFileUtils.readList(COURSES_FILE, Course.class);</a:t>
            </a:r>
          </a:p>
          <a:p>
            <a:pPr algn="l">
              <a:defRPr sz="1050" b="0">
                <a:solidFill>
                  <a:srgbClr val="E2E8F0"/>
                </a:solidFill>
              </a:defRPr>
            </a:pPr>
            <a:r>
              <a:rPr sz="1050" b="0">
                <a:solidFill>
                  <a:srgbClr val="E2E8F0"/>
                </a:solidFill>
              </a:rPr>
              <a:t>}</a:t>
            </a:r>
          </a:p>
          <a:p>
            <a:endParaRPr sz="1050" b="0">
              <a:solidFill>
                <a:srgbClr val="E2E8F0"/>
              </a:solidFill>
            </a:endParaRPr>
          </a:p>
          <a:p>
            <a:pPr algn="l">
              <a:defRPr sz="1050" b="0">
                <a:solidFill>
                  <a:srgbClr val="E2E8F0"/>
                </a:solidFill>
              </a:defRPr>
            </a:pPr>
            <a:r>
              <a:rPr sz="1050" b="0">
                <a:solidFill>
                  <a:srgbClr val="E2E8F0"/>
                </a:solidFill>
              </a:rPr>
              <a:t>public void save(Course course) {</a:t>
            </a:r>
          </a:p>
          <a:p>
            <a:pPr algn="l">
              <a:defRPr sz="1050" b="0">
                <a:solidFill>
                  <a:srgbClr val="E2E8F0"/>
                </a:solidFill>
              </a:defRPr>
            </a:pPr>
            <a:r>
              <a:rPr sz="1050" b="0">
                <a:solidFill>
                  <a:srgbClr val="E2E8F0"/>
                </a:solidFill>
              </a:rPr>
              <a:t>    List&lt;Course&gt; courses = new ArrayList&lt;&gt;(findAll());</a:t>
            </a:r>
          </a:p>
          <a:p>
            <a:pPr algn="l">
              <a:defRPr sz="1050" b="0">
                <a:solidFill>
                  <a:srgbClr val="E2E8F0"/>
                </a:solidFill>
              </a:defRPr>
            </a:pPr>
            <a:r>
              <a:rPr sz="1050" b="0">
                <a:solidFill>
                  <a:srgbClr val="E2E8F0"/>
                </a:solidFill>
              </a:rPr>
              <a:t>    // cập nhật danh sách rồi ghi lại JSON</a:t>
            </a:r>
          </a:p>
          <a:p>
            <a:pPr algn="l">
              <a:defRPr sz="1050" b="0">
                <a:solidFill>
                  <a:srgbClr val="E2E8F0"/>
                </a:solidFill>
              </a:defRPr>
            </a:pPr>
            <a:r>
              <a:rPr sz="1050" b="0">
                <a:solidFill>
                  <a:srgbClr val="E2E8F0"/>
                </a:solidFill>
              </a:rPr>
              <a:t>    jsonFileUtils.writeList(COURSES_FILE, courses);</a:t>
            </a:r>
          </a:p>
          <a:p>
            <a:pPr algn="l">
              <a:defRPr sz="1050" b="0">
                <a:solidFill>
                  <a:srgbClr val="E2E8F0"/>
                </a:solidFill>
              </a:defRPr>
            </a:pPr>
            <a:r>
              <a:rPr sz="1050" b="0">
                <a:solidFill>
                  <a:srgbClr val="E2E8F0"/>
                </a:solidFill>
              </a:rPr>
              <a:t>}</a:t>
            </a:r>
          </a:p>
        </p:txBody>
      </p:sp>
      <p:sp>
        <p:nvSpPr>
          <p:cNvPr id="22" name="Rectangle 21">
            <a:extLst>
              <a:ext uri="{FF2B5EF4-FFF2-40B4-BE49-F238E27FC236}">
                <a16:creationId xmlns:a16="http://schemas.microsoft.com/office/drawing/2014/main" id="{A3D7ECCF-4A11-4BA6-BAE6-07BE5950D9FC}"/>
              </a:ext>
            </a:extLst>
          </p:cNvPr>
          <p:cNvSpPr>
            <a:spLocks noGrp="1"/>
          </p:cNvSpPr>
          <p:nvPr/>
        </p:nvSpPr>
        <p:spPr>
          <a:xfrm>
            <a:off x="6515100" y="4991100"/>
            <a:ext cx="4495800" cy="419100"/>
          </a:xfrm>
          <a:prstGeom prst="rect">
            <a:avLst/>
          </a:prstGeom>
          <a:noFill/>
          <a:ln w="0">
            <a:noFill/>
            <a:prstDash val="solid"/>
          </a:ln>
        </p:spPr>
        <p:txBody>
          <a:bodyPr/>
          <a:lstStyle/>
          <a:p>
            <a:pPr algn="l">
              <a:defRPr sz="1350" b="1">
                <a:solidFill>
                  <a:srgbClr val="0B2A6F"/>
                </a:solidFill>
              </a:defRPr>
            </a:pPr>
            <a:r>
              <a:rPr sz="1350" b="1">
                <a:solidFill>
                  <a:srgbClr val="0B2A6F"/>
                </a:solidFill>
              </a:rPr>
              <a:t>Không hard-code đường dẫn máy cá nhân: data dir lấy từ cấu hình `app.data-dir`.</a:t>
            </a:r>
          </a:p>
        </p:txBody>
      </p:sp>
    </p:spTree>
    <p:extLst>
      <p:ext uri="{BB962C8B-B14F-4D97-AF65-F5344CB8AC3E}">
        <p14:creationId xmlns:p14="http://schemas.microsoft.com/office/powerpoint/2010/main" val="559277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ACC26655-42F4-4EC3-A1EB-C022B78D83D1}"/>
              </a:ext>
            </a:extLst>
          </p:cNvPr>
          <p:cNvSpPr>
            <a:spLocks noGrp="1"/>
          </p:cNvSpPr>
          <p:nvPr/>
        </p:nvSpPr>
        <p:spPr>
          <a:xfrm>
            <a:off x="0" y="0"/>
            <a:ext cx="12192000" cy="6858000"/>
          </a:xfrm>
          <a:prstGeom prst="rect">
            <a:avLst/>
          </a:prstGeom>
          <a:solidFill>
            <a:srgbClr val="F8FBFF"/>
          </a:solidFill>
          <a:ln w="0">
            <a:noFill/>
            <a:prstDash val="solid"/>
          </a:ln>
        </p:spPr>
      </p:sp>
      <p:sp>
        <p:nvSpPr>
          <p:cNvPr id="2" name="Rectangle 1">
            <a:extLst>
              <a:ext uri="{FF2B5EF4-FFF2-40B4-BE49-F238E27FC236}">
                <a16:creationId xmlns:a16="http://schemas.microsoft.com/office/drawing/2014/main" id="{E6CDEC04-CFB9-4CDD-ADED-67B62C29D291}"/>
              </a:ext>
            </a:extLst>
          </p:cNvPr>
          <p:cNvSpPr>
            <a:spLocks noGrp="1"/>
          </p:cNvSpPr>
          <p:nvPr/>
        </p:nvSpPr>
        <p:spPr>
          <a:xfrm>
            <a:off x="609600" y="323850"/>
            <a:ext cx="7239000" cy="266700"/>
          </a:xfrm>
          <a:prstGeom prst="rect">
            <a:avLst/>
          </a:prstGeom>
          <a:noFill/>
          <a:ln w="0">
            <a:noFill/>
            <a:prstDash val="solid"/>
          </a:ln>
        </p:spPr>
        <p:txBody>
          <a:bodyPr/>
          <a:lstStyle/>
          <a:p>
            <a:pPr algn="l">
              <a:defRPr sz="1050" b="1">
                <a:solidFill>
                  <a:srgbClr val="0B5FFF"/>
                </a:solidFill>
              </a:defRPr>
            </a:pPr>
            <a:r>
              <a:rPr sz="1050" b="1">
                <a:solidFill>
                  <a:srgbClr val="0B5FFF"/>
                </a:solidFill>
              </a:rPr>
              <a:t>THIẾT KẾ OOP | Minh chứng từ source</a:t>
            </a:r>
          </a:p>
        </p:txBody>
      </p:sp>
      <p:sp>
        <p:nvSpPr>
          <p:cNvPr id="3" name="Rectangle 2">
            <a:extLst>
              <a:ext uri="{FF2B5EF4-FFF2-40B4-BE49-F238E27FC236}">
                <a16:creationId xmlns:a16="http://schemas.microsoft.com/office/drawing/2014/main" id="{C84CBB85-A1AA-4BC1-B251-421160E46140}"/>
              </a:ext>
            </a:extLst>
          </p:cNvPr>
          <p:cNvSpPr>
            <a:spLocks noGrp="1"/>
          </p:cNvSpPr>
          <p:nvPr/>
        </p:nvSpPr>
        <p:spPr>
          <a:xfrm>
            <a:off x="609600" y="628650"/>
            <a:ext cx="10096500" cy="533400"/>
          </a:xfrm>
          <a:prstGeom prst="rect">
            <a:avLst/>
          </a:prstGeom>
          <a:noFill/>
          <a:ln w="0">
            <a:noFill/>
            <a:prstDash val="solid"/>
          </a:ln>
        </p:spPr>
        <p:txBody>
          <a:bodyPr/>
          <a:lstStyle/>
          <a:p>
            <a:pPr algn="l">
              <a:defRPr sz="2550" b="1">
                <a:solidFill>
                  <a:srgbClr val="0F172A"/>
                </a:solidFill>
              </a:defRPr>
            </a:pPr>
            <a:r>
              <a:rPr sz="2550" b="1">
                <a:solidFill>
                  <a:srgbClr val="0F172A"/>
                </a:solidFill>
              </a:rPr>
              <a:t>Quan hệ class chính trong luồng đăng ký</a:t>
            </a:r>
          </a:p>
        </p:txBody>
      </p:sp>
      <p:sp>
        <p:nvSpPr>
          <p:cNvPr id="4" name="Straight Connector 3">
            <a:extLst>
              <a:ext uri="{FF2B5EF4-FFF2-40B4-BE49-F238E27FC236}">
                <a16:creationId xmlns:a16="http://schemas.microsoft.com/office/drawing/2014/main" id="{5A99F0AA-9E1E-495A-899E-ACCC11BEF726}"/>
              </a:ext>
            </a:extLst>
          </p:cNvPr>
          <p:cNvSpPr>
            <a:spLocks noGrp="1"/>
          </p:cNvSpPr>
          <p:nvPr/>
        </p:nvSpPr>
        <p:spPr>
          <a:xfrm>
            <a:off x="609600" y="1257300"/>
            <a:ext cx="10972800" cy="0"/>
          </a:xfrm>
          <a:prstGeom prst="line">
            <a:avLst/>
          </a:prstGeom>
          <a:noFill/>
          <a:ln w="9525">
            <a:solidFill>
              <a:srgbClr val="DDE7F3"/>
            </a:solidFill>
            <a:prstDash val="solid"/>
          </a:ln>
        </p:spPr>
      </p:sp>
      <p:sp>
        <p:nvSpPr>
          <p:cNvPr id="5" name="Rectangle 4">
            <a:extLst>
              <a:ext uri="{FF2B5EF4-FFF2-40B4-BE49-F238E27FC236}">
                <a16:creationId xmlns:a16="http://schemas.microsoft.com/office/drawing/2014/main" id="{27156FFA-CF21-461D-8C00-07F30F47567C}"/>
              </a:ext>
            </a:extLst>
          </p:cNvPr>
          <p:cNvSpPr>
            <a:spLocks noGrp="1"/>
          </p:cNvSpPr>
          <p:nvPr/>
        </p:nvSpPr>
        <p:spPr>
          <a:xfrm>
            <a:off x="609600" y="6457950"/>
            <a:ext cx="4953000" cy="209550"/>
          </a:xfrm>
          <a:prstGeom prst="rect">
            <a:avLst/>
          </a:prstGeom>
          <a:noFill/>
          <a:ln w="0">
            <a:noFill/>
            <a:prstDash val="solid"/>
          </a:ln>
        </p:spPr>
        <p:txBody>
          <a:bodyPr/>
          <a:lstStyle/>
          <a:p>
            <a:pPr algn="l">
              <a:defRPr sz="900" b="0">
                <a:solidFill>
                  <a:srgbClr val="94A3B8"/>
                </a:solidFill>
              </a:defRPr>
            </a:pPr>
            <a:r>
              <a:rPr sz="900" b="0">
                <a:solidFill>
                  <a:srgbClr val="94A3B8"/>
                </a:solidFill>
              </a:rPr>
              <a:t>Nhóm 2 - Phenikaa University</a:t>
            </a:r>
          </a:p>
        </p:txBody>
      </p:sp>
      <p:sp>
        <p:nvSpPr>
          <p:cNvPr id="6" name="Rectangle 5">
            <a:extLst>
              <a:ext uri="{FF2B5EF4-FFF2-40B4-BE49-F238E27FC236}">
                <a16:creationId xmlns:a16="http://schemas.microsoft.com/office/drawing/2014/main" id="{67292AF9-7A30-4F82-AC9A-B9BD24C6F3C3}"/>
              </a:ext>
            </a:extLst>
          </p:cNvPr>
          <p:cNvSpPr>
            <a:spLocks noGrp="1"/>
          </p:cNvSpPr>
          <p:nvPr/>
        </p:nvSpPr>
        <p:spPr>
          <a:xfrm>
            <a:off x="10382250" y="6457950"/>
            <a:ext cx="1200150" cy="209550"/>
          </a:xfrm>
          <a:prstGeom prst="rect">
            <a:avLst/>
          </a:prstGeom>
          <a:noFill/>
          <a:ln w="0">
            <a:noFill/>
            <a:prstDash val="solid"/>
          </a:ln>
        </p:spPr>
        <p:txBody>
          <a:bodyPr/>
          <a:lstStyle/>
          <a:p>
            <a:pPr algn="r">
              <a:defRPr sz="900" b="0">
                <a:solidFill>
                  <a:srgbClr val="94A3B8"/>
                </a:solidFill>
              </a:defRPr>
            </a:pPr>
            <a:r>
              <a:rPr sz="900" b="0">
                <a:solidFill>
                  <a:srgbClr val="94A3B8"/>
                </a:solidFill>
              </a:rPr>
              <a:t>06G</a:t>
            </a:r>
          </a:p>
        </p:txBody>
      </p:sp>
      <p:sp>
        <p:nvSpPr>
          <p:cNvPr id="7" name="Rectangle: Rounded Corners 6">
            <a:extLst>
              <a:ext uri="{FF2B5EF4-FFF2-40B4-BE49-F238E27FC236}">
                <a16:creationId xmlns:a16="http://schemas.microsoft.com/office/drawing/2014/main" id="{CE932D51-0B1B-49B6-AF78-6FB74C02D415}"/>
              </a:ext>
            </a:extLst>
          </p:cNvPr>
          <p:cNvSpPr>
            <a:spLocks noGrp="1"/>
          </p:cNvSpPr>
          <p:nvPr/>
        </p:nvSpPr>
        <p:spPr>
          <a:xfrm>
            <a:off x="666750" y="1466850"/>
            <a:ext cx="1996440" cy="781050"/>
          </a:xfrm>
          <a:prstGeom prst="roundRect">
            <a:avLst>
              <a:gd name="adj" fmla="val 14634"/>
            </a:avLst>
          </a:prstGeom>
          <a:solidFill>
            <a:srgbClr val="EAF2FF"/>
          </a:solidFill>
          <a:ln w="9525">
            <a:solidFill>
              <a:srgbClr val="BBD3FF"/>
            </a:solidFill>
            <a:prstDash val="solid"/>
          </a:ln>
        </p:spPr>
      </p:sp>
      <p:sp>
        <p:nvSpPr>
          <p:cNvPr id="8" name="Rectangle 7">
            <a:extLst>
              <a:ext uri="{FF2B5EF4-FFF2-40B4-BE49-F238E27FC236}">
                <a16:creationId xmlns:a16="http://schemas.microsoft.com/office/drawing/2014/main" id="{3E3637F7-2E1E-4EA8-8DE0-DEB605FD90F6}"/>
              </a:ext>
            </a:extLst>
          </p:cNvPr>
          <p:cNvSpPr>
            <a:spLocks noGrp="1"/>
          </p:cNvSpPr>
          <p:nvPr/>
        </p:nvSpPr>
        <p:spPr>
          <a:xfrm>
            <a:off x="781050" y="1619250"/>
            <a:ext cx="1767840" cy="514350"/>
          </a:xfrm>
          <a:prstGeom prst="rect">
            <a:avLst/>
          </a:prstGeom>
          <a:noFill/>
          <a:ln w="0">
            <a:noFill/>
            <a:prstDash val="solid"/>
          </a:ln>
        </p:spPr>
        <p:txBody>
          <a:bodyPr/>
          <a:lstStyle/>
          <a:p>
            <a:pPr algn="ctr">
              <a:defRPr sz="1275" b="1">
                <a:solidFill>
                  <a:srgbClr val="0B2A6F"/>
                </a:solidFill>
              </a:defRPr>
            </a:pPr>
            <a:r>
              <a:rPr sz="1275" b="1">
                <a:solidFill>
                  <a:srgbClr val="0B2A6F"/>
                </a:solidFill>
              </a:rPr>
              <a:t>Student</a:t>
            </a:r>
          </a:p>
        </p:txBody>
      </p:sp>
      <p:sp>
        <p:nvSpPr>
          <p:cNvPr id="9" name="Arrow: Right 8">
            <a:extLst>
              <a:ext uri="{FF2B5EF4-FFF2-40B4-BE49-F238E27FC236}">
                <a16:creationId xmlns:a16="http://schemas.microsoft.com/office/drawing/2014/main" id="{A49B4A64-6087-4A9A-8BDB-1BB20C24703B}"/>
              </a:ext>
            </a:extLst>
          </p:cNvPr>
          <p:cNvSpPr>
            <a:spLocks noGrp="1"/>
          </p:cNvSpPr>
          <p:nvPr/>
        </p:nvSpPr>
        <p:spPr>
          <a:xfrm>
            <a:off x="2644140" y="1743075"/>
            <a:ext cx="209550" cy="228600"/>
          </a:xfrm>
          <a:prstGeom prst="rightArrow">
            <a:avLst/>
          </a:prstGeom>
          <a:solidFill>
            <a:srgbClr val="C9DAFF"/>
          </a:solidFill>
          <a:ln w="0">
            <a:solidFill>
              <a:srgbClr val="C9DAFF"/>
            </a:solidFill>
            <a:prstDash val="solid"/>
          </a:ln>
        </p:spPr>
      </p:sp>
      <p:sp>
        <p:nvSpPr>
          <p:cNvPr id="10" name="Rectangle: Rounded Corners 9">
            <a:extLst>
              <a:ext uri="{FF2B5EF4-FFF2-40B4-BE49-F238E27FC236}">
                <a16:creationId xmlns:a16="http://schemas.microsoft.com/office/drawing/2014/main" id="{D9EAC126-EDC5-4CAA-9B79-4BCDED0038A8}"/>
              </a:ext>
            </a:extLst>
          </p:cNvPr>
          <p:cNvSpPr>
            <a:spLocks noGrp="1"/>
          </p:cNvSpPr>
          <p:nvPr/>
        </p:nvSpPr>
        <p:spPr>
          <a:xfrm>
            <a:off x="2834640" y="1466850"/>
            <a:ext cx="1996440" cy="781050"/>
          </a:xfrm>
          <a:prstGeom prst="roundRect">
            <a:avLst>
              <a:gd name="adj" fmla="val 14634"/>
            </a:avLst>
          </a:prstGeom>
          <a:solidFill>
            <a:srgbClr val="EAF2FF"/>
          </a:solidFill>
          <a:ln w="9525">
            <a:solidFill>
              <a:srgbClr val="BBD3FF"/>
            </a:solidFill>
            <a:prstDash val="solid"/>
          </a:ln>
        </p:spPr>
      </p:sp>
      <p:sp>
        <p:nvSpPr>
          <p:cNvPr id="11" name="Rectangle 10">
            <a:extLst>
              <a:ext uri="{FF2B5EF4-FFF2-40B4-BE49-F238E27FC236}">
                <a16:creationId xmlns:a16="http://schemas.microsoft.com/office/drawing/2014/main" id="{904AC1D3-54DF-4646-96D3-4B886CDC0E96}"/>
              </a:ext>
            </a:extLst>
          </p:cNvPr>
          <p:cNvSpPr>
            <a:spLocks noGrp="1"/>
          </p:cNvSpPr>
          <p:nvPr/>
        </p:nvSpPr>
        <p:spPr>
          <a:xfrm>
            <a:off x="2948940" y="1619250"/>
            <a:ext cx="1767840" cy="514350"/>
          </a:xfrm>
          <a:prstGeom prst="rect">
            <a:avLst/>
          </a:prstGeom>
          <a:noFill/>
          <a:ln w="0">
            <a:noFill/>
            <a:prstDash val="solid"/>
          </a:ln>
        </p:spPr>
        <p:txBody>
          <a:bodyPr/>
          <a:lstStyle/>
          <a:p>
            <a:pPr algn="ctr">
              <a:defRPr sz="1275" b="1">
                <a:solidFill>
                  <a:srgbClr val="0B2A6F"/>
                </a:solidFill>
              </a:defRPr>
            </a:pPr>
            <a:r>
              <a:rPr sz="1275" b="1">
                <a:solidFill>
                  <a:srgbClr val="0B2A6F"/>
                </a:solidFill>
              </a:rPr>
              <a:t>Registration</a:t>
            </a:r>
          </a:p>
        </p:txBody>
      </p:sp>
      <p:sp>
        <p:nvSpPr>
          <p:cNvPr id="12" name="Arrow: Right 11">
            <a:extLst>
              <a:ext uri="{FF2B5EF4-FFF2-40B4-BE49-F238E27FC236}">
                <a16:creationId xmlns:a16="http://schemas.microsoft.com/office/drawing/2014/main" id="{84428503-1D82-47AB-9330-3BD2AEB849B0}"/>
              </a:ext>
            </a:extLst>
          </p:cNvPr>
          <p:cNvSpPr>
            <a:spLocks noGrp="1"/>
          </p:cNvSpPr>
          <p:nvPr/>
        </p:nvSpPr>
        <p:spPr>
          <a:xfrm>
            <a:off x="4812030" y="1743075"/>
            <a:ext cx="209550" cy="228600"/>
          </a:xfrm>
          <a:prstGeom prst="rightArrow">
            <a:avLst/>
          </a:prstGeom>
          <a:solidFill>
            <a:srgbClr val="C9DAFF"/>
          </a:solidFill>
          <a:ln w="0">
            <a:solidFill>
              <a:srgbClr val="C9DAFF"/>
            </a:solidFill>
            <a:prstDash val="solid"/>
          </a:ln>
        </p:spPr>
      </p:sp>
      <p:sp>
        <p:nvSpPr>
          <p:cNvPr id="13" name="Rectangle: Rounded Corners 12">
            <a:extLst>
              <a:ext uri="{FF2B5EF4-FFF2-40B4-BE49-F238E27FC236}">
                <a16:creationId xmlns:a16="http://schemas.microsoft.com/office/drawing/2014/main" id="{D62CDB99-67D4-4916-9663-EA3A48E89C8B}"/>
              </a:ext>
            </a:extLst>
          </p:cNvPr>
          <p:cNvSpPr>
            <a:spLocks noGrp="1"/>
          </p:cNvSpPr>
          <p:nvPr/>
        </p:nvSpPr>
        <p:spPr>
          <a:xfrm>
            <a:off x="5002530" y="1466850"/>
            <a:ext cx="1996440" cy="781050"/>
          </a:xfrm>
          <a:prstGeom prst="roundRect">
            <a:avLst>
              <a:gd name="adj" fmla="val 14634"/>
            </a:avLst>
          </a:prstGeom>
          <a:solidFill>
            <a:srgbClr val="EAF2FF"/>
          </a:solidFill>
          <a:ln w="9525">
            <a:solidFill>
              <a:srgbClr val="BBD3FF"/>
            </a:solidFill>
            <a:prstDash val="solid"/>
          </a:ln>
        </p:spPr>
      </p:sp>
      <p:sp>
        <p:nvSpPr>
          <p:cNvPr id="14" name="Rectangle 13">
            <a:extLst>
              <a:ext uri="{FF2B5EF4-FFF2-40B4-BE49-F238E27FC236}">
                <a16:creationId xmlns:a16="http://schemas.microsoft.com/office/drawing/2014/main" id="{DA37DFA9-467B-496D-BE93-5BE7AC840794}"/>
              </a:ext>
            </a:extLst>
          </p:cNvPr>
          <p:cNvSpPr>
            <a:spLocks noGrp="1"/>
          </p:cNvSpPr>
          <p:nvPr/>
        </p:nvSpPr>
        <p:spPr>
          <a:xfrm>
            <a:off x="5116830" y="1619250"/>
            <a:ext cx="1767840" cy="514350"/>
          </a:xfrm>
          <a:prstGeom prst="rect">
            <a:avLst/>
          </a:prstGeom>
          <a:noFill/>
          <a:ln w="0">
            <a:noFill/>
            <a:prstDash val="solid"/>
          </a:ln>
        </p:spPr>
        <p:txBody>
          <a:bodyPr/>
          <a:lstStyle/>
          <a:p>
            <a:pPr algn="ctr">
              <a:defRPr sz="1275" b="1">
                <a:solidFill>
                  <a:srgbClr val="0B2A6F"/>
                </a:solidFill>
              </a:defRPr>
            </a:pPr>
            <a:r>
              <a:rPr sz="1275" b="1">
                <a:solidFill>
                  <a:srgbClr val="0B2A6F"/>
                </a:solidFill>
              </a:rPr>
              <a:t>RegistrationDetail</a:t>
            </a:r>
          </a:p>
        </p:txBody>
      </p:sp>
      <p:sp>
        <p:nvSpPr>
          <p:cNvPr id="15" name="Arrow: Right 14">
            <a:extLst>
              <a:ext uri="{FF2B5EF4-FFF2-40B4-BE49-F238E27FC236}">
                <a16:creationId xmlns:a16="http://schemas.microsoft.com/office/drawing/2014/main" id="{B9AB2CC6-B670-49A3-A978-9E4661FF3DAB}"/>
              </a:ext>
            </a:extLst>
          </p:cNvPr>
          <p:cNvSpPr>
            <a:spLocks noGrp="1"/>
          </p:cNvSpPr>
          <p:nvPr/>
        </p:nvSpPr>
        <p:spPr>
          <a:xfrm>
            <a:off x="6979920" y="1743075"/>
            <a:ext cx="209550" cy="228600"/>
          </a:xfrm>
          <a:prstGeom prst="rightArrow">
            <a:avLst/>
          </a:prstGeom>
          <a:solidFill>
            <a:srgbClr val="C9DAFF"/>
          </a:solidFill>
          <a:ln w="0">
            <a:solidFill>
              <a:srgbClr val="C9DAFF"/>
            </a:solidFill>
            <a:prstDash val="solid"/>
          </a:ln>
        </p:spPr>
      </p:sp>
      <p:sp>
        <p:nvSpPr>
          <p:cNvPr id="16" name="Rectangle: Rounded Corners 15">
            <a:extLst>
              <a:ext uri="{FF2B5EF4-FFF2-40B4-BE49-F238E27FC236}">
                <a16:creationId xmlns:a16="http://schemas.microsoft.com/office/drawing/2014/main" id="{AA246B20-C9AF-450C-807B-6BE56272028B}"/>
              </a:ext>
            </a:extLst>
          </p:cNvPr>
          <p:cNvSpPr>
            <a:spLocks noGrp="1"/>
          </p:cNvSpPr>
          <p:nvPr/>
        </p:nvSpPr>
        <p:spPr>
          <a:xfrm>
            <a:off x="7170420" y="1466850"/>
            <a:ext cx="1996440" cy="781050"/>
          </a:xfrm>
          <a:prstGeom prst="roundRect">
            <a:avLst>
              <a:gd name="adj" fmla="val 14634"/>
            </a:avLst>
          </a:prstGeom>
          <a:solidFill>
            <a:srgbClr val="EAF2FF"/>
          </a:solidFill>
          <a:ln w="9525">
            <a:solidFill>
              <a:srgbClr val="BBD3FF"/>
            </a:solidFill>
            <a:prstDash val="solid"/>
          </a:ln>
        </p:spPr>
      </p:sp>
      <p:sp>
        <p:nvSpPr>
          <p:cNvPr id="17" name="Rectangle 16">
            <a:extLst>
              <a:ext uri="{FF2B5EF4-FFF2-40B4-BE49-F238E27FC236}">
                <a16:creationId xmlns:a16="http://schemas.microsoft.com/office/drawing/2014/main" id="{6562EFDF-A8AE-4045-A442-33ECE20E4835}"/>
              </a:ext>
            </a:extLst>
          </p:cNvPr>
          <p:cNvSpPr>
            <a:spLocks noGrp="1"/>
          </p:cNvSpPr>
          <p:nvPr/>
        </p:nvSpPr>
        <p:spPr>
          <a:xfrm>
            <a:off x="7284720" y="1619250"/>
            <a:ext cx="1767840" cy="514350"/>
          </a:xfrm>
          <a:prstGeom prst="rect">
            <a:avLst/>
          </a:prstGeom>
          <a:noFill/>
          <a:ln w="0">
            <a:noFill/>
            <a:prstDash val="solid"/>
          </a:ln>
        </p:spPr>
        <p:txBody>
          <a:bodyPr/>
          <a:lstStyle/>
          <a:p>
            <a:pPr algn="ctr">
              <a:defRPr sz="1275" b="1">
                <a:solidFill>
                  <a:srgbClr val="0B2A6F"/>
                </a:solidFill>
              </a:defRPr>
            </a:pPr>
            <a:r>
              <a:rPr sz="1275" b="1">
                <a:solidFill>
                  <a:srgbClr val="0B2A6F"/>
                </a:solidFill>
              </a:rPr>
              <a:t>Course</a:t>
            </a:r>
          </a:p>
        </p:txBody>
      </p:sp>
      <p:sp>
        <p:nvSpPr>
          <p:cNvPr id="18" name="Arrow: Right 17">
            <a:extLst>
              <a:ext uri="{FF2B5EF4-FFF2-40B4-BE49-F238E27FC236}">
                <a16:creationId xmlns:a16="http://schemas.microsoft.com/office/drawing/2014/main" id="{87DE7817-7A60-4810-B119-A286A4F43132}"/>
              </a:ext>
            </a:extLst>
          </p:cNvPr>
          <p:cNvSpPr>
            <a:spLocks noGrp="1"/>
          </p:cNvSpPr>
          <p:nvPr/>
        </p:nvSpPr>
        <p:spPr>
          <a:xfrm>
            <a:off x="9147810" y="1743075"/>
            <a:ext cx="209550" cy="228600"/>
          </a:xfrm>
          <a:prstGeom prst="rightArrow">
            <a:avLst/>
          </a:prstGeom>
          <a:solidFill>
            <a:srgbClr val="C9DAFF"/>
          </a:solidFill>
          <a:ln w="0">
            <a:solidFill>
              <a:srgbClr val="C9DAFF"/>
            </a:solidFill>
            <a:prstDash val="solid"/>
          </a:ln>
        </p:spPr>
      </p:sp>
      <p:sp>
        <p:nvSpPr>
          <p:cNvPr id="19" name="Rectangle: Rounded Corners 18">
            <a:extLst>
              <a:ext uri="{FF2B5EF4-FFF2-40B4-BE49-F238E27FC236}">
                <a16:creationId xmlns:a16="http://schemas.microsoft.com/office/drawing/2014/main" id="{F167341C-F351-4517-8890-3404824C2C25}"/>
              </a:ext>
            </a:extLst>
          </p:cNvPr>
          <p:cNvSpPr>
            <a:spLocks noGrp="1"/>
          </p:cNvSpPr>
          <p:nvPr/>
        </p:nvSpPr>
        <p:spPr>
          <a:xfrm>
            <a:off x="9338310" y="1466850"/>
            <a:ext cx="1996440" cy="781050"/>
          </a:xfrm>
          <a:prstGeom prst="roundRect">
            <a:avLst>
              <a:gd name="adj" fmla="val 14634"/>
            </a:avLst>
          </a:prstGeom>
          <a:solidFill>
            <a:srgbClr val="EAF8F0"/>
          </a:solidFill>
          <a:ln w="9525">
            <a:solidFill>
              <a:srgbClr val="BFE9CF"/>
            </a:solidFill>
            <a:prstDash val="solid"/>
          </a:ln>
        </p:spPr>
      </p:sp>
      <p:sp>
        <p:nvSpPr>
          <p:cNvPr id="20" name="Rectangle 19">
            <a:extLst>
              <a:ext uri="{FF2B5EF4-FFF2-40B4-BE49-F238E27FC236}">
                <a16:creationId xmlns:a16="http://schemas.microsoft.com/office/drawing/2014/main" id="{E5DBBB81-461C-4B1C-93F2-8308CB0381A5}"/>
              </a:ext>
            </a:extLst>
          </p:cNvPr>
          <p:cNvSpPr>
            <a:spLocks noGrp="1"/>
          </p:cNvSpPr>
          <p:nvPr/>
        </p:nvSpPr>
        <p:spPr>
          <a:xfrm>
            <a:off x="9452610" y="1619250"/>
            <a:ext cx="1767840" cy="514350"/>
          </a:xfrm>
          <a:prstGeom prst="rect">
            <a:avLst/>
          </a:prstGeom>
          <a:noFill/>
          <a:ln w="0">
            <a:noFill/>
            <a:prstDash val="solid"/>
          </a:ln>
        </p:spPr>
        <p:txBody>
          <a:bodyPr/>
          <a:lstStyle/>
          <a:p>
            <a:pPr algn="ctr">
              <a:defRPr sz="1275" b="1">
                <a:solidFill>
                  <a:srgbClr val="166534"/>
                </a:solidFill>
              </a:defRPr>
            </a:pPr>
            <a:r>
              <a:rPr sz="1275" b="1">
                <a:solidFill>
                  <a:srgbClr val="166534"/>
                </a:solidFill>
              </a:rPr>
              <a:t>Schedule</a:t>
            </a:r>
          </a:p>
        </p:txBody>
      </p:sp>
      <p:sp>
        <p:nvSpPr>
          <p:cNvPr id="21" name="Rectangle: Rounded Corners 20">
            <a:extLst>
              <a:ext uri="{FF2B5EF4-FFF2-40B4-BE49-F238E27FC236}">
                <a16:creationId xmlns:a16="http://schemas.microsoft.com/office/drawing/2014/main" id="{4ABBA463-BD47-4535-BC89-9622D652B0ED}"/>
              </a:ext>
            </a:extLst>
          </p:cNvPr>
          <p:cNvSpPr>
            <a:spLocks noGrp="1"/>
          </p:cNvSpPr>
          <p:nvPr/>
        </p:nvSpPr>
        <p:spPr>
          <a:xfrm>
            <a:off x="742950" y="2762250"/>
            <a:ext cx="4972050" cy="1314450"/>
          </a:xfrm>
          <a:prstGeom prst="roundRect">
            <a:avLst>
              <a:gd name="adj" fmla="val 8696"/>
            </a:avLst>
          </a:prstGeom>
          <a:solidFill>
            <a:srgbClr val="FFFFFF"/>
          </a:solidFill>
          <a:ln w="9525">
            <a:solidFill>
              <a:srgbClr val="DDE7F3"/>
            </a:solidFill>
            <a:prstDash val="solid"/>
          </a:ln>
        </p:spPr>
      </p:sp>
      <p:sp>
        <p:nvSpPr>
          <p:cNvPr id="22" name="Rectangle 21">
            <a:extLst>
              <a:ext uri="{FF2B5EF4-FFF2-40B4-BE49-F238E27FC236}">
                <a16:creationId xmlns:a16="http://schemas.microsoft.com/office/drawing/2014/main" id="{CE90172C-02C5-4F25-8055-869A1BCFE5D2}"/>
              </a:ext>
            </a:extLst>
          </p:cNvPr>
          <p:cNvSpPr>
            <a:spLocks noGrp="1"/>
          </p:cNvSpPr>
          <p:nvPr/>
        </p:nvSpPr>
        <p:spPr>
          <a:xfrm>
            <a:off x="742950" y="2762250"/>
            <a:ext cx="66675" cy="1314450"/>
          </a:xfrm>
          <a:prstGeom prst="rect">
            <a:avLst/>
          </a:prstGeom>
          <a:solidFill>
            <a:srgbClr val="0B5FFF"/>
          </a:solidFill>
          <a:ln w="9525">
            <a:solidFill>
              <a:srgbClr val="0B5FFF"/>
            </a:solidFill>
            <a:prstDash val="solid"/>
          </a:ln>
        </p:spPr>
      </p:sp>
      <p:sp>
        <p:nvSpPr>
          <p:cNvPr id="23" name="Rectangle 22">
            <a:extLst>
              <a:ext uri="{FF2B5EF4-FFF2-40B4-BE49-F238E27FC236}">
                <a16:creationId xmlns:a16="http://schemas.microsoft.com/office/drawing/2014/main" id="{A4AA3681-3602-44B2-8672-CFCDC2ABA940}"/>
              </a:ext>
            </a:extLst>
          </p:cNvPr>
          <p:cNvSpPr>
            <a:spLocks noGrp="1"/>
          </p:cNvSpPr>
          <p:nvPr/>
        </p:nvSpPr>
        <p:spPr>
          <a:xfrm>
            <a:off x="971550" y="2933700"/>
            <a:ext cx="451485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Quan hệ dữ liệu</a:t>
            </a:r>
          </a:p>
        </p:txBody>
      </p:sp>
      <p:sp>
        <p:nvSpPr>
          <p:cNvPr id="24" name="Rectangle 23">
            <a:extLst>
              <a:ext uri="{FF2B5EF4-FFF2-40B4-BE49-F238E27FC236}">
                <a16:creationId xmlns:a16="http://schemas.microsoft.com/office/drawing/2014/main" id="{1FB313FC-40A1-499D-9133-3373D8C3D659}"/>
              </a:ext>
            </a:extLst>
          </p:cNvPr>
          <p:cNvSpPr>
            <a:spLocks noGrp="1"/>
          </p:cNvSpPr>
          <p:nvPr/>
        </p:nvSpPr>
        <p:spPr>
          <a:xfrm>
            <a:off x="971550" y="3276600"/>
            <a:ext cx="4514850" cy="647700"/>
          </a:xfrm>
          <a:prstGeom prst="rect">
            <a:avLst/>
          </a:prstGeom>
          <a:noFill/>
          <a:ln w="0">
            <a:noFill/>
            <a:prstDash val="solid"/>
          </a:ln>
        </p:spPr>
        <p:txBody>
          <a:bodyPr/>
          <a:lstStyle/>
          <a:p>
            <a:pPr algn="l">
              <a:defRPr sz="1200" b="0">
                <a:solidFill>
                  <a:srgbClr val="64748B"/>
                </a:solidFill>
              </a:defRPr>
            </a:pPr>
            <a:r>
              <a:rPr sz="1200" b="0">
                <a:solidFill>
                  <a:srgbClr val="64748B"/>
                </a:solidFill>
              </a:rPr>
              <a:t>Một sinh viên có các bản ghi đăng ký. Mỗi đăng ký gồm nhiều detail, mỗi detail trỏ tới một học phần. Học phần có danh sách lịch học để kiểm tra trùng lịch.</a:t>
            </a:r>
          </a:p>
        </p:txBody>
      </p:sp>
      <p:sp>
        <p:nvSpPr>
          <p:cNvPr id="25" name="Rectangle: Rounded Corners 24">
            <a:extLst>
              <a:ext uri="{FF2B5EF4-FFF2-40B4-BE49-F238E27FC236}">
                <a16:creationId xmlns:a16="http://schemas.microsoft.com/office/drawing/2014/main" id="{687D676D-6FEF-46C9-880E-591AC9F3F983}"/>
              </a:ext>
            </a:extLst>
          </p:cNvPr>
          <p:cNvSpPr>
            <a:spLocks noGrp="1"/>
          </p:cNvSpPr>
          <p:nvPr/>
        </p:nvSpPr>
        <p:spPr>
          <a:xfrm>
            <a:off x="6457950" y="2762250"/>
            <a:ext cx="4972050" cy="1314450"/>
          </a:xfrm>
          <a:prstGeom prst="roundRect">
            <a:avLst>
              <a:gd name="adj" fmla="val 8696"/>
            </a:avLst>
          </a:prstGeom>
          <a:solidFill>
            <a:srgbClr val="FFFFFF"/>
          </a:solidFill>
          <a:ln w="9525">
            <a:solidFill>
              <a:srgbClr val="DDE7F3"/>
            </a:solidFill>
            <a:prstDash val="solid"/>
          </a:ln>
        </p:spPr>
      </p:sp>
      <p:sp>
        <p:nvSpPr>
          <p:cNvPr id="26" name="Rectangle 25">
            <a:extLst>
              <a:ext uri="{FF2B5EF4-FFF2-40B4-BE49-F238E27FC236}">
                <a16:creationId xmlns:a16="http://schemas.microsoft.com/office/drawing/2014/main" id="{6E615202-ECDE-4758-AD20-2CF77F61934F}"/>
              </a:ext>
            </a:extLst>
          </p:cNvPr>
          <p:cNvSpPr>
            <a:spLocks noGrp="1"/>
          </p:cNvSpPr>
          <p:nvPr/>
        </p:nvSpPr>
        <p:spPr>
          <a:xfrm>
            <a:off x="6457950" y="2762250"/>
            <a:ext cx="66675" cy="1314450"/>
          </a:xfrm>
          <a:prstGeom prst="rect">
            <a:avLst/>
          </a:prstGeom>
          <a:solidFill>
            <a:srgbClr val="16A34A"/>
          </a:solidFill>
          <a:ln w="9525">
            <a:solidFill>
              <a:srgbClr val="16A34A"/>
            </a:solidFill>
            <a:prstDash val="solid"/>
          </a:ln>
        </p:spPr>
      </p:sp>
      <p:sp>
        <p:nvSpPr>
          <p:cNvPr id="27" name="Rectangle 26">
            <a:extLst>
              <a:ext uri="{FF2B5EF4-FFF2-40B4-BE49-F238E27FC236}">
                <a16:creationId xmlns:a16="http://schemas.microsoft.com/office/drawing/2014/main" id="{157068FF-8DBC-4DF3-9905-40C9D7CC7407}"/>
              </a:ext>
            </a:extLst>
          </p:cNvPr>
          <p:cNvSpPr>
            <a:spLocks noGrp="1"/>
          </p:cNvSpPr>
          <p:nvPr/>
        </p:nvSpPr>
        <p:spPr>
          <a:xfrm>
            <a:off x="6686550" y="2933700"/>
            <a:ext cx="451485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Quan hệ xử lý</a:t>
            </a:r>
          </a:p>
        </p:txBody>
      </p:sp>
      <p:sp>
        <p:nvSpPr>
          <p:cNvPr id="28" name="Rectangle 27">
            <a:extLst>
              <a:ext uri="{FF2B5EF4-FFF2-40B4-BE49-F238E27FC236}">
                <a16:creationId xmlns:a16="http://schemas.microsoft.com/office/drawing/2014/main" id="{F9BFDCD1-2AA1-4F8A-96FB-A018EE094941}"/>
              </a:ext>
            </a:extLst>
          </p:cNvPr>
          <p:cNvSpPr>
            <a:spLocks noGrp="1"/>
          </p:cNvSpPr>
          <p:nvPr/>
        </p:nvSpPr>
        <p:spPr>
          <a:xfrm>
            <a:off x="6686550" y="3276600"/>
            <a:ext cx="4514850" cy="647700"/>
          </a:xfrm>
          <a:prstGeom prst="rect">
            <a:avLst/>
          </a:prstGeom>
          <a:noFill/>
          <a:ln w="0">
            <a:noFill/>
            <a:prstDash val="solid"/>
          </a:ln>
        </p:spPr>
        <p:txBody>
          <a:bodyPr/>
          <a:lstStyle/>
          <a:p>
            <a:pPr algn="l">
              <a:defRPr sz="1200" b="0">
                <a:solidFill>
                  <a:srgbClr val="64748B"/>
                </a:solidFill>
              </a:defRPr>
            </a:pPr>
            <a:r>
              <a:rPr sz="1200" b="0">
                <a:solidFill>
                  <a:srgbClr val="64748B"/>
                </a:solidFill>
              </a:rPr>
              <a:t>RegistrationService lấy dữ liệu từ repository, dựng RegistrationValidationContext rồi đưa qua chuỗi CourseValidator trước khi lưu.</a:t>
            </a:r>
          </a:p>
        </p:txBody>
      </p:sp>
      <p:sp>
        <p:nvSpPr>
          <p:cNvPr id="29" name="Rectangle: Rounded Corners 28">
            <a:extLst>
              <a:ext uri="{FF2B5EF4-FFF2-40B4-BE49-F238E27FC236}">
                <a16:creationId xmlns:a16="http://schemas.microsoft.com/office/drawing/2014/main" id="{1A114897-8826-4878-AB11-E6CEFCACE8E3}"/>
              </a:ext>
            </a:extLst>
          </p:cNvPr>
          <p:cNvSpPr>
            <a:spLocks noGrp="1"/>
          </p:cNvSpPr>
          <p:nvPr/>
        </p:nvSpPr>
        <p:spPr>
          <a:xfrm>
            <a:off x="742950" y="4514850"/>
            <a:ext cx="10687050" cy="971550"/>
          </a:xfrm>
          <a:prstGeom prst="roundRect">
            <a:avLst>
              <a:gd name="adj" fmla="val 11765"/>
            </a:avLst>
          </a:prstGeom>
          <a:solidFill>
            <a:srgbClr val="FFFFFF"/>
          </a:solidFill>
          <a:ln w="9525">
            <a:solidFill>
              <a:srgbClr val="DDE7F3"/>
            </a:solidFill>
            <a:prstDash val="solid"/>
          </a:ln>
        </p:spPr>
      </p:sp>
      <p:sp>
        <p:nvSpPr>
          <p:cNvPr id="30" name="Rectangle 29">
            <a:extLst>
              <a:ext uri="{FF2B5EF4-FFF2-40B4-BE49-F238E27FC236}">
                <a16:creationId xmlns:a16="http://schemas.microsoft.com/office/drawing/2014/main" id="{4EB1E6A0-DF0C-414D-8ADC-75C273409D68}"/>
              </a:ext>
            </a:extLst>
          </p:cNvPr>
          <p:cNvSpPr>
            <a:spLocks noGrp="1"/>
          </p:cNvSpPr>
          <p:nvPr/>
        </p:nvSpPr>
        <p:spPr>
          <a:xfrm>
            <a:off x="742950" y="4514850"/>
            <a:ext cx="66675" cy="971550"/>
          </a:xfrm>
          <a:prstGeom prst="rect">
            <a:avLst/>
          </a:prstGeom>
          <a:solidFill>
            <a:srgbClr val="D97706"/>
          </a:solidFill>
          <a:ln w="9525">
            <a:solidFill>
              <a:srgbClr val="D97706"/>
            </a:solidFill>
            <a:prstDash val="solid"/>
          </a:ln>
        </p:spPr>
      </p:sp>
      <p:sp>
        <p:nvSpPr>
          <p:cNvPr id="31" name="Rectangle 30">
            <a:extLst>
              <a:ext uri="{FF2B5EF4-FFF2-40B4-BE49-F238E27FC236}">
                <a16:creationId xmlns:a16="http://schemas.microsoft.com/office/drawing/2014/main" id="{20AA07C4-00F8-4448-A801-01DC49263C54}"/>
              </a:ext>
            </a:extLst>
          </p:cNvPr>
          <p:cNvSpPr>
            <a:spLocks noGrp="1"/>
          </p:cNvSpPr>
          <p:nvPr/>
        </p:nvSpPr>
        <p:spPr>
          <a:xfrm>
            <a:off x="971550" y="4686300"/>
            <a:ext cx="1022985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Ý nghĩa khi trình bày OOP</a:t>
            </a:r>
          </a:p>
        </p:txBody>
      </p:sp>
      <p:sp>
        <p:nvSpPr>
          <p:cNvPr id="32" name="Rectangle 31">
            <a:extLst>
              <a:ext uri="{FF2B5EF4-FFF2-40B4-BE49-F238E27FC236}">
                <a16:creationId xmlns:a16="http://schemas.microsoft.com/office/drawing/2014/main" id="{6945641B-FB6A-4B47-9098-4DC2F0459070}"/>
              </a:ext>
            </a:extLst>
          </p:cNvPr>
          <p:cNvSpPr>
            <a:spLocks noGrp="1"/>
          </p:cNvSpPr>
          <p:nvPr/>
        </p:nvSpPr>
        <p:spPr>
          <a:xfrm>
            <a:off x="971550" y="5029200"/>
            <a:ext cx="10229850" cy="304800"/>
          </a:xfrm>
          <a:prstGeom prst="rect">
            <a:avLst/>
          </a:prstGeom>
          <a:noFill/>
          <a:ln w="0">
            <a:noFill/>
            <a:prstDash val="solid"/>
          </a:ln>
        </p:spPr>
        <p:txBody>
          <a:bodyPr/>
          <a:lstStyle/>
          <a:p>
            <a:pPr algn="l">
              <a:defRPr sz="1200" b="0">
                <a:solidFill>
                  <a:srgbClr val="64748B"/>
                </a:solidFill>
              </a:defRPr>
            </a:pPr>
            <a:r>
              <a:rPr sz="1200" b="0">
                <a:solidFill>
                  <a:srgbClr val="64748B"/>
                </a:solidFill>
              </a:rPr>
              <a:t>Model giữ trạng thái, service điều phối hành vi, validator đóng gói rule, repository che giấu File IO. Mỗi lớp có một trách nhiệm rõ.</a:t>
            </a:r>
          </a:p>
        </p:txBody>
      </p:sp>
    </p:spTree>
    <p:extLst>
      <p:ext uri="{BB962C8B-B14F-4D97-AF65-F5344CB8AC3E}">
        <p14:creationId xmlns:p14="http://schemas.microsoft.com/office/powerpoint/2010/main" val="311469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03F8521C-D43C-4ED8-9269-FF9897032196}"/>
              </a:ext>
            </a:extLst>
          </p:cNvPr>
          <p:cNvSpPr>
            <a:spLocks noGrp="1"/>
          </p:cNvSpPr>
          <p:nvPr/>
        </p:nvSpPr>
        <p:spPr>
          <a:xfrm>
            <a:off x="0" y="0"/>
            <a:ext cx="12192000" cy="6858000"/>
          </a:xfrm>
          <a:prstGeom prst="rect">
            <a:avLst/>
          </a:prstGeom>
          <a:solidFill>
            <a:srgbClr val="F8FBFF"/>
          </a:solidFill>
          <a:ln w="0">
            <a:noFill/>
            <a:prstDash val="solid"/>
          </a:ln>
        </p:spPr>
      </p:sp>
      <p:sp>
        <p:nvSpPr>
          <p:cNvPr id="2" name="Rectangle 1">
            <a:extLst>
              <a:ext uri="{FF2B5EF4-FFF2-40B4-BE49-F238E27FC236}">
                <a16:creationId xmlns:a16="http://schemas.microsoft.com/office/drawing/2014/main" id="{3A0ED6AE-CB9D-44F9-8531-0382D341E508}"/>
              </a:ext>
            </a:extLst>
          </p:cNvPr>
          <p:cNvSpPr>
            <a:spLocks noGrp="1"/>
          </p:cNvSpPr>
          <p:nvPr/>
        </p:nvSpPr>
        <p:spPr>
          <a:xfrm>
            <a:off x="609600" y="323850"/>
            <a:ext cx="7239000" cy="266700"/>
          </a:xfrm>
          <a:prstGeom prst="rect">
            <a:avLst/>
          </a:prstGeom>
          <a:noFill/>
          <a:ln w="0">
            <a:noFill/>
            <a:prstDash val="solid"/>
          </a:ln>
        </p:spPr>
        <p:txBody>
          <a:bodyPr/>
          <a:lstStyle/>
          <a:p>
            <a:pPr algn="l">
              <a:defRPr sz="1050" b="1">
                <a:solidFill>
                  <a:srgbClr val="0B5FFF"/>
                </a:solidFill>
              </a:defRPr>
            </a:pPr>
            <a:r>
              <a:rPr sz="1050" b="1">
                <a:solidFill>
                  <a:srgbClr val="0B5FFF"/>
                </a:solidFill>
              </a:rPr>
              <a:t>THIẾT KẾ OOP | Minh chứng từ source</a:t>
            </a:r>
          </a:p>
        </p:txBody>
      </p:sp>
      <p:sp>
        <p:nvSpPr>
          <p:cNvPr id="3" name="Rectangle 2">
            <a:extLst>
              <a:ext uri="{FF2B5EF4-FFF2-40B4-BE49-F238E27FC236}">
                <a16:creationId xmlns:a16="http://schemas.microsoft.com/office/drawing/2014/main" id="{A63C6F7E-B9D3-497C-B602-7EF2B33DC90E}"/>
              </a:ext>
            </a:extLst>
          </p:cNvPr>
          <p:cNvSpPr>
            <a:spLocks noGrp="1"/>
          </p:cNvSpPr>
          <p:nvPr/>
        </p:nvSpPr>
        <p:spPr>
          <a:xfrm>
            <a:off x="609600" y="628650"/>
            <a:ext cx="10096500" cy="533400"/>
          </a:xfrm>
          <a:prstGeom prst="rect">
            <a:avLst/>
          </a:prstGeom>
          <a:noFill/>
          <a:ln w="0">
            <a:noFill/>
            <a:prstDash val="solid"/>
          </a:ln>
        </p:spPr>
        <p:txBody>
          <a:bodyPr/>
          <a:lstStyle/>
          <a:p>
            <a:pPr algn="l">
              <a:defRPr sz="2550" b="1">
                <a:solidFill>
                  <a:srgbClr val="0F172A"/>
                </a:solidFill>
              </a:defRPr>
            </a:pPr>
            <a:r>
              <a:rPr sz="2550" b="1">
                <a:solidFill>
                  <a:srgbClr val="0F172A"/>
                </a:solidFill>
              </a:rPr>
              <a:t>Vì sao thiết kế này phù hợp với hệ thống đăng ký môn học?</a:t>
            </a:r>
          </a:p>
        </p:txBody>
      </p:sp>
      <p:sp>
        <p:nvSpPr>
          <p:cNvPr id="4" name="Straight Connector 3">
            <a:extLst>
              <a:ext uri="{FF2B5EF4-FFF2-40B4-BE49-F238E27FC236}">
                <a16:creationId xmlns:a16="http://schemas.microsoft.com/office/drawing/2014/main" id="{885080D3-9177-4963-B987-E05948936B36}"/>
              </a:ext>
            </a:extLst>
          </p:cNvPr>
          <p:cNvSpPr>
            <a:spLocks noGrp="1"/>
          </p:cNvSpPr>
          <p:nvPr/>
        </p:nvSpPr>
        <p:spPr>
          <a:xfrm>
            <a:off x="609600" y="1257300"/>
            <a:ext cx="10972800" cy="0"/>
          </a:xfrm>
          <a:prstGeom prst="line">
            <a:avLst/>
          </a:prstGeom>
          <a:noFill/>
          <a:ln w="9525">
            <a:solidFill>
              <a:srgbClr val="DDE7F3"/>
            </a:solidFill>
            <a:prstDash val="solid"/>
          </a:ln>
        </p:spPr>
      </p:sp>
      <p:sp>
        <p:nvSpPr>
          <p:cNvPr id="5" name="Rectangle 4">
            <a:extLst>
              <a:ext uri="{FF2B5EF4-FFF2-40B4-BE49-F238E27FC236}">
                <a16:creationId xmlns:a16="http://schemas.microsoft.com/office/drawing/2014/main" id="{62168C3D-62AF-4C1C-8982-F7B8C9D44195}"/>
              </a:ext>
            </a:extLst>
          </p:cNvPr>
          <p:cNvSpPr>
            <a:spLocks noGrp="1"/>
          </p:cNvSpPr>
          <p:nvPr/>
        </p:nvSpPr>
        <p:spPr>
          <a:xfrm>
            <a:off x="609600" y="6457950"/>
            <a:ext cx="4953000" cy="209550"/>
          </a:xfrm>
          <a:prstGeom prst="rect">
            <a:avLst/>
          </a:prstGeom>
          <a:noFill/>
          <a:ln w="0">
            <a:noFill/>
            <a:prstDash val="solid"/>
          </a:ln>
        </p:spPr>
        <p:txBody>
          <a:bodyPr/>
          <a:lstStyle/>
          <a:p>
            <a:pPr algn="l">
              <a:defRPr sz="900" b="0">
                <a:solidFill>
                  <a:srgbClr val="94A3B8"/>
                </a:solidFill>
              </a:defRPr>
            </a:pPr>
            <a:r>
              <a:rPr sz="900" b="0">
                <a:solidFill>
                  <a:srgbClr val="94A3B8"/>
                </a:solidFill>
              </a:rPr>
              <a:t>Nhóm 2 - Phenikaa University</a:t>
            </a:r>
          </a:p>
        </p:txBody>
      </p:sp>
      <p:sp>
        <p:nvSpPr>
          <p:cNvPr id="6" name="Rectangle 5">
            <a:extLst>
              <a:ext uri="{FF2B5EF4-FFF2-40B4-BE49-F238E27FC236}">
                <a16:creationId xmlns:a16="http://schemas.microsoft.com/office/drawing/2014/main" id="{4BE25AAD-8061-4EF5-B682-0973F0A61554}"/>
              </a:ext>
            </a:extLst>
          </p:cNvPr>
          <p:cNvSpPr>
            <a:spLocks noGrp="1"/>
          </p:cNvSpPr>
          <p:nvPr/>
        </p:nvSpPr>
        <p:spPr>
          <a:xfrm>
            <a:off x="10382250" y="6457950"/>
            <a:ext cx="1200150" cy="209550"/>
          </a:xfrm>
          <a:prstGeom prst="rect">
            <a:avLst/>
          </a:prstGeom>
          <a:noFill/>
          <a:ln w="0">
            <a:noFill/>
            <a:prstDash val="solid"/>
          </a:ln>
        </p:spPr>
        <p:txBody>
          <a:bodyPr/>
          <a:lstStyle/>
          <a:p>
            <a:pPr algn="r">
              <a:defRPr sz="900" b="0">
                <a:solidFill>
                  <a:srgbClr val="94A3B8"/>
                </a:solidFill>
              </a:defRPr>
            </a:pPr>
            <a:r>
              <a:rPr sz="900" b="0">
                <a:solidFill>
                  <a:srgbClr val="94A3B8"/>
                </a:solidFill>
              </a:rPr>
              <a:t>06H</a:t>
            </a:r>
          </a:p>
        </p:txBody>
      </p:sp>
      <p:sp>
        <p:nvSpPr>
          <p:cNvPr id="7" name="Rectangle: Rounded Corners 6">
            <a:extLst>
              <a:ext uri="{FF2B5EF4-FFF2-40B4-BE49-F238E27FC236}">
                <a16:creationId xmlns:a16="http://schemas.microsoft.com/office/drawing/2014/main" id="{22F52873-AB50-41BB-B8B2-E6F5EC00E056}"/>
              </a:ext>
            </a:extLst>
          </p:cNvPr>
          <p:cNvSpPr>
            <a:spLocks noGrp="1"/>
          </p:cNvSpPr>
          <p:nvPr/>
        </p:nvSpPr>
        <p:spPr>
          <a:xfrm>
            <a:off x="723900" y="1562100"/>
            <a:ext cx="3219450" cy="1333500"/>
          </a:xfrm>
          <a:prstGeom prst="roundRect">
            <a:avLst>
              <a:gd name="adj" fmla="val 8571"/>
            </a:avLst>
          </a:prstGeom>
          <a:solidFill>
            <a:srgbClr val="FFFFFF"/>
          </a:solidFill>
          <a:ln w="9525">
            <a:solidFill>
              <a:srgbClr val="DDE7F3"/>
            </a:solidFill>
            <a:prstDash val="solid"/>
          </a:ln>
        </p:spPr>
      </p:sp>
      <p:sp>
        <p:nvSpPr>
          <p:cNvPr id="8" name="Rectangle 7">
            <a:extLst>
              <a:ext uri="{FF2B5EF4-FFF2-40B4-BE49-F238E27FC236}">
                <a16:creationId xmlns:a16="http://schemas.microsoft.com/office/drawing/2014/main" id="{F0941ADD-2697-4DCD-A8C5-677C43E63896}"/>
              </a:ext>
            </a:extLst>
          </p:cNvPr>
          <p:cNvSpPr>
            <a:spLocks noGrp="1"/>
          </p:cNvSpPr>
          <p:nvPr/>
        </p:nvSpPr>
        <p:spPr>
          <a:xfrm>
            <a:off x="723900" y="1562100"/>
            <a:ext cx="66675" cy="1333500"/>
          </a:xfrm>
          <a:prstGeom prst="rect">
            <a:avLst/>
          </a:prstGeom>
          <a:solidFill>
            <a:srgbClr val="0B5FFF"/>
          </a:solidFill>
          <a:ln w="9525">
            <a:solidFill>
              <a:srgbClr val="0B5FFF"/>
            </a:solidFill>
            <a:prstDash val="solid"/>
          </a:ln>
        </p:spPr>
      </p:sp>
      <p:sp>
        <p:nvSpPr>
          <p:cNvPr id="9" name="Rectangle 8">
            <a:extLst>
              <a:ext uri="{FF2B5EF4-FFF2-40B4-BE49-F238E27FC236}">
                <a16:creationId xmlns:a16="http://schemas.microsoft.com/office/drawing/2014/main" id="{5956D781-A4B1-4FA5-AC68-56C06B85C879}"/>
              </a:ext>
            </a:extLst>
          </p:cNvPr>
          <p:cNvSpPr>
            <a:spLocks noGrp="1"/>
          </p:cNvSpPr>
          <p:nvPr/>
        </p:nvSpPr>
        <p:spPr>
          <a:xfrm>
            <a:off x="952500" y="1733550"/>
            <a:ext cx="276225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Dễ mở rộng rule</a:t>
            </a:r>
          </a:p>
        </p:txBody>
      </p:sp>
      <p:sp>
        <p:nvSpPr>
          <p:cNvPr id="10" name="Rectangle 9">
            <a:extLst>
              <a:ext uri="{FF2B5EF4-FFF2-40B4-BE49-F238E27FC236}">
                <a16:creationId xmlns:a16="http://schemas.microsoft.com/office/drawing/2014/main" id="{9DE7F736-F7D0-4085-95A6-27E27D79B0F5}"/>
              </a:ext>
            </a:extLst>
          </p:cNvPr>
          <p:cNvSpPr>
            <a:spLocks noGrp="1"/>
          </p:cNvSpPr>
          <p:nvPr/>
        </p:nvSpPr>
        <p:spPr>
          <a:xfrm>
            <a:off x="952500" y="2076450"/>
            <a:ext cx="2762250" cy="666750"/>
          </a:xfrm>
          <a:prstGeom prst="rect">
            <a:avLst/>
          </a:prstGeom>
          <a:noFill/>
          <a:ln w="0">
            <a:noFill/>
            <a:prstDash val="solid"/>
          </a:ln>
        </p:spPr>
        <p:txBody>
          <a:bodyPr/>
          <a:lstStyle/>
          <a:p>
            <a:pPr algn="l">
              <a:defRPr sz="1200" b="0">
                <a:solidFill>
                  <a:srgbClr val="64748B"/>
                </a:solidFill>
              </a:defRPr>
            </a:pPr>
            <a:r>
              <a:rPr sz="1200" b="0">
                <a:solidFill>
                  <a:srgbClr val="64748B"/>
                </a:solidFill>
              </a:rPr>
              <a:t>Thêm điều kiện như tiên quyết, học phí, hoặc giới hạn theo khoa bằng cách thêm validator mới theo CourseValidator.</a:t>
            </a:r>
          </a:p>
        </p:txBody>
      </p:sp>
      <p:sp>
        <p:nvSpPr>
          <p:cNvPr id="11" name="Rectangle: Rounded Corners 10">
            <a:extLst>
              <a:ext uri="{FF2B5EF4-FFF2-40B4-BE49-F238E27FC236}">
                <a16:creationId xmlns:a16="http://schemas.microsoft.com/office/drawing/2014/main" id="{20B54911-A232-4CD7-8DEE-57832AC4506B}"/>
              </a:ext>
            </a:extLst>
          </p:cNvPr>
          <p:cNvSpPr>
            <a:spLocks noGrp="1"/>
          </p:cNvSpPr>
          <p:nvPr/>
        </p:nvSpPr>
        <p:spPr>
          <a:xfrm>
            <a:off x="4476750" y="1562100"/>
            <a:ext cx="3219450" cy="1333500"/>
          </a:xfrm>
          <a:prstGeom prst="roundRect">
            <a:avLst>
              <a:gd name="adj" fmla="val 8571"/>
            </a:avLst>
          </a:prstGeom>
          <a:solidFill>
            <a:srgbClr val="FFFFFF"/>
          </a:solidFill>
          <a:ln w="9525">
            <a:solidFill>
              <a:srgbClr val="DDE7F3"/>
            </a:solidFill>
            <a:prstDash val="solid"/>
          </a:ln>
        </p:spPr>
      </p:sp>
      <p:sp>
        <p:nvSpPr>
          <p:cNvPr id="12" name="Rectangle 11">
            <a:extLst>
              <a:ext uri="{FF2B5EF4-FFF2-40B4-BE49-F238E27FC236}">
                <a16:creationId xmlns:a16="http://schemas.microsoft.com/office/drawing/2014/main" id="{57F70859-1C5D-4D7B-844B-6D23571BE82B}"/>
              </a:ext>
            </a:extLst>
          </p:cNvPr>
          <p:cNvSpPr>
            <a:spLocks noGrp="1"/>
          </p:cNvSpPr>
          <p:nvPr/>
        </p:nvSpPr>
        <p:spPr>
          <a:xfrm>
            <a:off x="4476750" y="1562100"/>
            <a:ext cx="66675" cy="1333500"/>
          </a:xfrm>
          <a:prstGeom prst="rect">
            <a:avLst/>
          </a:prstGeom>
          <a:solidFill>
            <a:srgbClr val="16A34A"/>
          </a:solidFill>
          <a:ln w="9525">
            <a:solidFill>
              <a:srgbClr val="16A34A"/>
            </a:solidFill>
            <a:prstDash val="solid"/>
          </a:ln>
        </p:spPr>
      </p:sp>
      <p:sp>
        <p:nvSpPr>
          <p:cNvPr id="13" name="Rectangle 12">
            <a:extLst>
              <a:ext uri="{FF2B5EF4-FFF2-40B4-BE49-F238E27FC236}">
                <a16:creationId xmlns:a16="http://schemas.microsoft.com/office/drawing/2014/main" id="{940B3F6B-3E91-4B1D-9477-9527C694B7D7}"/>
              </a:ext>
            </a:extLst>
          </p:cNvPr>
          <p:cNvSpPr>
            <a:spLocks noGrp="1"/>
          </p:cNvSpPr>
          <p:nvPr/>
        </p:nvSpPr>
        <p:spPr>
          <a:xfrm>
            <a:off x="4705350" y="1733550"/>
            <a:ext cx="276225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Dễ kiểm thử</a:t>
            </a:r>
          </a:p>
        </p:txBody>
      </p:sp>
      <p:sp>
        <p:nvSpPr>
          <p:cNvPr id="14" name="Rectangle 13">
            <a:extLst>
              <a:ext uri="{FF2B5EF4-FFF2-40B4-BE49-F238E27FC236}">
                <a16:creationId xmlns:a16="http://schemas.microsoft.com/office/drawing/2014/main" id="{A36EB144-7DEA-49E4-956A-F4B21D61353A}"/>
              </a:ext>
            </a:extLst>
          </p:cNvPr>
          <p:cNvSpPr>
            <a:spLocks noGrp="1"/>
          </p:cNvSpPr>
          <p:nvPr/>
        </p:nvSpPr>
        <p:spPr>
          <a:xfrm>
            <a:off x="4705350" y="2076450"/>
            <a:ext cx="2762250" cy="666750"/>
          </a:xfrm>
          <a:prstGeom prst="rect">
            <a:avLst/>
          </a:prstGeom>
          <a:noFill/>
          <a:ln w="0">
            <a:noFill/>
            <a:prstDash val="solid"/>
          </a:ln>
        </p:spPr>
        <p:txBody>
          <a:bodyPr/>
          <a:lstStyle/>
          <a:p>
            <a:pPr algn="l">
              <a:defRPr sz="1200" b="0">
                <a:solidFill>
                  <a:srgbClr val="64748B"/>
                </a:solidFill>
              </a:defRPr>
            </a:pPr>
            <a:r>
              <a:rPr sz="1200" b="0">
                <a:solidFill>
                  <a:srgbClr val="64748B"/>
                </a:solidFill>
              </a:rPr>
              <a:t>Mỗi validator có thể test độc lập bằng RegistrationValidationContext; service test tập trung vào luồng chính.</a:t>
            </a:r>
          </a:p>
        </p:txBody>
      </p:sp>
      <p:sp>
        <p:nvSpPr>
          <p:cNvPr id="15" name="Rectangle: Rounded Corners 14">
            <a:extLst>
              <a:ext uri="{FF2B5EF4-FFF2-40B4-BE49-F238E27FC236}">
                <a16:creationId xmlns:a16="http://schemas.microsoft.com/office/drawing/2014/main" id="{DFAC9270-B3D0-426E-AAC7-3910DACA4C21}"/>
              </a:ext>
            </a:extLst>
          </p:cNvPr>
          <p:cNvSpPr>
            <a:spLocks noGrp="1"/>
          </p:cNvSpPr>
          <p:nvPr/>
        </p:nvSpPr>
        <p:spPr>
          <a:xfrm>
            <a:off x="8229600" y="1562100"/>
            <a:ext cx="3219450" cy="1333500"/>
          </a:xfrm>
          <a:prstGeom prst="roundRect">
            <a:avLst>
              <a:gd name="adj" fmla="val 8571"/>
            </a:avLst>
          </a:prstGeom>
          <a:solidFill>
            <a:srgbClr val="FFFFFF"/>
          </a:solidFill>
          <a:ln w="9525">
            <a:solidFill>
              <a:srgbClr val="DDE7F3"/>
            </a:solidFill>
            <a:prstDash val="solid"/>
          </a:ln>
        </p:spPr>
      </p:sp>
      <p:sp>
        <p:nvSpPr>
          <p:cNvPr id="16" name="Rectangle 15">
            <a:extLst>
              <a:ext uri="{FF2B5EF4-FFF2-40B4-BE49-F238E27FC236}">
                <a16:creationId xmlns:a16="http://schemas.microsoft.com/office/drawing/2014/main" id="{A0EBBB6F-5C7A-4BDB-8701-B0D487CEEA42}"/>
              </a:ext>
            </a:extLst>
          </p:cNvPr>
          <p:cNvSpPr>
            <a:spLocks noGrp="1"/>
          </p:cNvSpPr>
          <p:nvPr/>
        </p:nvSpPr>
        <p:spPr>
          <a:xfrm>
            <a:off x="8229600" y="1562100"/>
            <a:ext cx="66675" cy="1333500"/>
          </a:xfrm>
          <a:prstGeom prst="rect">
            <a:avLst/>
          </a:prstGeom>
          <a:solidFill>
            <a:srgbClr val="D97706"/>
          </a:solidFill>
          <a:ln w="9525">
            <a:solidFill>
              <a:srgbClr val="D97706"/>
            </a:solidFill>
            <a:prstDash val="solid"/>
          </a:ln>
        </p:spPr>
      </p:sp>
      <p:sp>
        <p:nvSpPr>
          <p:cNvPr id="17" name="Rectangle 16">
            <a:extLst>
              <a:ext uri="{FF2B5EF4-FFF2-40B4-BE49-F238E27FC236}">
                <a16:creationId xmlns:a16="http://schemas.microsoft.com/office/drawing/2014/main" id="{F5B2B4CC-A5E6-4351-BB80-FC75D1BCAB85}"/>
              </a:ext>
            </a:extLst>
          </p:cNvPr>
          <p:cNvSpPr>
            <a:spLocks noGrp="1"/>
          </p:cNvSpPr>
          <p:nvPr/>
        </p:nvSpPr>
        <p:spPr>
          <a:xfrm>
            <a:off x="8458200" y="1733550"/>
            <a:ext cx="2762250" cy="266700"/>
          </a:xfrm>
          <a:prstGeom prst="rect">
            <a:avLst/>
          </a:prstGeom>
          <a:noFill/>
          <a:ln w="0">
            <a:noFill/>
            <a:prstDash val="solid"/>
          </a:ln>
        </p:spPr>
        <p:txBody>
          <a:bodyPr/>
          <a:lstStyle/>
          <a:p>
            <a:pPr algn="l">
              <a:defRPr sz="1500" b="1">
                <a:solidFill>
                  <a:srgbClr val="0F172A"/>
                </a:solidFill>
              </a:defRPr>
            </a:pPr>
            <a:r>
              <a:rPr sz="1500" b="1">
                <a:solidFill>
                  <a:srgbClr val="0F172A"/>
                </a:solidFill>
              </a:rPr>
              <a:t>Dễ đổi lưu trữ</a:t>
            </a:r>
          </a:p>
        </p:txBody>
      </p:sp>
      <p:sp>
        <p:nvSpPr>
          <p:cNvPr id="18" name="Rectangle 17">
            <a:extLst>
              <a:ext uri="{FF2B5EF4-FFF2-40B4-BE49-F238E27FC236}">
                <a16:creationId xmlns:a16="http://schemas.microsoft.com/office/drawing/2014/main" id="{82386994-EBD0-4B8C-BA55-20A2CE7A805F}"/>
              </a:ext>
            </a:extLst>
          </p:cNvPr>
          <p:cNvSpPr>
            <a:spLocks noGrp="1"/>
          </p:cNvSpPr>
          <p:nvPr/>
        </p:nvSpPr>
        <p:spPr>
          <a:xfrm>
            <a:off x="8458200" y="2076450"/>
            <a:ext cx="2762250" cy="666750"/>
          </a:xfrm>
          <a:prstGeom prst="rect">
            <a:avLst/>
          </a:prstGeom>
          <a:noFill/>
          <a:ln w="0">
            <a:noFill/>
            <a:prstDash val="solid"/>
          </a:ln>
        </p:spPr>
        <p:txBody>
          <a:bodyPr/>
          <a:lstStyle/>
          <a:p>
            <a:pPr algn="l">
              <a:defRPr sz="1200" b="0">
                <a:solidFill>
                  <a:srgbClr val="64748B"/>
                </a:solidFill>
              </a:defRPr>
            </a:pPr>
            <a:r>
              <a:rPr sz="1200" b="0">
                <a:solidFill>
                  <a:srgbClr val="64748B"/>
                </a:solidFill>
              </a:rPr>
              <a:t>Nếu chuyển từ JSON sang database, service vẫn gọi repository interface, không cần sửa controller/UI.</a:t>
            </a:r>
          </a:p>
        </p:txBody>
      </p:sp>
      <p:sp>
        <p:nvSpPr>
          <p:cNvPr id="19" name="Rectangle: Rounded Corners 18">
            <a:extLst>
              <a:ext uri="{FF2B5EF4-FFF2-40B4-BE49-F238E27FC236}">
                <a16:creationId xmlns:a16="http://schemas.microsoft.com/office/drawing/2014/main" id="{25819C1D-AE56-4B6A-846D-048A3B4DCFD4}"/>
              </a:ext>
            </a:extLst>
          </p:cNvPr>
          <p:cNvSpPr>
            <a:spLocks noGrp="1"/>
          </p:cNvSpPr>
          <p:nvPr/>
        </p:nvSpPr>
        <p:spPr>
          <a:xfrm>
            <a:off x="1276350" y="3486150"/>
            <a:ext cx="4210050" cy="1619250"/>
          </a:xfrm>
          <a:prstGeom prst="roundRect">
            <a:avLst>
              <a:gd name="adj" fmla="val 7059"/>
            </a:avLst>
          </a:prstGeom>
          <a:solidFill>
            <a:srgbClr val="0B1220"/>
          </a:solidFill>
          <a:ln w="9525">
            <a:solidFill>
              <a:srgbClr val="0B1220"/>
            </a:solidFill>
            <a:prstDash val="solid"/>
          </a:ln>
        </p:spPr>
      </p:sp>
      <p:sp>
        <p:nvSpPr>
          <p:cNvPr id="20" name="Rectangle 19">
            <a:extLst>
              <a:ext uri="{FF2B5EF4-FFF2-40B4-BE49-F238E27FC236}">
                <a16:creationId xmlns:a16="http://schemas.microsoft.com/office/drawing/2014/main" id="{DFA45609-CC1F-4114-84D5-7FC59FFAEB6F}"/>
              </a:ext>
            </a:extLst>
          </p:cNvPr>
          <p:cNvSpPr>
            <a:spLocks noGrp="1"/>
          </p:cNvSpPr>
          <p:nvPr/>
        </p:nvSpPr>
        <p:spPr>
          <a:xfrm>
            <a:off x="1447800" y="3638550"/>
            <a:ext cx="3867150" cy="1352550"/>
          </a:xfrm>
          <a:prstGeom prst="rect">
            <a:avLst/>
          </a:prstGeom>
          <a:noFill/>
          <a:ln w="0">
            <a:noFill/>
            <a:prstDash val="solid"/>
          </a:ln>
        </p:spPr>
        <p:txBody>
          <a:bodyPr/>
          <a:lstStyle/>
          <a:p>
            <a:pPr algn="l">
              <a:defRPr sz="1050" b="0">
                <a:solidFill>
                  <a:srgbClr val="E2E8F0"/>
                </a:solidFill>
              </a:defRPr>
            </a:pPr>
            <a:r>
              <a:rPr sz="1050" b="0">
                <a:solidFill>
                  <a:srgbClr val="E2E8F0"/>
                </a:solidFill>
              </a:rPr>
              <a:t>Controller -&gt; Service -&gt; Validator</a:t>
            </a:r>
          </a:p>
          <a:p>
            <a:pPr algn="l">
              <a:defRPr sz="1050" b="0">
                <a:solidFill>
                  <a:srgbClr val="E2E8F0"/>
                </a:solidFill>
              </a:defRPr>
            </a:pPr>
            <a:r>
              <a:rPr sz="1050" b="0">
                <a:solidFill>
                  <a:srgbClr val="E2E8F0"/>
                </a:solidFill>
              </a:rPr>
              <a:t>          -&gt; Repository Interface</a:t>
            </a:r>
          </a:p>
          <a:p>
            <a:pPr algn="l">
              <a:defRPr sz="1050" b="0">
                <a:solidFill>
                  <a:srgbClr val="E2E8F0"/>
                </a:solidFill>
              </a:defRPr>
            </a:pPr>
            <a:r>
              <a:rPr sz="1050" b="0">
                <a:solidFill>
                  <a:srgbClr val="E2E8F0"/>
                </a:solidFill>
              </a:rPr>
              <a:t>          -&gt; Json Repository</a:t>
            </a:r>
          </a:p>
          <a:p>
            <a:pPr algn="l">
              <a:defRPr sz="1050" b="0">
                <a:solidFill>
                  <a:srgbClr val="E2E8F0"/>
                </a:solidFill>
              </a:defRPr>
            </a:pPr>
            <a:r>
              <a:rPr sz="1050" b="0">
                <a:solidFill>
                  <a:srgbClr val="E2E8F0"/>
                </a:solidFill>
              </a:rPr>
              <a:t>          -&gt; JsonFileUtils</a:t>
            </a:r>
          </a:p>
          <a:p>
            <a:pPr algn="l">
              <a:defRPr sz="1050" b="0">
                <a:solidFill>
                  <a:srgbClr val="E2E8F0"/>
                </a:solidFill>
              </a:defRPr>
            </a:pPr>
            <a:r>
              <a:rPr sz="1050" b="0">
                <a:solidFill>
                  <a:srgbClr val="E2E8F0"/>
                </a:solidFill>
              </a:rPr>
              <a:t>          -&gt; data/*.json</a:t>
            </a:r>
          </a:p>
        </p:txBody>
      </p:sp>
      <p:sp>
        <p:nvSpPr>
          <p:cNvPr id="21" name="Rectangle 20">
            <a:extLst>
              <a:ext uri="{FF2B5EF4-FFF2-40B4-BE49-F238E27FC236}">
                <a16:creationId xmlns:a16="http://schemas.microsoft.com/office/drawing/2014/main" id="{D80F81A4-DF43-489E-8923-AEC5DA59D21D}"/>
              </a:ext>
            </a:extLst>
          </p:cNvPr>
          <p:cNvSpPr>
            <a:spLocks noGrp="1"/>
          </p:cNvSpPr>
          <p:nvPr/>
        </p:nvSpPr>
        <p:spPr>
          <a:xfrm>
            <a:off x="6191250" y="3476625"/>
            <a:ext cx="190500" cy="228600"/>
          </a:xfrm>
          <a:prstGeom prst="rect">
            <a:avLst/>
          </a:prstGeom>
          <a:noFill/>
          <a:ln w="0">
            <a:noFill/>
            <a:prstDash val="solid"/>
          </a:ln>
        </p:spPr>
        <p:txBody>
          <a:bodyPr/>
          <a:lstStyle/>
          <a:p>
            <a:pPr algn="l">
              <a:defRPr sz="1725" b="1">
                <a:solidFill>
                  <a:srgbClr val="0B5FFF"/>
                </a:solidFill>
              </a:defRPr>
            </a:pPr>
            <a:r>
              <a:rPr sz="1725" b="1">
                <a:solidFill>
                  <a:srgbClr val="0B5FFF"/>
                </a:solidFill>
              </a:rPr>
              <a:t>•</a:t>
            </a:r>
          </a:p>
        </p:txBody>
      </p:sp>
      <p:sp>
        <p:nvSpPr>
          <p:cNvPr id="22" name="Rectangle 21">
            <a:extLst>
              <a:ext uri="{FF2B5EF4-FFF2-40B4-BE49-F238E27FC236}">
                <a16:creationId xmlns:a16="http://schemas.microsoft.com/office/drawing/2014/main" id="{02D64A57-A1FB-4252-9E69-2611155F3045}"/>
              </a:ext>
            </a:extLst>
          </p:cNvPr>
          <p:cNvSpPr>
            <a:spLocks noGrp="1"/>
          </p:cNvSpPr>
          <p:nvPr/>
        </p:nvSpPr>
        <p:spPr>
          <a:xfrm>
            <a:off x="6438900" y="3486150"/>
            <a:ext cx="4514850" cy="419100"/>
          </a:xfrm>
          <a:prstGeom prst="rect">
            <a:avLst/>
          </a:prstGeom>
          <a:noFill/>
          <a:ln w="0">
            <a:noFill/>
            <a:prstDash val="solid"/>
          </a:ln>
        </p:spPr>
        <p:txBody>
          <a:bodyPr/>
          <a:lstStyle/>
          <a:p>
            <a:pPr algn="l">
              <a:defRPr sz="1425" b="0">
                <a:solidFill>
                  <a:srgbClr val="0F172A"/>
                </a:solidFill>
              </a:defRPr>
            </a:pPr>
            <a:r>
              <a:rPr sz="1425" b="0">
                <a:solidFill>
                  <a:srgbClr val="0F172A"/>
                </a:solidFill>
              </a:rPr>
              <a:t>Ranh giới lớp rõ giúp nhóm chia nhánh làm việc: UI, API, service, validator, repository ít đụng nhau hơn.</a:t>
            </a:r>
          </a:p>
        </p:txBody>
      </p:sp>
      <p:sp>
        <p:nvSpPr>
          <p:cNvPr id="23" name="Rectangle 22">
            <a:extLst>
              <a:ext uri="{FF2B5EF4-FFF2-40B4-BE49-F238E27FC236}">
                <a16:creationId xmlns:a16="http://schemas.microsoft.com/office/drawing/2014/main" id="{6D709B7F-3C66-437F-BF00-50FC67D08227}"/>
              </a:ext>
            </a:extLst>
          </p:cNvPr>
          <p:cNvSpPr>
            <a:spLocks noGrp="1"/>
          </p:cNvSpPr>
          <p:nvPr/>
        </p:nvSpPr>
        <p:spPr>
          <a:xfrm>
            <a:off x="6191250" y="4162425"/>
            <a:ext cx="190500" cy="228600"/>
          </a:xfrm>
          <a:prstGeom prst="rect">
            <a:avLst/>
          </a:prstGeom>
          <a:noFill/>
          <a:ln w="0">
            <a:noFill/>
            <a:prstDash val="solid"/>
          </a:ln>
        </p:spPr>
        <p:txBody>
          <a:bodyPr/>
          <a:lstStyle/>
          <a:p>
            <a:pPr algn="l">
              <a:defRPr sz="1725" b="1">
                <a:solidFill>
                  <a:srgbClr val="0B5FFF"/>
                </a:solidFill>
              </a:defRPr>
            </a:pPr>
            <a:r>
              <a:rPr sz="1725" b="1">
                <a:solidFill>
                  <a:srgbClr val="0B5FFF"/>
                </a:solidFill>
              </a:rPr>
              <a:t>•</a:t>
            </a:r>
          </a:p>
        </p:txBody>
      </p:sp>
      <p:sp>
        <p:nvSpPr>
          <p:cNvPr id="24" name="Rectangle 23">
            <a:extLst>
              <a:ext uri="{FF2B5EF4-FFF2-40B4-BE49-F238E27FC236}">
                <a16:creationId xmlns:a16="http://schemas.microsoft.com/office/drawing/2014/main" id="{9F4957B4-6FC5-4545-829D-3E2088B796B7}"/>
              </a:ext>
            </a:extLst>
          </p:cNvPr>
          <p:cNvSpPr>
            <a:spLocks noGrp="1"/>
          </p:cNvSpPr>
          <p:nvPr/>
        </p:nvSpPr>
        <p:spPr>
          <a:xfrm>
            <a:off x="6438900" y="4171950"/>
            <a:ext cx="4514850" cy="419100"/>
          </a:xfrm>
          <a:prstGeom prst="rect">
            <a:avLst/>
          </a:prstGeom>
          <a:noFill/>
          <a:ln w="0">
            <a:noFill/>
            <a:prstDash val="solid"/>
          </a:ln>
        </p:spPr>
        <p:txBody>
          <a:bodyPr/>
          <a:lstStyle/>
          <a:p>
            <a:pPr algn="l">
              <a:defRPr sz="1425" b="0">
                <a:solidFill>
                  <a:srgbClr val="0F172A"/>
                </a:solidFill>
              </a:defRPr>
            </a:pPr>
            <a:r>
              <a:rPr sz="1425" b="0">
                <a:solidFill>
                  <a:srgbClr val="0F172A"/>
                </a:solidFill>
              </a:rPr>
              <a:t>Thiết kế phản ánh đúng bài toán: đăng ký là nghiệp vụ có nhiều quy tắc, không chỉ là thao tác ghi file.</a:t>
            </a:r>
          </a:p>
        </p:txBody>
      </p:sp>
      <p:sp>
        <p:nvSpPr>
          <p:cNvPr id="25" name="Rectangle 24">
            <a:extLst>
              <a:ext uri="{FF2B5EF4-FFF2-40B4-BE49-F238E27FC236}">
                <a16:creationId xmlns:a16="http://schemas.microsoft.com/office/drawing/2014/main" id="{8E8197FD-DEB2-45C3-8C1C-2244CAE3BB14}"/>
              </a:ext>
            </a:extLst>
          </p:cNvPr>
          <p:cNvSpPr>
            <a:spLocks noGrp="1"/>
          </p:cNvSpPr>
          <p:nvPr/>
        </p:nvSpPr>
        <p:spPr>
          <a:xfrm>
            <a:off x="6191250" y="4848225"/>
            <a:ext cx="190500" cy="228600"/>
          </a:xfrm>
          <a:prstGeom prst="rect">
            <a:avLst/>
          </a:prstGeom>
          <a:noFill/>
          <a:ln w="0">
            <a:noFill/>
            <a:prstDash val="solid"/>
          </a:ln>
        </p:spPr>
        <p:txBody>
          <a:bodyPr/>
          <a:lstStyle/>
          <a:p>
            <a:pPr algn="l">
              <a:defRPr sz="1725" b="1">
                <a:solidFill>
                  <a:srgbClr val="0B5FFF"/>
                </a:solidFill>
              </a:defRPr>
            </a:pPr>
            <a:r>
              <a:rPr sz="1725" b="1">
                <a:solidFill>
                  <a:srgbClr val="0B5FFF"/>
                </a:solidFill>
              </a:rPr>
              <a:t>•</a:t>
            </a:r>
          </a:p>
        </p:txBody>
      </p:sp>
      <p:sp>
        <p:nvSpPr>
          <p:cNvPr id="26" name="Rectangle 25">
            <a:extLst>
              <a:ext uri="{FF2B5EF4-FFF2-40B4-BE49-F238E27FC236}">
                <a16:creationId xmlns:a16="http://schemas.microsoft.com/office/drawing/2014/main" id="{D047A85B-E53E-442E-9EE9-8A7CCC21C028}"/>
              </a:ext>
            </a:extLst>
          </p:cNvPr>
          <p:cNvSpPr>
            <a:spLocks noGrp="1"/>
          </p:cNvSpPr>
          <p:nvPr/>
        </p:nvSpPr>
        <p:spPr>
          <a:xfrm>
            <a:off x="6438900" y="4857750"/>
            <a:ext cx="4514850" cy="419100"/>
          </a:xfrm>
          <a:prstGeom prst="rect">
            <a:avLst/>
          </a:prstGeom>
          <a:noFill/>
          <a:ln w="0">
            <a:noFill/>
            <a:prstDash val="solid"/>
          </a:ln>
        </p:spPr>
        <p:txBody>
          <a:bodyPr/>
          <a:lstStyle/>
          <a:p>
            <a:pPr algn="l">
              <a:defRPr sz="1425" b="0">
                <a:solidFill>
                  <a:srgbClr val="0F172A"/>
                </a:solidFill>
              </a:defRPr>
            </a:pPr>
            <a:r>
              <a:rPr sz="1425" b="0">
                <a:solidFill>
                  <a:srgbClr val="0F172A"/>
                </a:solidFill>
              </a:rPr>
              <a:t>Đây là phần cốt lõi để bảo vệ điểm OOP khi thuyết trình.</a:t>
            </a:r>
          </a:p>
        </p:txBody>
      </p:sp>
    </p:spTree>
    <p:extLst>
      <p:ext uri="{BB962C8B-B14F-4D97-AF65-F5344CB8AC3E}">
        <p14:creationId xmlns:p14="http://schemas.microsoft.com/office/powerpoint/2010/main" val="1744467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31080DA5-BEA6-4CDB-A900-3CDDFAFA6B8B}"/>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5E9E1455-E72C-490A-9D9F-929239EF09F7}"/>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Mô hình lớp xoay quanh Student, Course và Registration</a:t>
            </a:r>
          </a:p>
        </p:txBody>
      </p:sp>
      <p:sp>
        <p:nvSpPr>
          <p:cNvPr id="3" name="Straight Connector 2">
            <a:extLst>
              <a:ext uri="{FF2B5EF4-FFF2-40B4-BE49-F238E27FC236}">
                <a16:creationId xmlns:a16="http://schemas.microsoft.com/office/drawing/2014/main" id="{1FF94D7F-836A-4869-B237-E8967AF520FE}"/>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5B1857C2-A9CA-40BD-88A5-532AA17A9B47}"/>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902AAB17-E811-4490-84C6-2C7FC0618872}"/>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07</a:t>
            </a:r>
          </a:p>
        </p:txBody>
      </p:sp>
      <p:sp>
        <p:nvSpPr>
          <p:cNvPr id="6" name="Rectangle: Rounded Corners 5">
            <a:extLst>
              <a:ext uri="{FF2B5EF4-FFF2-40B4-BE49-F238E27FC236}">
                <a16:creationId xmlns:a16="http://schemas.microsoft.com/office/drawing/2014/main" id="{78660B78-94F1-425D-81C5-DA496A833F2C}"/>
              </a:ext>
            </a:extLst>
          </p:cNvPr>
          <p:cNvSpPr>
            <a:spLocks noGrp="1"/>
          </p:cNvSpPr>
          <p:nvPr/>
        </p:nvSpPr>
        <p:spPr>
          <a:xfrm>
            <a:off x="990600" y="1619250"/>
            <a:ext cx="1619250" cy="666750"/>
          </a:xfrm>
          <a:prstGeom prst="roundRect">
            <a:avLst>
              <a:gd name="adj" fmla="val 17143"/>
            </a:avLst>
          </a:prstGeom>
          <a:solidFill>
            <a:srgbClr val="EAF2FF"/>
          </a:solidFill>
          <a:ln w="9525">
            <a:solidFill>
              <a:srgbClr val="BBD3FF"/>
            </a:solidFill>
            <a:prstDash val="solid"/>
          </a:ln>
        </p:spPr>
      </p:sp>
      <p:sp>
        <p:nvSpPr>
          <p:cNvPr id="7" name="Rectangle 6">
            <a:extLst>
              <a:ext uri="{FF2B5EF4-FFF2-40B4-BE49-F238E27FC236}">
                <a16:creationId xmlns:a16="http://schemas.microsoft.com/office/drawing/2014/main" id="{DD74B764-3094-46EF-ACD1-4801BC3C38F5}"/>
              </a:ext>
            </a:extLst>
          </p:cNvPr>
          <p:cNvSpPr>
            <a:spLocks noGrp="1"/>
          </p:cNvSpPr>
          <p:nvPr/>
        </p:nvSpPr>
        <p:spPr>
          <a:xfrm>
            <a:off x="1104900" y="1781175"/>
            <a:ext cx="1390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User</a:t>
            </a:r>
          </a:p>
          <a:p>
            <a:pPr algn="ctr">
              <a:buNone/>
              <a:defRPr sz="1425" b="1">
                <a:solidFill>
                  <a:srgbClr val="0B2A6F"/>
                </a:solidFill>
              </a:defRPr>
            </a:pPr>
            <a:r>
              <a:rPr sz="1425" b="1">
                <a:solidFill>
                  <a:srgbClr val="0B2A6F"/>
                </a:solidFill>
              </a:rPr>
              <a:t>abstract</a:t>
            </a:r>
          </a:p>
        </p:txBody>
      </p:sp>
      <p:sp>
        <p:nvSpPr>
          <p:cNvPr id="8" name="Rectangle: Rounded Corners 7">
            <a:extLst>
              <a:ext uri="{FF2B5EF4-FFF2-40B4-BE49-F238E27FC236}">
                <a16:creationId xmlns:a16="http://schemas.microsoft.com/office/drawing/2014/main" id="{9FBC28B3-A79A-4EEF-BFCB-138BCCF618E8}"/>
              </a:ext>
            </a:extLst>
          </p:cNvPr>
          <p:cNvSpPr>
            <a:spLocks noGrp="1"/>
          </p:cNvSpPr>
          <p:nvPr/>
        </p:nvSpPr>
        <p:spPr>
          <a:xfrm>
            <a:off x="685800" y="2809875"/>
            <a:ext cx="1428750" cy="666750"/>
          </a:xfrm>
          <a:prstGeom prst="roundRect">
            <a:avLst>
              <a:gd name="adj" fmla="val 17143"/>
            </a:avLst>
          </a:prstGeom>
          <a:solidFill>
            <a:srgbClr val="EAF2FF"/>
          </a:solidFill>
          <a:ln w="9525">
            <a:solidFill>
              <a:srgbClr val="BBD3FF"/>
            </a:solidFill>
            <a:prstDash val="solid"/>
          </a:ln>
        </p:spPr>
      </p:sp>
      <p:sp>
        <p:nvSpPr>
          <p:cNvPr id="9" name="Rectangle 8">
            <a:extLst>
              <a:ext uri="{FF2B5EF4-FFF2-40B4-BE49-F238E27FC236}">
                <a16:creationId xmlns:a16="http://schemas.microsoft.com/office/drawing/2014/main" id="{6E6F7379-628E-464A-A880-358F53A35D99}"/>
              </a:ext>
            </a:extLst>
          </p:cNvPr>
          <p:cNvSpPr>
            <a:spLocks noGrp="1"/>
          </p:cNvSpPr>
          <p:nvPr/>
        </p:nvSpPr>
        <p:spPr>
          <a:xfrm>
            <a:off x="800100" y="2971800"/>
            <a:ext cx="12001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Student</a:t>
            </a:r>
          </a:p>
        </p:txBody>
      </p:sp>
      <p:sp>
        <p:nvSpPr>
          <p:cNvPr id="10" name="Rectangle: Rounded Corners 9">
            <a:extLst>
              <a:ext uri="{FF2B5EF4-FFF2-40B4-BE49-F238E27FC236}">
                <a16:creationId xmlns:a16="http://schemas.microsoft.com/office/drawing/2014/main" id="{724EBD11-2688-42EE-9E9E-A1558433DC02}"/>
              </a:ext>
            </a:extLst>
          </p:cNvPr>
          <p:cNvSpPr>
            <a:spLocks noGrp="1"/>
          </p:cNvSpPr>
          <p:nvPr/>
        </p:nvSpPr>
        <p:spPr>
          <a:xfrm>
            <a:off x="2400300" y="2809875"/>
            <a:ext cx="1428750" cy="666750"/>
          </a:xfrm>
          <a:prstGeom prst="roundRect">
            <a:avLst>
              <a:gd name="adj" fmla="val 17143"/>
            </a:avLst>
          </a:prstGeom>
          <a:solidFill>
            <a:srgbClr val="EAF2FF"/>
          </a:solidFill>
          <a:ln w="9525">
            <a:solidFill>
              <a:srgbClr val="BBD3FF"/>
            </a:solidFill>
            <a:prstDash val="solid"/>
          </a:ln>
        </p:spPr>
      </p:sp>
      <p:sp>
        <p:nvSpPr>
          <p:cNvPr id="11" name="Rectangle 10">
            <a:extLst>
              <a:ext uri="{FF2B5EF4-FFF2-40B4-BE49-F238E27FC236}">
                <a16:creationId xmlns:a16="http://schemas.microsoft.com/office/drawing/2014/main" id="{2A1D93B8-7BCC-4FC9-AF19-7F32EF76459F}"/>
              </a:ext>
            </a:extLst>
          </p:cNvPr>
          <p:cNvSpPr>
            <a:spLocks noGrp="1"/>
          </p:cNvSpPr>
          <p:nvPr/>
        </p:nvSpPr>
        <p:spPr>
          <a:xfrm>
            <a:off x="2514600" y="2971800"/>
            <a:ext cx="12001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Lecturer</a:t>
            </a:r>
          </a:p>
        </p:txBody>
      </p:sp>
      <p:sp>
        <p:nvSpPr>
          <p:cNvPr id="12" name="Rectangle: Rounded Corners 11">
            <a:extLst>
              <a:ext uri="{FF2B5EF4-FFF2-40B4-BE49-F238E27FC236}">
                <a16:creationId xmlns:a16="http://schemas.microsoft.com/office/drawing/2014/main" id="{2BFF09C9-2BA2-43D9-A632-C3E016887600}"/>
              </a:ext>
            </a:extLst>
          </p:cNvPr>
          <p:cNvSpPr>
            <a:spLocks noGrp="1"/>
          </p:cNvSpPr>
          <p:nvPr/>
        </p:nvSpPr>
        <p:spPr>
          <a:xfrm>
            <a:off x="4686300" y="1619250"/>
            <a:ext cx="1619250" cy="666750"/>
          </a:xfrm>
          <a:prstGeom prst="roundRect">
            <a:avLst>
              <a:gd name="adj" fmla="val 17143"/>
            </a:avLst>
          </a:prstGeom>
          <a:solidFill>
            <a:srgbClr val="ECFDF5"/>
          </a:solidFill>
          <a:ln w="9525">
            <a:solidFill>
              <a:srgbClr val="BBD3FF"/>
            </a:solidFill>
            <a:prstDash val="solid"/>
          </a:ln>
        </p:spPr>
      </p:sp>
      <p:sp>
        <p:nvSpPr>
          <p:cNvPr id="13" name="Rectangle 12">
            <a:extLst>
              <a:ext uri="{FF2B5EF4-FFF2-40B4-BE49-F238E27FC236}">
                <a16:creationId xmlns:a16="http://schemas.microsoft.com/office/drawing/2014/main" id="{51647FFD-4861-4FE4-BE7E-09C49D89B6DB}"/>
              </a:ext>
            </a:extLst>
          </p:cNvPr>
          <p:cNvSpPr>
            <a:spLocks noGrp="1"/>
          </p:cNvSpPr>
          <p:nvPr/>
        </p:nvSpPr>
        <p:spPr>
          <a:xfrm>
            <a:off x="4800600" y="1781175"/>
            <a:ext cx="1390650" cy="342900"/>
          </a:xfrm>
          <a:prstGeom prst="rect">
            <a:avLst/>
          </a:prstGeom>
          <a:noFill/>
          <a:ln w="0">
            <a:noFill/>
            <a:prstDash val="solid"/>
          </a:ln>
        </p:spPr>
        <p:txBody>
          <a:bodyPr/>
          <a:lstStyle/>
          <a:p>
            <a:pPr algn="ctr">
              <a:buNone/>
              <a:defRPr sz="1425" b="1">
                <a:solidFill>
                  <a:srgbClr val="166534"/>
                </a:solidFill>
              </a:defRPr>
            </a:pPr>
            <a:r>
              <a:rPr sz="1425" b="1">
                <a:solidFill>
                  <a:srgbClr val="166534"/>
                </a:solidFill>
              </a:rPr>
              <a:t>Course</a:t>
            </a:r>
          </a:p>
        </p:txBody>
      </p:sp>
      <p:sp>
        <p:nvSpPr>
          <p:cNvPr id="14" name="Rectangle: Rounded Corners 13">
            <a:extLst>
              <a:ext uri="{FF2B5EF4-FFF2-40B4-BE49-F238E27FC236}">
                <a16:creationId xmlns:a16="http://schemas.microsoft.com/office/drawing/2014/main" id="{6ADCE1BA-DB47-4A3C-9557-916FA1B74194}"/>
              </a:ext>
            </a:extLst>
          </p:cNvPr>
          <p:cNvSpPr>
            <a:spLocks noGrp="1"/>
          </p:cNvSpPr>
          <p:nvPr/>
        </p:nvSpPr>
        <p:spPr>
          <a:xfrm>
            <a:off x="4686300" y="2809875"/>
            <a:ext cx="1619250" cy="666750"/>
          </a:xfrm>
          <a:prstGeom prst="roundRect">
            <a:avLst>
              <a:gd name="adj" fmla="val 17143"/>
            </a:avLst>
          </a:prstGeom>
          <a:solidFill>
            <a:srgbClr val="ECFDF5"/>
          </a:solidFill>
          <a:ln w="9525">
            <a:solidFill>
              <a:srgbClr val="BBD3FF"/>
            </a:solidFill>
            <a:prstDash val="solid"/>
          </a:ln>
        </p:spPr>
      </p:sp>
      <p:sp>
        <p:nvSpPr>
          <p:cNvPr id="15" name="Rectangle 14">
            <a:extLst>
              <a:ext uri="{FF2B5EF4-FFF2-40B4-BE49-F238E27FC236}">
                <a16:creationId xmlns:a16="http://schemas.microsoft.com/office/drawing/2014/main" id="{87743A0D-A75A-42BE-8190-00A556052AA8}"/>
              </a:ext>
            </a:extLst>
          </p:cNvPr>
          <p:cNvSpPr>
            <a:spLocks noGrp="1"/>
          </p:cNvSpPr>
          <p:nvPr/>
        </p:nvSpPr>
        <p:spPr>
          <a:xfrm>
            <a:off x="4800600" y="2971800"/>
            <a:ext cx="1390650" cy="342900"/>
          </a:xfrm>
          <a:prstGeom prst="rect">
            <a:avLst/>
          </a:prstGeom>
          <a:noFill/>
          <a:ln w="0">
            <a:noFill/>
            <a:prstDash val="solid"/>
          </a:ln>
        </p:spPr>
        <p:txBody>
          <a:bodyPr/>
          <a:lstStyle/>
          <a:p>
            <a:pPr algn="ctr">
              <a:buNone/>
              <a:defRPr sz="1425" b="1">
                <a:solidFill>
                  <a:srgbClr val="166534"/>
                </a:solidFill>
              </a:defRPr>
            </a:pPr>
            <a:r>
              <a:rPr sz="1425" b="1">
                <a:solidFill>
                  <a:srgbClr val="166534"/>
                </a:solidFill>
              </a:rPr>
              <a:t>Schedule</a:t>
            </a:r>
          </a:p>
        </p:txBody>
      </p:sp>
      <p:sp>
        <p:nvSpPr>
          <p:cNvPr id="16" name="Rectangle: Rounded Corners 15">
            <a:extLst>
              <a:ext uri="{FF2B5EF4-FFF2-40B4-BE49-F238E27FC236}">
                <a16:creationId xmlns:a16="http://schemas.microsoft.com/office/drawing/2014/main" id="{0E7FCB45-FF6B-4625-A253-14B54125EDF9}"/>
              </a:ext>
            </a:extLst>
          </p:cNvPr>
          <p:cNvSpPr>
            <a:spLocks noGrp="1"/>
          </p:cNvSpPr>
          <p:nvPr/>
        </p:nvSpPr>
        <p:spPr>
          <a:xfrm>
            <a:off x="7810500" y="1619250"/>
            <a:ext cx="2000250" cy="666750"/>
          </a:xfrm>
          <a:prstGeom prst="roundRect">
            <a:avLst>
              <a:gd name="adj" fmla="val 17143"/>
            </a:avLst>
          </a:prstGeom>
          <a:solidFill>
            <a:srgbClr val="FFF7ED"/>
          </a:solidFill>
          <a:ln w="9525">
            <a:solidFill>
              <a:srgbClr val="BBD3FF"/>
            </a:solidFill>
            <a:prstDash val="solid"/>
          </a:ln>
        </p:spPr>
      </p:sp>
      <p:sp>
        <p:nvSpPr>
          <p:cNvPr id="17" name="Rectangle 16">
            <a:extLst>
              <a:ext uri="{FF2B5EF4-FFF2-40B4-BE49-F238E27FC236}">
                <a16:creationId xmlns:a16="http://schemas.microsoft.com/office/drawing/2014/main" id="{B974E50A-09F3-4E54-82C2-5A226577D4A7}"/>
              </a:ext>
            </a:extLst>
          </p:cNvPr>
          <p:cNvSpPr>
            <a:spLocks noGrp="1"/>
          </p:cNvSpPr>
          <p:nvPr/>
        </p:nvSpPr>
        <p:spPr>
          <a:xfrm>
            <a:off x="7924800" y="1781175"/>
            <a:ext cx="1771650" cy="342900"/>
          </a:xfrm>
          <a:prstGeom prst="rect">
            <a:avLst/>
          </a:prstGeom>
          <a:noFill/>
          <a:ln w="0">
            <a:noFill/>
            <a:prstDash val="solid"/>
          </a:ln>
        </p:spPr>
        <p:txBody>
          <a:bodyPr/>
          <a:lstStyle/>
          <a:p>
            <a:pPr algn="ctr">
              <a:buNone/>
              <a:defRPr sz="1425" b="1">
                <a:solidFill>
                  <a:srgbClr val="9A3412"/>
                </a:solidFill>
              </a:defRPr>
            </a:pPr>
            <a:r>
              <a:rPr sz="1425" b="1">
                <a:solidFill>
                  <a:srgbClr val="9A3412"/>
                </a:solidFill>
              </a:rPr>
              <a:t>Registration</a:t>
            </a:r>
          </a:p>
        </p:txBody>
      </p:sp>
      <p:sp>
        <p:nvSpPr>
          <p:cNvPr id="18" name="Rectangle: Rounded Corners 17">
            <a:extLst>
              <a:ext uri="{FF2B5EF4-FFF2-40B4-BE49-F238E27FC236}">
                <a16:creationId xmlns:a16="http://schemas.microsoft.com/office/drawing/2014/main" id="{A801345F-8808-4FF8-92B0-E97AC2D6B6A6}"/>
              </a:ext>
            </a:extLst>
          </p:cNvPr>
          <p:cNvSpPr>
            <a:spLocks noGrp="1"/>
          </p:cNvSpPr>
          <p:nvPr/>
        </p:nvSpPr>
        <p:spPr>
          <a:xfrm>
            <a:off x="7810500" y="2809875"/>
            <a:ext cx="2000250" cy="666750"/>
          </a:xfrm>
          <a:prstGeom prst="roundRect">
            <a:avLst>
              <a:gd name="adj" fmla="val 17143"/>
            </a:avLst>
          </a:prstGeom>
          <a:solidFill>
            <a:srgbClr val="FFF7ED"/>
          </a:solidFill>
          <a:ln w="9525">
            <a:solidFill>
              <a:srgbClr val="BBD3FF"/>
            </a:solidFill>
            <a:prstDash val="solid"/>
          </a:ln>
        </p:spPr>
      </p:sp>
      <p:sp>
        <p:nvSpPr>
          <p:cNvPr id="19" name="Rectangle 18">
            <a:extLst>
              <a:ext uri="{FF2B5EF4-FFF2-40B4-BE49-F238E27FC236}">
                <a16:creationId xmlns:a16="http://schemas.microsoft.com/office/drawing/2014/main" id="{52B98E51-2C84-4FD6-8A4E-81BBDFC978A3}"/>
              </a:ext>
            </a:extLst>
          </p:cNvPr>
          <p:cNvSpPr>
            <a:spLocks noGrp="1"/>
          </p:cNvSpPr>
          <p:nvPr/>
        </p:nvSpPr>
        <p:spPr>
          <a:xfrm>
            <a:off x="7924800" y="2971800"/>
            <a:ext cx="1771650" cy="342900"/>
          </a:xfrm>
          <a:prstGeom prst="rect">
            <a:avLst/>
          </a:prstGeom>
          <a:noFill/>
          <a:ln w="0">
            <a:noFill/>
            <a:prstDash val="solid"/>
          </a:ln>
        </p:spPr>
        <p:txBody>
          <a:bodyPr/>
          <a:lstStyle/>
          <a:p>
            <a:pPr algn="ctr">
              <a:buNone/>
              <a:defRPr sz="1425" b="1">
                <a:solidFill>
                  <a:srgbClr val="9A3412"/>
                </a:solidFill>
              </a:defRPr>
            </a:pPr>
            <a:r>
              <a:rPr sz="1425" b="1">
                <a:solidFill>
                  <a:srgbClr val="9A3412"/>
                </a:solidFill>
              </a:rPr>
              <a:t>RegistrationDetail</a:t>
            </a:r>
          </a:p>
        </p:txBody>
      </p:sp>
      <p:sp>
        <p:nvSpPr>
          <p:cNvPr id="20" name="Rectangle: Rounded Corners 19">
            <a:extLst>
              <a:ext uri="{FF2B5EF4-FFF2-40B4-BE49-F238E27FC236}">
                <a16:creationId xmlns:a16="http://schemas.microsoft.com/office/drawing/2014/main" id="{FED103E9-348F-4BD7-AE05-322EB856056C}"/>
              </a:ext>
            </a:extLst>
          </p:cNvPr>
          <p:cNvSpPr>
            <a:spLocks noGrp="1"/>
          </p:cNvSpPr>
          <p:nvPr/>
        </p:nvSpPr>
        <p:spPr>
          <a:xfrm>
            <a:off x="4686300" y="4476750"/>
            <a:ext cx="2000250" cy="666750"/>
          </a:xfrm>
          <a:prstGeom prst="roundRect">
            <a:avLst>
              <a:gd name="adj" fmla="val 17143"/>
            </a:avLst>
          </a:prstGeom>
          <a:solidFill>
            <a:srgbClr val="F5F3FF"/>
          </a:solidFill>
          <a:ln w="9525">
            <a:solidFill>
              <a:srgbClr val="BBD3FF"/>
            </a:solidFill>
            <a:prstDash val="solid"/>
          </a:ln>
        </p:spPr>
      </p:sp>
      <p:sp>
        <p:nvSpPr>
          <p:cNvPr id="21" name="Rectangle 20">
            <a:extLst>
              <a:ext uri="{FF2B5EF4-FFF2-40B4-BE49-F238E27FC236}">
                <a16:creationId xmlns:a16="http://schemas.microsoft.com/office/drawing/2014/main" id="{D2CDC7CE-206E-494D-9F09-EA4054ADA77E}"/>
              </a:ext>
            </a:extLst>
          </p:cNvPr>
          <p:cNvSpPr>
            <a:spLocks noGrp="1"/>
          </p:cNvSpPr>
          <p:nvPr/>
        </p:nvSpPr>
        <p:spPr>
          <a:xfrm>
            <a:off x="4800600" y="4638675"/>
            <a:ext cx="1771650" cy="342900"/>
          </a:xfrm>
          <a:prstGeom prst="rect">
            <a:avLst/>
          </a:prstGeom>
          <a:noFill/>
          <a:ln w="0">
            <a:noFill/>
            <a:prstDash val="solid"/>
          </a:ln>
        </p:spPr>
        <p:txBody>
          <a:bodyPr/>
          <a:lstStyle/>
          <a:p>
            <a:pPr algn="ctr">
              <a:buNone/>
              <a:defRPr sz="1425" b="1">
                <a:solidFill>
                  <a:srgbClr val="5B21B6"/>
                </a:solidFill>
              </a:defRPr>
            </a:pPr>
            <a:r>
              <a:rPr sz="1425" b="1">
                <a:solidFill>
                  <a:srgbClr val="5B21B6"/>
                </a:solidFill>
              </a:rPr>
              <a:t>CourseValidator</a:t>
            </a:r>
          </a:p>
        </p:txBody>
      </p:sp>
      <p:sp>
        <p:nvSpPr>
          <p:cNvPr id="22" name="Rectangle: Rounded Corners 21">
            <a:extLst>
              <a:ext uri="{FF2B5EF4-FFF2-40B4-BE49-F238E27FC236}">
                <a16:creationId xmlns:a16="http://schemas.microsoft.com/office/drawing/2014/main" id="{3DD15596-CA17-42C6-A7D1-07D9481EFF18}"/>
              </a:ext>
            </a:extLst>
          </p:cNvPr>
          <p:cNvSpPr>
            <a:spLocks noGrp="1"/>
          </p:cNvSpPr>
          <p:nvPr/>
        </p:nvSpPr>
        <p:spPr>
          <a:xfrm>
            <a:off x="7620000" y="4476750"/>
            <a:ext cx="2381250" cy="666750"/>
          </a:xfrm>
          <a:prstGeom prst="roundRect">
            <a:avLst>
              <a:gd name="adj" fmla="val 17143"/>
            </a:avLst>
          </a:prstGeom>
          <a:solidFill>
            <a:srgbClr val="F5F3FF"/>
          </a:solidFill>
          <a:ln w="9525">
            <a:solidFill>
              <a:srgbClr val="BBD3FF"/>
            </a:solidFill>
            <a:prstDash val="solid"/>
          </a:ln>
        </p:spPr>
      </p:sp>
      <p:sp>
        <p:nvSpPr>
          <p:cNvPr id="23" name="Rectangle 22">
            <a:extLst>
              <a:ext uri="{FF2B5EF4-FFF2-40B4-BE49-F238E27FC236}">
                <a16:creationId xmlns:a16="http://schemas.microsoft.com/office/drawing/2014/main" id="{C6C55A3F-DE09-40E8-BD18-3A78E4383051}"/>
              </a:ext>
            </a:extLst>
          </p:cNvPr>
          <p:cNvSpPr>
            <a:spLocks noGrp="1"/>
          </p:cNvSpPr>
          <p:nvPr/>
        </p:nvSpPr>
        <p:spPr>
          <a:xfrm>
            <a:off x="7734300" y="4638675"/>
            <a:ext cx="2152650" cy="342900"/>
          </a:xfrm>
          <a:prstGeom prst="rect">
            <a:avLst/>
          </a:prstGeom>
          <a:noFill/>
          <a:ln w="0">
            <a:noFill/>
            <a:prstDash val="solid"/>
          </a:ln>
        </p:spPr>
        <p:txBody>
          <a:bodyPr/>
          <a:lstStyle/>
          <a:p>
            <a:pPr algn="ctr">
              <a:buNone/>
              <a:defRPr sz="1425" b="1">
                <a:solidFill>
                  <a:srgbClr val="5B21B6"/>
                </a:solidFill>
              </a:defRPr>
            </a:pPr>
            <a:r>
              <a:rPr sz="1425" b="1">
                <a:solidFill>
                  <a:srgbClr val="5B21B6"/>
                </a:solidFill>
              </a:rPr>
              <a:t>RegistrationService</a:t>
            </a:r>
          </a:p>
        </p:txBody>
      </p:sp>
      <p:sp>
        <p:nvSpPr>
          <p:cNvPr id="24" name="Rectangle 23">
            <a:extLst>
              <a:ext uri="{FF2B5EF4-FFF2-40B4-BE49-F238E27FC236}">
                <a16:creationId xmlns:a16="http://schemas.microsoft.com/office/drawing/2014/main" id="{63EDAD18-9399-4403-8EE5-D53150E20E77}"/>
              </a:ext>
            </a:extLst>
          </p:cNvPr>
          <p:cNvSpPr>
            <a:spLocks noGrp="1"/>
          </p:cNvSpPr>
          <p:nvPr/>
        </p:nvSpPr>
        <p:spPr>
          <a:xfrm>
            <a:off x="819150" y="5334000"/>
            <a:ext cx="228600" cy="285750"/>
          </a:xfrm>
          <a:prstGeom prst="rect">
            <a:avLst/>
          </a:prstGeom>
          <a:noFill/>
          <a:ln w="0">
            <a:noFill/>
            <a:prstDash val="solid"/>
          </a:ln>
        </p:spPr>
        <p:txBody>
          <a:bodyPr/>
          <a:lstStyle/>
          <a:p>
            <a:pPr algn="l">
              <a:buNone/>
              <a:defRPr sz="1500" b="1">
                <a:solidFill>
                  <a:srgbClr val="0B5FFF"/>
                </a:solidFill>
              </a:defRPr>
            </a:pPr>
            <a:r>
              <a:rPr sz="1500" b="1">
                <a:solidFill>
                  <a:srgbClr val="0B5FFF"/>
                </a:solidFill>
              </a:rPr>
              <a:t>•</a:t>
            </a:r>
          </a:p>
        </p:txBody>
      </p:sp>
      <p:sp>
        <p:nvSpPr>
          <p:cNvPr id="25" name="Rectangle 24">
            <a:extLst>
              <a:ext uri="{FF2B5EF4-FFF2-40B4-BE49-F238E27FC236}">
                <a16:creationId xmlns:a16="http://schemas.microsoft.com/office/drawing/2014/main" id="{FAB49D3F-5590-40B2-B1E5-287079CC4728}"/>
              </a:ext>
            </a:extLst>
          </p:cNvPr>
          <p:cNvSpPr>
            <a:spLocks noGrp="1"/>
          </p:cNvSpPr>
          <p:nvPr/>
        </p:nvSpPr>
        <p:spPr>
          <a:xfrm>
            <a:off x="1123950" y="5324475"/>
            <a:ext cx="9696450" cy="304800"/>
          </a:xfrm>
          <a:prstGeom prst="rect">
            <a:avLst/>
          </a:prstGeom>
          <a:noFill/>
          <a:ln w="0">
            <a:noFill/>
            <a:prstDash val="solid"/>
          </a:ln>
        </p:spPr>
        <p:txBody>
          <a:bodyPr/>
          <a:lstStyle/>
          <a:p>
            <a:pPr algn="l">
              <a:buNone/>
              <a:defRPr sz="1500" b="0">
                <a:solidFill>
                  <a:srgbClr val="020618"/>
                </a:solidFill>
              </a:defRPr>
            </a:pPr>
            <a:r>
              <a:rPr sz="1500" b="0">
                <a:solidFill>
                  <a:srgbClr val="020618"/>
                </a:solidFill>
              </a:rPr>
              <a:t>Student/Lecturer kế thừa User.</a:t>
            </a:r>
          </a:p>
        </p:txBody>
      </p:sp>
      <p:sp>
        <p:nvSpPr>
          <p:cNvPr id="26" name="Rectangle 25">
            <a:extLst>
              <a:ext uri="{FF2B5EF4-FFF2-40B4-BE49-F238E27FC236}">
                <a16:creationId xmlns:a16="http://schemas.microsoft.com/office/drawing/2014/main" id="{55F94BF3-C1EC-4B5E-AAF3-32D207FCC1B0}"/>
              </a:ext>
            </a:extLst>
          </p:cNvPr>
          <p:cNvSpPr>
            <a:spLocks noGrp="1"/>
          </p:cNvSpPr>
          <p:nvPr/>
        </p:nvSpPr>
        <p:spPr>
          <a:xfrm>
            <a:off x="819150" y="5638800"/>
            <a:ext cx="228600" cy="285750"/>
          </a:xfrm>
          <a:prstGeom prst="rect">
            <a:avLst/>
          </a:prstGeom>
          <a:noFill/>
          <a:ln w="0">
            <a:noFill/>
            <a:prstDash val="solid"/>
          </a:ln>
        </p:spPr>
        <p:txBody>
          <a:bodyPr/>
          <a:lstStyle/>
          <a:p>
            <a:pPr algn="l">
              <a:buNone/>
              <a:defRPr sz="1500" b="1">
                <a:solidFill>
                  <a:srgbClr val="0B5FFF"/>
                </a:solidFill>
              </a:defRPr>
            </a:pPr>
            <a:r>
              <a:rPr sz="1500" b="1">
                <a:solidFill>
                  <a:srgbClr val="0B5FFF"/>
                </a:solidFill>
              </a:rPr>
              <a:t>•</a:t>
            </a:r>
          </a:p>
        </p:txBody>
      </p:sp>
      <p:sp>
        <p:nvSpPr>
          <p:cNvPr id="27" name="Rectangle 26">
            <a:extLst>
              <a:ext uri="{FF2B5EF4-FFF2-40B4-BE49-F238E27FC236}">
                <a16:creationId xmlns:a16="http://schemas.microsoft.com/office/drawing/2014/main" id="{5F63020A-B54B-4770-958D-4A5A94B16884}"/>
              </a:ext>
            </a:extLst>
          </p:cNvPr>
          <p:cNvSpPr>
            <a:spLocks noGrp="1"/>
          </p:cNvSpPr>
          <p:nvPr/>
        </p:nvSpPr>
        <p:spPr>
          <a:xfrm>
            <a:off x="1123950" y="5629275"/>
            <a:ext cx="9696450" cy="304800"/>
          </a:xfrm>
          <a:prstGeom prst="rect">
            <a:avLst/>
          </a:prstGeom>
          <a:noFill/>
          <a:ln w="0">
            <a:noFill/>
            <a:prstDash val="solid"/>
          </a:ln>
        </p:spPr>
        <p:txBody>
          <a:bodyPr/>
          <a:lstStyle/>
          <a:p>
            <a:pPr algn="l">
              <a:buNone/>
              <a:defRPr sz="1500" b="0">
                <a:solidFill>
                  <a:srgbClr val="020618"/>
                </a:solidFill>
              </a:defRPr>
            </a:pPr>
            <a:r>
              <a:rPr sz="1500" b="0">
                <a:solidFill>
                  <a:srgbClr val="020618"/>
                </a:solidFill>
              </a:rPr>
              <a:t>Course chứa nhiều Schedule.</a:t>
            </a:r>
          </a:p>
        </p:txBody>
      </p:sp>
      <p:sp>
        <p:nvSpPr>
          <p:cNvPr id="28" name="Rectangle 27">
            <a:extLst>
              <a:ext uri="{FF2B5EF4-FFF2-40B4-BE49-F238E27FC236}">
                <a16:creationId xmlns:a16="http://schemas.microsoft.com/office/drawing/2014/main" id="{0A0ED11E-204E-4DEC-A0F4-8DFAF89E5D52}"/>
              </a:ext>
            </a:extLst>
          </p:cNvPr>
          <p:cNvSpPr>
            <a:spLocks noGrp="1"/>
          </p:cNvSpPr>
          <p:nvPr/>
        </p:nvSpPr>
        <p:spPr>
          <a:xfrm>
            <a:off x="819150" y="5943600"/>
            <a:ext cx="228600" cy="285750"/>
          </a:xfrm>
          <a:prstGeom prst="rect">
            <a:avLst/>
          </a:prstGeom>
          <a:noFill/>
          <a:ln w="0">
            <a:noFill/>
            <a:prstDash val="solid"/>
          </a:ln>
        </p:spPr>
        <p:txBody>
          <a:bodyPr/>
          <a:lstStyle/>
          <a:p>
            <a:pPr algn="l">
              <a:buNone/>
              <a:defRPr sz="1500" b="1">
                <a:solidFill>
                  <a:srgbClr val="0B5FFF"/>
                </a:solidFill>
              </a:defRPr>
            </a:pPr>
            <a:r>
              <a:rPr sz="1500" b="1">
                <a:solidFill>
                  <a:srgbClr val="0B5FFF"/>
                </a:solidFill>
              </a:rPr>
              <a:t>•</a:t>
            </a:r>
          </a:p>
        </p:txBody>
      </p:sp>
      <p:sp>
        <p:nvSpPr>
          <p:cNvPr id="29" name="Rectangle 28">
            <a:extLst>
              <a:ext uri="{FF2B5EF4-FFF2-40B4-BE49-F238E27FC236}">
                <a16:creationId xmlns:a16="http://schemas.microsoft.com/office/drawing/2014/main" id="{AAA171E4-6304-49E3-B0F2-F5DFB82A6A88}"/>
              </a:ext>
            </a:extLst>
          </p:cNvPr>
          <p:cNvSpPr>
            <a:spLocks noGrp="1"/>
          </p:cNvSpPr>
          <p:nvPr/>
        </p:nvSpPr>
        <p:spPr>
          <a:xfrm>
            <a:off x="1123950" y="5934075"/>
            <a:ext cx="9696450" cy="304800"/>
          </a:xfrm>
          <a:prstGeom prst="rect">
            <a:avLst/>
          </a:prstGeom>
          <a:noFill/>
          <a:ln w="0">
            <a:noFill/>
            <a:prstDash val="solid"/>
          </a:ln>
        </p:spPr>
        <p:txBody>
          <a:bodyPr/>
          <a:lstStyle/>
          <a:p>
            <a:pPr algn="l">
              <a:buNone/>
              <a:defRPr sz="1500" b="0">
                <a:solidFill>
                  <a:srgbClr val="020618"/>
                </a:solidFill>
              </a:defRPr>
            </a:pPr>
            <a:r>
              <a:rPr sz="1500" b="0">
                <a:solidFill>
                  <a:srgbClr val="020618"/>
                </a:solidFill>
              </a:rPr>
              <a:t>Registration gồm nhiều RegistrationDetail.</a:t>
            </a:r>
          </a:p>
        </p:txBody>
      </p:sp>
      <p:sp>
        <p:nvSpPr>
          <p:cNvPr id="30" name="Rectangle 29">
            <a:extLst>
              <a:ext uri="{FF2B5EF4-FFF2-40B4-BE49-F238E27FC236}">
                <a16:creationId xmlns:a16="http://schemas.microsoft.com/office/drawing/2014/main" id="{BC0B9B4A-D766-4AE7-B8B7-D432F3698C39}"/>
              </a:ext>
            </a:extLst>
          </p:cNvPr>
          <p:cNvSpPr>
            <a:spLocks noGrp="1"/>
          </p:cNvSpPr>
          <p:nvPr/>
        </p:nvSpPr>
        <p:spPr>
          <a:xfrm>
            <a:off x="819150" y="6248400"/>
            <a:ext cx="228600" cy="285750"/>
          </a:xfrm>
          <a:prstGeom prst="rect">
            <a:avLst/>
          </a:prstGeom>
          <a:noFill/>
          <a:ln w="0">
            <a:noFill/>
            <a:prstDash val="solid"/>
          </a:ln>
        </p:spPr>
        <p:txBody>
          <a:bodyPr/>
          <a:lstStyle/>
          <a:p>
            <a:pPr algn="l">
              <a:buNone/>
              <a:defRPr sz="1500" b="1">
                <a:solidFill>
                  <a:srgbClr val="0B5FFF"/>
                </a:solidFill>
              </a:defRPr>
            </a:pPr>
            <a:r>
              <a:rPr sz="1500" b="1">
                <a:solidFill>
                  <a:srgbClr val="0B5FFF"/>
                </a:solidFill>
              </a:rPr>
              <a:t>•</a:t>
            </a:r>
          </a:p>
        </p:txBody>
      </p:sp>
      <p:sp>
        <p:nvSpPr>
          <p:cNvPr id="31" name="Rectangle 30">
            <a:extLst>
              <a:ext uri="{FF2B5EF4-FFF2-40B4-BE49-F238E27FC236}">
                <a16:creationId xmlns:a16="http://schemas.microsoft.com/office/drawing/2014/main" id="{79F83EE3-605B-445A-A434-82C52F3FC322}"/>
              </a:ext>
            </a:extLst>
          </p:cNvPr>
          <p:cNvSpPr>
            <a:spLocks noGrp="1"/>
          </p:cNvSpPr>
          <p:nvPr/>
        </p:nvSpPr>
        <p:spPr>
          <a:xfrm>
            <a:off x="1123950" y="6238875"/>
            <a:ext cx="9696450" cy="304800"/>
          </a:xfrm>
          <a:prstGeom prst="rect">
            <a:avLst/>
          </a:prstGeom>
          <a:noFill/>
          <a:ln w="0">
            <a:noFill/>
            <a:prstDash val="solid"/>
          </a:ln>
        </p:spPr>
        <p:txBody>
          <a:bodyPr/>
          <a:lstStyle/>
          <a:p>
            <a:pPr algn="l">
              <a:buNone/>
              <a:defRPr sz="1500" b="0">
                <a:solidFill>
                  <a:srgbClr val="020618"/>
                </a:solidFill>
              </a:defRPr>
            </a:pPr>
            <a:r>
              <a:rPr sz="1500" b="0">
                <a:solidFill>
                  <a:srgbClr val="020618"/>
                </a:solidFill>
              </a:rPr>
              <a:t>RegistrationService dùng các validator qua interface.</a:t>
            </a:r>
          </a:p>
        </p:txBody>
      </p:sp>
    </p:spTree>
    <p:extLst>
      <p:ext uri="{BB962C8B-B14F-4D97-AF65-F5344CB8AC3E}">
        <p14:creationId xmlns:p14="http://schemas.microsoft.com/office/powerpoint/2010/main" val="1533238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39EC809-2B22-4C94-A631-1318FAF9D129}"/>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C080E335-6CDD-4B65-9A16-DB883A66055C}"/>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Dữ liệu JSON đủ cho demo và kiểm chứng logic</a:t>
            </a:r>
          </a:p>
        </p:txBody>
      </p:sp>
      <p:sp>
        <p:nvSpPr>
          <p:cNvPr id="3" name="Straight Connector 2">
            <a:extLst>
              <a:ext uri="{FF2B5EF4-FFF2-40B4-BE49-F238E27FC236}">
                <a16:creationId xmlns:a16="http://schemas.microsoft.com/office/drawing/2014/main" id="{8901470E-ECA1-439B-ACA1-2BAADC958862}"/>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0F83C988-158C-43DD-8036-62FCF4BDAC5F}"/>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7F5D7627-0CB1-4030-A1AA-85AA3F0C090C}"/>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08</a:t>
            </a:r>
          </a:p>
        </p:txBody>
      </p:sp>
      <p:sp>
        <p:nvSpPr>
          <p:cNvPr id="6" name="Rectangle: Rounded Corners 5">
            <a:extLst>
              <a:ext uri="{FF2B5EF4-FFF2-40B4-BE49-F238E27FC236}">
                <a16:creationId xmlns:a16="http://schemas.microsoft.com/office/drawing/2014/main" id="{6DA74AF2-43CB-49F6-B9CC-5571DD248C9A}"/>
              </a:ext>
            </a:extLst>
          </p:cNvPr>
          <p:cNvSpPr>
            <a:spLocks noGrp="1"/>
          </p:cNvSpPr>
          <p:nvPr/>
        </p:nvSpPr>
        <p:spPr>
          <a:xfrm>
            <a:off x="762000" y="1619250"/>
            <a:ext cx="2190750" cy="1085850"/>
          </a:xfrm>
          <a:prstGeom prst="roundRect">
            <a:avLst>
              <a:gd name="adj" fmla="val 14035"/>
            </a:avLst>
          </a:prstGeom>
          <a:solidFill>
            <a:srgbClr val="FFFFFF"/>
          </a:solidFill>
          <a:ln w="9525">
            <a:solidFill>
              <a:srgbClr val="E2E8F0"/>
            </a:solidFill>
            <a:prstDash val="solid"/>
          </a:ln>
        </p:spPr>
      </p:sp>
      <p:sp>
        <p:nvSpPr>
          <p:cNvPr id="7" name="Rectangle 6">
            <a:extLst>
              <a:ext uri="{FF2B5EF4-FFF2-40B4-BE49-F238E27FC236}">
                <a16:creationId xmlns:a16="http://schemas.microsoft.com/office/drawing/2014/main" id="{5C549511-01BF-4DB5-9DA9-CE5E05136974}"/>
              </a:ext>
            </a:extLst>
          </p:cNvPr>
          <p:cNvSpPr>
            <a:spLocks noGrp="1"/>
          </p:cNvSpPr>
          <p:nvPr/>
        </p:nvSpPr>
        <p:spPr>
          <a:xfrm>
            <a:off x="971550" y="1790700"/>
            <a:ext cx="1771650" cy="419100"/>
          </a:xfrm>
          <a:prstGeom prst="rect">
            <a:avLst/>
          </a:prstGeom>
          <a:noFill/>
          <a:ln w="0">
            <a:noFill/>
            <a:prstDash val="solid"/>
          </a:ln>
        </p:spPr>
        <p:txBody>
          <a:bodyPr/>
          <a:lstStyle/>
          <a:p>
            <a:pPr algn="l">
              <a:buNone/>
              <a:defRPr sz="2550" b="1">
                <a:solidFill>
                  <a:srgbClr val="0B5FFF"/>
                </a:solidFill>
              </a:defRPr>
            </a:pPr>
            <a:r>
              <a:rPr sz="2550" b="1">
                <a:solidFill>
                  <a:srgbClr val="0B5FFF"/>
                </a:solidFill>
              </a:rPr>
              <a:t>3</a:t>
            </a:r>
          </a:p>
        </p:txBody>
      </p:sp>
      <p:sp>
        <p:nvSpPr>
          <p:cNvPr id="8" name="Rectangle 7">
            <a:extLst>
              <a:ext uri="{FF2B5EF4-FFF2-40B4-BE49-F238E27FC236}">
                <a16:creationId xmlns:a16="http://schemas.microsoft.com/office/drawing/2014/main" id="{23F1878A-1D75-4178-99D2-7078D2748749}"/>
              </a:ext>
            </a:extLst>
          </p:cNvPr>
          <p:cNvSpPr>
            <a:spLocks noGrp="1"/>
          </p:cNvSpPr>
          <p:nvPr/>
        </p:nvSpPr>
        <p:spPr>
          <a:xfrm>
            <a:off x="971550" y="2266950"/>
            <a:ext cx="1771650" cy="266700"/>
          </a:xfrm>
          <a:prstGeom prst="rect">
            <a:avLst/>
          </a:prstGeom>
          <a:noFill/>
          <a:ln w="0">
            <a:noFill/>
            <a:prstDash val="solid"/>
          </a:ln>
        </p:spPr>
        <p:txBody>
          <a:bodyPr/>
          <a:lstStyle/>
          <a:p>
            <a:pPr algn="l">
              <a:buNone/>
              <a:defRPr sz="1350" b="0">
                <a:solidFill>
                  <a:srgbClr val="45556C"/>
                </a:solidFill>
              </a:defRPr>
            </a:pPr>
            <a:r>
              <a:rPr sz="1350" b="0">
                <a:solidFill>
                  <a:srgbClr val="45556C"/>
                </a:solidFill>
              </a:rPr>
              <a:t>students.json</a:t>
            </a:r>
          </a:p>
        </p:txBody>
      </p:sp>
      <p:sp>
        <p:nvSpPr>
          <p:cNvPr id="9" name="Rectangle: Rounded Corners 8">
            <a:extLst>
              <a:ext uri="{FF2B5EF4-FFF2-40B4-BE49-F238E27FC236}">
                <a16:creationId xmlns:a16="http://schemas.microsoft.com/office/drawing/2014/main" id="{5130B20D-3F23-4862-873B-DF2FD741F5AF}"/>
              </a:ext>
            </a:extLst>
          </p:cNvPr>
          <p:cNvSpPr>
            <a:spLocks noGrp="1"/>
          </p:cNvSpPr>
          <p:nvPr/>
        </p:nvSpPr>
        <p:spPr>
          <a:xfrm>
            <a:off x="3429000" y="1619250"/>
            <a:ext cx="2190750" cy="1085850"/>
          </a:xfrm>
          <a:prstGeom prst="roundRect">
            <a:avLst>
              <a:gd name="adj" fmla="val 14035"/>
            </a:avLst>
          </a:prstGeom>
          <a:solidFill>
            <a:srgbClr val="FFFFFF"/>
          </a:solidFill>
          <a:ln w="9525">
            <a:solidFill>
              <a:srgbClr val="E2E8F0"/>
            </a:solidFill>
            <a:prstDash val="solid"/>
          </a:ln>
        </p:spPr>
      </p:sp>
      <p:sp>
        <p:nvSpPr>
          <p:cNvPr id="10" name="Rectangle 9">
            <a:extLst>
              <a:ext uri="{FF2B5EF4-FFF2-40B4-BE49-F238E27FC236}">
                <a16:creationId xmlns:a16="http://schemas.microsoft.com/office/drawing/2014/main" id="{D628C1B2-4DAB-45AD-8182-50734C0252DC}"/>
              </a:ext>
            </a:extLst>
          </p:cNvPr>
          <p:cNvSpPr>
            <a:spLocks noGrp="1"/>
          </p:cNvSpPr>
          <p:nvPr/>
        </p:nvSpPr>
        <p:spPr>
          <a:xfrm>
            <a:off x="3638550" y="1790700"/>
            <a:ext cx="1771650" cy="419100"/>
          </a:xfrm>
          <a:prstGeom prst="rect">
            <a:avLst/>
          </a:prstGeom>
          <a:noFill/>
          <a:ln w="0">
            <a:noFill/>
            <a:prstDash val="solid"/>
          </a:ln>
        </p:spPr>
        <p:txBody>
          <a:bodyPr/>
          <a:lstStyle/>
          <a:p>
            <a:pPr algn="l">
              <a:buNone/>
              <a:defRPr sz="2550" b="1">
                <a:solidFill>
                  <a:srgbClr val="16A34A"/>
                </a:solidFill>
              </a:defRPr>
            </a:pPr>
            <a:r>
              <a:rPr sz="2550" b="1">
                <a:solidFill>
                  <a:srgbClr val="16A34A"/>
                </a:solidFill>
              </a:rPr>
              <a:t>10</a:t>
            </a:r>
          </a:p>
        </p:txBody>
      </p:sp>
      <p:sp>
        <p:nvSpPr>
          <p:cNvPr id="11" name="Rectangle 10">
            <a:extLst>
              <a:ext uri="{FF2B5EF4-FFF2-40B4-BE49-F238E27FC236}">
                <a16:creationId xmlns:a16="http://schemas.microsoft.com/office/drawing/2014/main" id="{DE9C7CC1-0FA7-4BCD-B0FD-57A01E5AAD73}"/>
              </a:ext>
            </a:extLst>
          </p:cNvPr>
          <p:cNvSpPr>
            <a:spLocks noGrp="1"/>
          </p:cNvSpPr>
          <p:nvPr/>
        </p:nvSpPr>
        <p:spPr>
          <a:xfrm>
            <a:off x="3638550" y="2266950"/>
            <a:ext cx="1771650" cy="266700"/>
          </a:xfrm>
          <a:prstGeom prst="rect">
            <a:avLst/>
          </a:prstGeom>
          <a:noFill/>
          <a:ln w="0">
            <a:noFill/>
            <a:prstDash val="solid"/>
          </a:ln>
        </p:spPr>
        <p:txBody>
          <a:bodyPr/>
          <a:lstStyle/>
          <a:p>
            <a:pPr algn="l">
              <a:buNone/>
              <a:defRPr sz="1350" b="0">
                <a:solidFill>
                  <a:srgbClr val="45556C"/>
                </a:solidFill>
              </a:defRPr>
            </a:pPr>
            <a:r>
              <a:rPr sz="1350" b="0">
                <a:solidFill>
                  <a:srgbClr val="45556C"/>
                </a:solidFill>
              </a:rPr>
              <a:t>lecturers.json</a:t>
            </a:r>
          </a:p>
        </p:txBody>
      </p:sp>
      <p:sp>
        <p:nvSpPr>
          <p:cNvPr id="12" name="Rectangle: Rounded Corners 11">
            <a:extLst>
              <a:ext uri="{FF2B5EF4-FFF2-40B4-BE49-F238E27FC236}">
                <a16:creationId xmlns:a16="http://schemas.microsoft.com/office/drawing/2014/main" id="{DB1BB6E0-7DF2-4031-9731-43571D2AF56D}"/>
              </a:ext>
            </a:extLst>
          </p:cNvPr>
          <p:cNvSpPr>
            <a:spLocks noGrp="1"/>
          </p:cNvSpPr>
          <p:nvPr/>
        </p:nvSpPr>
        <p:spPr>
          <a:xfrm>
            <a:off x="6096000" y="1619250"/>
            <a:ext cx="2190750" cy="1085850"/>
          </a:xfrm>
          <a:prstGeom prst="roundRect">
            <a:avLst>
              <a:gd name="adj" fmla="val 14035"/>
            </a:avLst>
          </a:prstGeom>
          <a:solidFill>
            <a:srgbClr val="FFFFFF"/>
          </a:solidFill>
          <a:ln w="9525">
            <a:solidFill>
              <a:srgbClr val="E2E8F0"/>
            </a:solidFill>
            <a:prstDash val="solid"/>
          </a:ln>
        </p:spPr>
      </p:sp>
      <p:sp>
        <p:nvSpPr>
          <p:cNvPr id="13" name="Rectangle 12">
            <a:extLst>
              <a:ext uri="{FF2B5EF4-FFF2-40B4-BE49-F238E27FC236}">
                <a16:creationId xmlns:a16="http://schemas.microsoft.com/office/drawing/2014/main" id="{D1763943-D334-4C28-A00B-7C9875FC46E4}"/>
              </a:ext>
            </a:extLst>
          </p:cNvPr>
          <p:cNvSpPr>
            <a:spLocks noGrp="1"/>
          </p:cNvSpPr>
          <p:nvPr/>
        </p:nvSpPr>
        <p:spPr>
          <a:xfrm>
            <a:off x="6305550" y="1790700"/>
            <a:ext cx="1771650" cy="419100"/>
          </a:xfrm>
          <a:prstGeom prst="rect">
            <a:avLst/>
          </a:prstGeom>
          <a:noFill/>
          <a:ln w="0">
            <a:noFill/>
            <a:prstDash val="solid"/>
          </a:ln>
        </p:spPr>
        <p:txBody>
          <a:bodyPr/>
          <a:lstStyle/>
          <a:p>
            <a:pPr algn="l">
              <a:buNone/>
              <a:defRPr sz="2550" b="1">
                <a:solidFill>
                  <a:srgbClr val="D97706"/>
                </a:solidFill>
              </a:defRPr>
            </a:pPr>
            <a:r>
              <a:rPr sz="2550" b="1">
                <a:solidFill>
                  <a:srgbClr val="D97706"/>
                </a:solidFill>
              </a:rPr>
              <a:t>40</a:t>
            </a:r>
          </a:p>
        </p:txBody>
      </p:sp>
      <p:sp>
        <p:nvSpPr>
          <p:cNvPr id="14" name="Rectangle 13">
            <a:extLst>
              <a:ext uri="{FF2B5EF4-FFF2-40B4-BE49-F238E27FC236}">
                <a16:creationId xmlns:a16="http://schemas.microsoft.com/office/drawing/2014/main" id="{281F0D36-C356-45C5-9DC8-C4BDA11E99F0}"/>
              </a:ext>
            </a:extLst>
          </p:cNvPr>
          <p:cNvSpPr>
            <a:spLocks noGrp="1"/>
          </p:cNvSpPr>
          <p:nvPr/>
        </p:nvSpPr>
        <p:spPr>
          <a:xfrm>
            <a:off x="6305550" y="2266950"/>
            <a:ext cx="1771650" cy="266700"/>
          </a:xfrm>
          <a:prstGeom prst="rect">
            <a:avLst/>
          </a:prstGeom>
          <a:noFill/>
          <a:ln w="0">
            <a:noFill/>
            <a:prstDash val="solid"/>
          </a:ln>
        </p:spPr>
        <p:txBody>
          <a:bodyPr/>
          <a:lstStyle/>
          <a:p>
            <a:pPr algn="l">
              <a:buNone/>
              <a:defRPr sz="1350" b="0">
                <a:solidFill>
                  <a:srgbClr val="45556C"/>
                </a:solidFill>
              </a:defRPr>
            </a:pPr>
            <a:r>
              <a:rPr sz="1350" b="0">
                <a:solidFill>
                  <a:srgbClr val="45556C"/>
                </a:solidFill>
              </a:rPr>
              <a:t>courses.json</a:t>
            </a:r>
          </a:p>
        </p:txBody>
      </p:sp>
      <p:sp>
        <p:nvSpPr>
          <p:cNvPr id="15" name="Rectangle: Rounded Corners 14">
            <a:extLst>
              <a:ext uri="{FF2B5EF4-FFF2-40B4-BE49-F238E27FC236}">
                <a16:creationId xmlns:a16="http://schemas.microsoft.com/office/drawing/2014/main" id="{441F1ECA-6633-480E-BCFB-96F56C4D5919}"/>
              </a:ext>
            </a:extLst>
          </p:cNvPr>
          <p:cNvSpPr>
            <a:spLocks noGrp="1"/>
          </p:cNvSpPr>
          <p:nvPr/>
        </p:nvSpPr>
        <p:spPr>
          <a:xfrm>
            <a:off x="8763000" y="1619250"/>
            <a:ext cx="2190750" cy="1085850"/>
          </a:xfrm>
          <a:prstGeom prst="roundRect">
            <a:avLst>
              <a:gd name="adj" fmla="val 14035"/>
            </a:avLst>
          </a:prstGeom>
          <a:solidFill>
            <a:srgbClr val="FFFFFF"/>
          </a:solidFill>
          <a:ln w="9525">
            <a:solidFill>
              <a:srgbClr val="E2E8F0"/>
            </a:solidFill>
            <a:prstDash val="solid"/>
          </a:ln>
        </p:spPr>
      </p:sp>
      <p:sp>
        <p:nvSpPr>
          <p:cNvPr id="16" name="Rectangle 15">
            <a:extLst>
              <a:ext uri="{FF2B5EF4-FFF2-40B4-BE49-F238E27FC236}">
                <a16:creationId xmlns:a16="http://schemas.microsoft.com/office/drawing/2014/main" id="{C32799DE-5202-42EF-9E8D-63FDDFA25F04}"/>
              </a:ext>
            </a:extLst>
          </p:cNvPr>
          <p:cNvSpPr>
            <a:spLocks noGrp="1"/>
          </p:cNvSpPr>
          <p:nvPr/>
        </p:nvSpPr>
        <p:spPr>
          <a:xfrm>
            <a:off x="8972550" y="1790700"/>
            <a:ext cx="1771650" cy="419100"/>
          </a:xfrm>
          <a:prstGeom prst="rect">
            <a:avLst/>
          </a:prstGeom>
          <a:noFill/>
          <a:ln w="0">
            <a:noFill/>
            <a:prstDash val="solid"/>
          </a:ln>
        </p:spPr>
        <p:txBody>
          <a:bodyPr/>
          <a:lstStyle/>
          <a:p>
            <a:pPr algn="l">
              <a:buNone/>
              <a:defRPr sz="2550" b="1">
                <a:solidFill>
                  <a:srgbClr val="0B5FFF"/>
                </a:solidFill>
              </a:defRPr>
            </a:pPr>
            <a:r>
              <a:rPr sz="2550" b="1">
                <a:solidFill>
                  <a:srgbClr val="0B5FFF"/>
                </a:solidFill>
              </a:rPr>
              <a:t>2</a:t>
            </a:r>
          </a:p>
        </p:txBody>
      </p:sp>
      <p:sp>
        <p:nvSpPr>
          <p:cNvPr id="17" name="Rectangle 16">
            <a:extLst>
              <a:ext uri="{FF2B5EF4-FFF2-40B4-BE49-F238E27FC236}">
                <a16:creationId xmlns:a16="http://schemas.microsoft.com/office/drawing/2014/main" id="{382DF95C-A2C8-49BF-BB3F-98AD9FD0CFEC}"/>
              </a:ext>
            </a:extLst>
          </p:cNvPr>
          <p:cNvSpPr>
            <a:spLocks noGrp="1"/>
          </p:cNvSpPr>
          <p:nvPr/>
        </p:nvSpPr>
        <p:spPr>
          <a:xfrm>
            <a:off x="8972550" y="2266950"/>
            <a:ext cx="1771650" cy="266700"/>
          </a:xfrm>
          <a:prstGeom prst="rect">
            <a:avLst/>
          </a:prstGeom>
          <a:noFill/>
          <a:ln w="0">
            <a:noFill/>
            <a:prstDash val="solid"/>
          </a:ln>
        </p:spPr>
        <p:txBody>
          <a:bodyPr/>
          <a:lstStyle/>
          <a:p>
            <a:pPr algn="l">
              <a:buNone/>
              <a:defRPr sz="1350" b="0">
                <a:solidFill>
                  <a:srgbClr val="45556C"/>
                </a:solidFill>
              </a:defRPr>
            </a:pPr>
            <a:r>
              <a:rPr sz="1350" b="0">
                <a:solidFill>
                  <a:srgbClr val="45556C"/>
                </a:solidFill>
              </a:rPr>
              <a:t>registrations.json</a:t>
            </a:r>
          </a:p>
        </p:txBody>
      </p:sp>
      <p:sp>
        <p:nvSpPr>
          <p:cNvPr id="18" name="Rectangle 17">
            <a:extLst>
              <a:ext uri="{FF2B5EF4-FFF2-40B4-BE49-F238E27FC236}">
                <a16:creationId xmlns:a16="http://schemas.microsoft.com/office/drawing/2014/main" id="{A4CF2303-331C-4AF2-96C6-971C82DF476D}"/>
              </a:ext>
            </a:extLst>
          </p:cNvPr>
          <p:cNvSpPr>
            <a:spLocks noGrp="1"/>
          </p:cNvSpPr>
          <p:nvPr/>
        </p:nvSpPr>
        <p:spPr>
          <a:xfrm>
            <a:off x="1143000" y="3524250"/>
            <a:ext cx="228600" cy="285750"/>
          </a:xfrm>
          <a:prstGeom prst="rect">
            <a:avLst/>
          </a:prstGeom>
          <a:noFill/>
          <a:ln w="0">
            <a:noFill/>
            <a:prstDash val="solid"/>
          </a:ln>
        </p:spPr>
        <p:txBody>
          <a:bodyPr/>
          <a:lstStyle/>
          <a:p>
            <a:pPr algn="l">
              <a:buNone/>
              <a:defRPr sz="1875" b="1">
                <a:solidFill>
                  <a:srgbClr val="0B5FFF"/>
                </a:solidFill>
              </a:defRPr>
            </a:pPr>
            <a:r>
              <a:rPr sz="1875" b="1">
                <a:solidFill>
                  <a:srgbClr val="0B5FFF"/>
                </a:solidFill>
              </a:rPr>
              <a:t>•</a:t>
            </a:r>
          </a:p>
        </p:txBody>
      </p:sp>
      <p:sp>
        <p:nvSpPr>
          <p:cNvPr id="19" name="Rectangle 18">
            <a:extLst>
              <a:ext uri="{FF2B5EF4-FFF2-40B4-BE49-F238E27FC236}">
                <a16:creationId xmlns:a16="http://schemas.microsoft.com/office/drawing/2014/main" id="{6FA120B8-C1AF-49A6-BCB6-28A4D1ED7D87}"/>
              </a:ext>
            </a:extLst>
          </p:cNvPr>
          <p:cNvSpPr>
            <a:spLocks noGrp="1"/>
          </p:cNvSpPr>
          <p:nvPr/>
        </p:nvSpPr>
        <p:spPr>
          <a:xfrm>
            <a:off x="1447800" y="3514725"/>
            <a:ext cx="8839200" cy="552450"/>
          </a:xfrm>
          <a:prstGeom prst="rect">
            <a:avLst/>
          </a:prstGeom>
          <a:noFill/>
          <a:ln w="0">
            <a:noFill/>
            <a:prstDash val="solid"/>
          </a:ln>
        </p:spPr>
        <p:txBody>
          <a:bodyPr/>
          <a:lstStyle/>
          <a:p>
            <a:pPr algn="l">
              <a:buNone/>
              <a:defRPr sz="1875" b="0">
                <a:solidFill>
                  <a:srgbClr val="020618"/>
                </a:solidFill>
              </a:defRPr>
            </a:pPr>
            <a:r>
              <a:rPr sz="1875" b="0">
                <a:solidFill>
                  <a:srgbClr val="020618"/>
                </a:solidFill>
              </a:rPr>
              <a:t>Real data: sinh viên, giảng viên, học phần, đăng ký.</a:t>
            </a:r>
          </a:p>
        </p:txBody>
      </p:sp>
      <p:sp>
        <p:nvSpPr>
          <p:cNvPr id="20" name="Rectangle 19">
            <a:extLst>
              <a:ext uri="{FF2B5EF4-FFF2-40B4-BE49-F238E27FC236}">
                <a16:creationId xmlns:a16="http://schemas.microsoft.com/office/drawing/2014/main" id="{8B58C367-0F06-4E95-A9B4-9AC5461D6E32}"/>
              </a:ext>
            </a:extLst>
          </p:cNvPr>
          <p:cNvSpPr>
            <a:spLocks noGrp="1"/>
          </p:cNvSpPr>
          <p:nvPr/>
        </p:nvSpPr>
        <p:spPr>
          <a:xfrm>
            <a:off x="1143000" y="4076700"/>
            <a:ext cx="228600" cy="285750"/>
          </a:xfrm>
          <a:prstGeom prst="rect">
            <a:avLst/>
          </a:prstGeom>
          <a:noFill/>
          <a:ln w="0">
            <a:noFill/>
            <a:prstDash val="solid"/>
          </a:ln>
        </p:spPr>
        <p:txBody>
          <a:bodyPr/>
          <a:lstStyle/>
          <a:p>
            <a:pPr algn="l">
              <a:buNone/>
              <a:defRPr sz="1875" b="1">
                <a:solidFill>
                  <a:srgbClr val="0B5FFF"/>
                </a:solidFill>
              </a:defRPr>
            </a:pPr>
            <a:r>
              <a:rPr sz="1875" b="1">
                <a:solidFill>
                  <a:srgbClr val="0B5FFF"/>
                </a:solidFill>
              </a:rPr>
              <a:t>•</a:t>
            </a:r>
          </a:p>
        </p:txBody>
      </p:sp>
      <p:sp>
        <p:nvSpPr>
          <p:cNvPr id="21" name="Rectangle 20">
            <a:extLst>
              <a:ext uri="{FF2B5EF4-FFF2-40B4-BE49-F238E27FC236}">
                <a16:creationId xmlns:a16="http://schemas.microsoft.com/office/drawing/2014/main" id="{C91A1E28-328A-4C24-9CF0-19D9A53860D8}"/>
              </a:ext>
            </a:extLst>
          </p:cNvPr>
          <p:cNvSpPr>
            <a:spLocks noGrp="1"/>
          </p:cNvSpPr>
          <p:nvPr/>
        </p:nvSpPr>
        <p:spPr>
          <a:xfrm>
            <a:off x="1447800" y="4067175"/>
            <a:ext cx="8839200" cy="552450"/>
          </a:xfrm>
          <a:prstGeom prst="rect">
            <a:avLst/>
          </a:prstGeom>
          <a:noFill/>
          <a:ln w="0">
            <a:noFill/>
            <a:prstDash val="solid"/>
          </a:ln>
        </p:spPr>
        <p:txBody>
          <a:bodyPr/>
          <a:lstStyle/>
          <a:p>
            <a:pPr algn="l">
              <a:buNone/>
              <a:defRPr sz="1875" b="0">
                <a:solidFill>
                  <a:srgbClr val="020618"/>
                </a:solidFill>
              </a:defRPr>
            </a:pPr>
            <a:r>
              <a:rPr sz="1875" b="0">
                <a:solidFill>
                  <a:srgbClr val="020618"/>
                </a:solidFill>
              </a:rPr>
              <a:t>Computed data: tổng tín chỉ, thời khóa biểu, dashboard.</a:t>
            </a:r>
          </a:p>
        </p:txBody>
      </p:sp>
      <p:sp>
        <p:nvSpPr>
          <p:cNvPr id="22" name="Rectangle 21">
            <a:extLst>
              <a:ext uri="{FF2B5EF4-FFF2-40B4-BE49-F238E27FC236}">
                <a16:creationId xmlns:a16="http://schemas.microsoft.com/office/drawing/2014/main" id="{8DF93590-55EC-40CC-A510-B26F20A84399}"/>
              </a:ext>
            </a:extLst>
          </p:cNvPr>
          <p:cNvSpPr>
            <a:spLocks noGrp="1"/>
          </p:cNvSpPr>
          <p:nvPr/>
        </p:nvSpPr>
        <p:spPr>
          <a:xfrm>
            <a:off x="1143000" y="4629150"/>
            <a:ext cx="228600" cy="285750"/>
          </a:xfrm>
          <a:prstGeom prst="rect">
            <a:avLst/>
          </a:prstGeom>
          <a:noFill/>
          <a:ln w="0">
            <a:noFill/>
            <a:prstDash val="solid"/>
          </a:ln>
        </p:spPr>
        <p:txBody>
          <a:bodyPr/>
          <a:lstStyle/>
          <a:p>
            <a:pPr algn="l">
              <a:buNone/>
              <a:defRPr sz="1875" b="1">
                <a:solidFill>
                  <a:srgbClr val="0B5FFF"/>
                </a:solidFill>
              </a:defRPr>
            </a:pPr>
            <a:r>
              <a:rPr sz="1875" b="1">
                <a:solidFill>
                  <a:srgbClr val="0B5FFF"/>
                </a:solidFill>
              </a:rPr>
              <a:t>•</a:t>
            </a:r>
          </a:p>
        </p:txBody>
      </p:sp>
      <p:sp>
        <p:nvSpPr>
          <p:cNvPr id="23" name="Rectangle 22">
            <a:extLst>
              <a:ext uri="{FF2B5EF4-FFF2-40B4-BE49-F238E27FC236}">
                <a16:creationId xmlns:a16="http://schemas.microsoft.com/office/drawing/2014/main" id="{5C245FAD-F30A-408A-BEF7-966B86F79D24}"/>
              </a:ext>
            </a:extLst>
          </p:cNvPr>
          <p:cNvSpPr>
            <a:spLocks noGrp="1"/>
          </p:cNvSpPr>
          <p:nvPr/>
        </p:nvSpPr>
        <p:spPr>
          <a:xfrm>
            <a:off x="1447800" y="4619625"/>
            <a:ext cx="8839200" cy="552450"/>
          </a:xfrm>
          <a:prstGeom prst="rect">
            <a:avLst/>
          </a:prstGeom>
          <a:noFill/>
          <a:ln w="0">
            <a:noFill/>
            <a:prstDash val="solid"/>
          </a:ln>
        </p:spPr>
        <p:txBody>
          <a:bodyPr/>
          <a:lstStyle/>
          <a:p>
            <a:pPr algn="l">
              <a:buNone/>
              <a:defRPr sz="1875" b="0">
                <a:solidFill>
                  <a:srgbClr val="020618"/>
                </a:solidFill>
              </a:defRPr>
            </a:pPr>
            <a:r>
              <a:rPr sz="1875" b="0">
                <a:solidFill>
                  <a:srgbClr val="020618"/>
                </a:solidFill>
              </a:rPr>
              <a:t>Mock/local: một phần thông báo hiển thị ở frontend.</a:t>
            </a:r>
          </a:p>
        </p:txBody>
      </p:sp>
    </p:spTree>
    <p:extLst>
      <p:ext uri="{BB962C8B-B14F-4D97-AF65-F5344CB8AC3E}">
        <p14:creationId xmlns:p14="http://schemas.microsoft.com/office/powerpoint/2010/main" val="997591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114F2203-9D5E-40DE-8BE0-ED196D6D2EBA}"/>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BA43F312-9A85-4B51-B177-D9BD4E3460BB}"/>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Use Case tập trung vào actor Sinh viên</a:t>
            </a:r>
          </a:p>
        </p:txBody>
      </p:sp>
      <p:sp>
        <p:nvSpPr>
          <p:cNvPr id="3" name="Straight Connector 2">
            <a:extLst>
              <a:ext uri="{FF2B5EF4-FFF2-40B4-BE49-F238E27FC236}">
                <a16:creationId xmlns:a16="http://schemas.microsoft.com/office/drawing/2014/main" id="{440FF819-FEE8-4DDC-A308-4FECA6D9ADDB}"/>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DD4D4891-90B9-4BA0-91C1-5682779CD631}"/>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D931225F-5EED-48D3-A057-49ACCF49967B}"/>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09</a:t>
            </a:r>
          </a:p>
        </p:txBody>
      </p:sp>
      <p:sp>
        <p:nvSpPr>
          <p:cNvPr id="6" name="Rectangle: Rounded Corners 5">
            <a:extLst>
              <a:ext uri="{FF2B5EF4-FFF2-40B4-BE49-F238E27FC236}">
                <a16:creationId xmlns:a16="http://schemas.microsoft.com/office/drawing/2014/main" id="{3B4C6A05-64C1-404E-AC50-2B9532E4D6B9}"/>
              </a:ext>
            </a:extLst>
          </p:cNvPr>
          <p:cNvSpPr>
            <a:spLocks noGrp="1"/>
          </p:cNvSpPr>
          <p:nvPr/>
        </p:nvSpPr>
        <p:spPr>
          <a:xfrm>
            <a:off x="666750" y="3143250"/>
            <a:ext cx="1428750" cy="685800"/>
          </a:xfrm>
          <a:prstGeom prst="roundRect">
            <a:avLst>
              <a:gd name="adj" fmla="val 16667"/>
            </a:avLst>
          </a:prstGeom>
          <a:solidFill>
            <a:srgbClr val="0B5FFF"/>
          </a:solidFill>
          <a:ln w="9525">
            <a:solidFill>
              <a:srgbClr val="BBD3FF"/>
            </a:solidFill>
            <a:prstDash val="solid"/>
          </a:ln>
        </p:spPr>
      </p:sp>
      <p:sp>
        <p:nvSpPr>
          <p:cNvPr id="7" name="Rectangle 6">
            <a:extLst>
              <a:ext uri="{FF2B5EF4-FFF2-40B4-BE49-F238E27FC236}">
                <a16:creationId xmlns:a16="http://schemas.microsoft.com/office/drawing/2014/main" id="{8DD88475-AB07-43E4-9F15-154FB15B581D}"/>
              </a:ext>
            </a:extLst>
          </p:cNvPr>
          <p:cNvSpPr>
            <a:spLocks noGrp="1"/>
          </p:cNvSpPr>
          <p:nvPr/>
        </p:nvSpPr>
        <p:spPr>
          <a:xfrm>
            <a:off x="781050" y="3314700"/>
            <a:ext cx="1200150" cy="342900"/>
          </a:xfrm>
          <a:prstGeom prst="rect">
            <a:avLst/>
          </a:prstGeom>
          <a:noFill/>
          <a:ln w="0">
            <a:noFill/>
            <a:prstDash val="solid"/>
          </a:ln>
        </p:spPr>
        <p:txBody>
          <a:bodyPr/>
          <a:lstStyle/>
          <a:p>
            <a:pPr algn="ctr">
              <a:buNone/>
              <a:defRPr sz="1425" b="1">
                <a:solidFill>
                  <a:srgbClr val="FFFFFF"/>
                </a:solidFill>
              </a:defRPr>
            </a:pPr>
            <a:r>
              <a:rPr sz="1425" b="1">
                <a:solidFill>
                  <a:srgbClr val="FFFFFF"/>
                </a:solidFill>
              </a:rPr>
              <a:t>Sinh viên</a:t>
            </a:r>
          </a:p>
        </p:txBody>
      </p:sp>
      <p:sp>
        <p:nvSpPr>
          <p:cNvPr id="8" name="Rectangle: Rounded Corners 7">
            <a:extLst>
              <a:ext uri="{FF2B5EF4-FFF2-40B4-BE49-F238E27FC236}">
                <a16:creationId xmlns:a16="http://schemas.microsoft.com/office/drawing/2014/main" id="{F9734476-64BF-4540-88AF-86468E4BEF11}"/>
              </a:ext>
            </a:extLst>
          </p:cNvPr>
          <p:cNvSpPr>
            <a:spLocks noGrp="1"/>
          </p:cNvSpPr>
          <p:nvPr/>
        </p:nvSpPr>
        <p:spPr>
          <a:xfrm>
            <a:off x="3143250" y="1352550"/>
            <a:ext cx="2381250" cy="552450"/>
          </a:xfrm>
          <a:prstGeom prst="roundRect">
            <a:avLst>
              <a:gd name="adj" fmla="val 20690"/>
            </a:avLst>
          </a:prstGeom>
          <a:solidFill>
            <a:srgbClr val="EAF2FF"/>
          </a:solidFill>
          <a:ln w="9525">
            <a:solidFill>
              <a:srgbClr val="BBD3FF"/>
            </a:solidFill>
            <a:prstDash val="solid"/>
          </a:ln>
        </p:spPr>
      </p:sp>
      <p:sp>
        <p:nvSpPr>
          <p:cNvPr id="9" name="Rectangle 8">
            <a:extLst>
              <a:ext uri="{FF2B5EF4-FFF2-40B4-BE49-F238E27FC236}">
                <a16:creationId xmlns:a16="http://schemas.microsoft.com/office/drawing/2014/main" id="{435BF97E-5492-4C1D-961B-F233ED69373E}"/>
              </a:ext>
            </a:extLst>
          </p:cNvPr>
          <p:cNvSpPr>
            <a:spLocks noGrp="1"/>
          </p:cNvSpPr>
          <p:nvPr/>
        </p:nvSpPr>
        <p:spPr>
          <a:xfrm>
            <a:off x="3257550" y="1457325"/>
            <a:ext cx="2152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Đăng nhập</a:t>
            </a:r>
          </a:p>
        </p:txBody>
      </p:sp>
      <p:sp>
        <p:nvSpPr>
          <p:cNvPr id="10" name="Arrow: Right 9">
            <a:extLst>
              <a:ext uri="{FF2B5EF4-FFF2-40B4-BE49-F238E27FC236}">
                <a16:creationId xmlns:a16="http://schemas.microsoft.com/office/drawing/2014/main" id="{6DA50B94-B4A5-4FB4-8B1A-968E854A38F9}"/>
              </a:ext>
            </a:extLst>
          </p:cNvPr>
          <p:cNvSpPr>
            <a:spLocks noGrp="1"/>
          </p:cNvSpPr>
          <p:nvPr/>
        </p:nvSpPr>
        <p:spPr>
          <a:xfrm>
            <a:off x="2266950" y="3333750"/>
            <a:ext cx="552450" cy="228600"/>
          </a:xfrm>
          <a:prstGeom prst="rightArrow">
            <a:avLst/>
          </a:prstGeom>
          <a:solidFill>
            <a:srgbClr val="C9DAFF"/>
          </a:solidFill>
          <a:ln w="0">
            <a:solidFill>
              <a:srgbClr val="C9DAFF"/>
            </a:solidFill>
            <a:prstDash val="solid"/>
          </a:ln>
        </p:spPr>
      </p:sp>
      <p:sp>
        <p:nvSpPr>
          <p:cNvPr id="11" name="Rectangle: Rounded Corners 10">
            <a:extLst>
              <a:ext uri="{FF2B5EF4-FFF2-40B4-BE49-F238E27FC236}">
                <a16:creationId xmlns:a16="http://schemas.microsoft.com/office/drawing/2014/main" id="{6E631326-AFE4-49BD-9709-AA1419E542BA}"/>
              </a:ext>
            </a:extLst>
          </p:cNvPr>
          <p:cNvSpPr>
            <a:spLocks noGrp="1"/>
          </p:cNvSpPr>
          <p:nvPr/>
        </p:nvSpPr>
        <p:spPr>
          <a:xfrm>
            <a:off x="6572250" y="1352550"/>
            <a:ext cx="2381250" cy="552450"/>
          </a:xfrm>
          <a:prstGeom prst="roundRect">
            <a:avLst>
              <a:gd name="adj" fmla="val 20690"/>
            </a:avLst>
          </a:prstGeom>
          <a:solidFill>
            <a:srgbClr val="EAF2FF"/>
          </a:solidFill>
          <a:ln w="9525">
            <a:solidFill>
              <a:srgbClr val="BBD3FF"/>
            </a:solidFill>
            <a:prstDash val="solid"/>
          </a:ln>
        </p:spPr>
      </p:sp>
      <p:sp>
        <p:nvSpPr>
          <p:cNvPr id="12" name="Rectangle 11">
            <a:extLst>
              <a:ext uri="{FF2B5EF4-FFF2-40B4-BE49-F238E27FC236}">
                <a16:creationId xmlns:a16="http://schemas.microsoft.com/office/drawing/2014/main" id="{46535A6F-FEC9-4BE2-9ACA-037D38F49E34}"/>
              </a:ext>
            </a:extLst>
          </p:cNvPr>
          <p:cNvSpPr>
            <a:spLocks noGrp="1"/>
          </p:cNvSpPr>
          <p:nvPr/>
        </p:nvSpPr>
        <p:spPr>
          <a:xfrm>
            <a:off x="6686550" y="1457325"/>
            <a:ext cx="2152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Xem Dashboard</a:t>
            </a:r>
          </a:p>
        </p:txBody>
      </p:sp>
      <p:sp>
        <p:nvSpPr>
          <p:cNvPr id="13" name="Arrow: Right 12">
            <a:extLst>
              <a:ext uri="{FF2B5EF4-FFF2-40B4-BE49-F238E27FC236}">
                <a16:creationId xmlns:a16="http://schemas.microsoft.com/office/drawing/2014/main" id="{DAC1438B-78D5-4B94-A934-5FD893EB4B86}"/>
              </a:ext>
            </a:extLst>
          </p:cNvPr>
          <p:cNvSpPr>
            <a:spLocks noGrp="1"/>
          </p:cNvSpPr>
          <p:nvPr/>
        </p:nvSpPr>
        <p:spPr>
          <a:xfrm>
            <a:off x="2266950" y="3333750"/>
            <a:ext cx="552450" cy="228600"/>
          </a:xfrm>
          <a:prstGeom prst="rightArrow">
            <a:avLst/>
          </a:prstGeom>
          <a:solidFill>
            <a:srgbClr val="C9DAFF"/>
          </a:solidFill>
          <a:ln w="0">
            <a:solidFill>
              <a:srgbClr val="C9DAFF"/>
            </a:solidFill>
            <a:prstDash val="solid"/>
          </a:ln>
        </p:spPr>
      </p:sp>
      <p:sp>
        <p:nvSpPr>
          <p:cNvPr id="14" name="Rectangle: Rounded Corners 13">
            <a:extLst>
              <a:ext uri="{FF2B5EF4-FFF2-40B4-BE49-F238E27FC236}">
                <a16:creationId xmlns:a16="http://schemas.microsoft.com/office/drawing/2014/main" id="{00DB01B3-7C94-47A5-ACDC-41BAED8C7AF7}"/>
              </a:ext>
            </a:extLst>
          </p:cNvPr>
          <p:cNvSpPr>
            <a:spLocks noGrp="1"/>
          </p:cNvSpPr>
          <p:nvPr/>
        </p:nvSpPr>
        <p:spPr>
          <a:xfrm>
            <a:off x="3143250" y="2257425"/>
            <a:ext cx="2381250" cy="552450"/>
          </a:xfrm>
          <a:prstGeom prst="roundRect">
            <a:avLst>
              <a:gd name="adj" fmla="val 20690"/>
            </a:avLst>
          </a:prstGeom>
          <a:solidFill>
            <a:srgbClr val="EAF2FF"/>
          </a:solidFill>
          <a:ln w="9525">
            <a:solidFill>
              <a:srgbClr val="BBD3FF"/>
            </a:solidFill>
            <a:prstDash val="solid"/>
          </a:ln>
        </p:spPr>
      </p:sp>
      <p:sp>
        <p:nvSpPr>
          <p:cNvPr id="15" name="Rectangle 14">
            <a:extLst>
              <a:ext uri="{FF2B5EF4-FFF2-40B4-BE49-F238E27FC236}">
                <a16:creationId xmlns:a16="http://schemas.microsoft.com/office/drawing/2014/main" id="{F9CC6C77-544B-4EFD-B476-06D264EF435D}"/>
              </a:ext>
            </a:extLst>
          </p:cNvPr>
          <p:cNvSpPr>
            <a:spLocks noGrp="1"/>
          </p:cNvSpPr>
          <p:nvPr/>
        </p:nvSpPr>
        <p:spPr>
          <a:xfrm>
            <a:off x="3257550" y="2362200"/>
            <a:ext cx="2152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Xem học phần</a:t>
            </a:r>
          </a:p>
        </p:txBody>
      </p:sp>
      <p:sp>
        <p:nvSpPr>
          <p:cNvPr id="16" name="Arrow: Right 15">
            <a:extLst>
              <a:ext uri="{FF2B5EF4-FFF2-40B4-BE49-F238E27FC236}">
                <a16:creationId xmlns:a16="http://schemas.microsoft.com/office/drawing/2014/main" id="{02823ED2-3B1C-4759-BCE9-3ACA731E5AB8}"/>
              </a:ext>
            </a:extLst>
          </p:cNvPr>
          <p:cNvSpPr>
            <a:spLocks noGrp="1"/>
          </p:cNvSpPr>
          <p:nvPr/>
        </p:nvSpPr>
        <p:spPr>
          <a:xfrm>
            <a:off x="2266950" y="3333750"/>
            <a:ext cx="552450" cy="228600"/>
          </a:xfrm>
          <a:prstGeom prst="rightArrow">
            <a:avLst/>
          </a:prstGeom>
          <a:solidFill>
            <a:srgbClr val="C9DAFF"/>
          </a:solidFill>
          <a:ln w="0">
            <a:solidFill>
              <a:srgbClr val="C9DAFF"/>
            </a:solidFill>
            <a:prstDash val="solid"/>
          </a:ln>
        </p:spPr>
      </p:sp>
      <p:sp>
        <p:nvSpPr>
          <p:cNvPr id="17" name="Rectangle: Rounded Corners 16">
            <a:extLst>
              <a:ext uri="{FF2B5EF4-FFF2-40B4-BE49-F238E27FC236}">
                <a16:creationId xmlns:a16="http://schemas.microsoft.com/office/drawing/2014/main" id="{CB4A16B3-8DA3-497A-A0DD-E555E8AFC1EC}"/>
              </a:ext>
            </a:extLst>
          </p:cNvPr>
          <p:cNvSpPr>
            <a:spLocks noGrp="1"/>
          </p:cNvSpPr>
          <p:nvPr/>
        </p:nvSpPr>
        <p:spPr>
          <a:xfrm>
            <a:off x="6572250" y="2257425"/>
            <a:ext cx="2381250" cy="552450"/>
          </a:xfrm>
          <a:prstGeom prst="roundRect">
            <a:avLst>
              <a:gd name="adj" fmla="val 20690"/>
            </a:avLst>
          </a:prstGeom>
          <a:solidFill>
            <a:srgbClr val="EAF2FF"/>
          </a:solidFill>
          <a:ln w="9525">
            <a:solidFill>
              <a:srgbClr val="BBD3FF"/>
            </a:solidFill>
            <a:prstDash val="solid"/>
          </a:ln>
        </p:spPr>
      </p:sp>
      <p:sp>
        <p:nvSpPr>
          <p:cNvPr id="18" name="Rectangle 17">
            <a:extLst>
              <a:ext uri="{FF2B5EF4-FFF2-40B4-BE49-F238E27FC236}">
                <a16:creationId xmlns:a16="http://schemas.microsoft.com/office/drawing/2014/main" id="{FAAF065E-F671-4811-AAF4-44865E55E397}"/>
              </a:ext>
            </a:extLst>
          </p:cNvPr>
          <p:cNvSpPr>
            <a:spLocks noGrp="1"/>
          </p:cNvSpPr>
          <p:nvPr/>
        </p:nvSpPr>
        <p:spPr>
          <a:xfrm>
            <a:off x="6686550" y="2362200"/>
            <a:ext cx="2152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Tìm kiếm</a:t>
            </a:r>
          </a:p>
        </p:txBody>
      </p:sp>
      <p:sp>
        <p:nvSpPr>
          <p:cNvPr id="19" name="Arrow: Right 18">
            <a:extLst>
              <a:ext uri="{FF2B5EF4-FFF2-40B4-BE49-F238E27FC236}">
                <a16:creationId xmlns:a16="http://schemas.microsoft.com/office/drawing/2014/main" id="{64EF5383-3E70-4D2F-AD16-0D07383A25FA}"/>
              </a:ext>
            </a:extLst>
          </p:cNvPr>
          <p:cNvSpPr>
            <a:spLocks noGrp="1"/>
          </p:cNvSpPr>
          <p:nvPr/>
        </p:nvSpPr>
        <p:spPr>
          <a:xfrm>
            <a:off x="2266950" y="3333750"/>
            <a:ext cx="552450" cy="228600"/>
          </a:xfrm>
          <a:prstGeom prst="rightArrow">
            <a:avLst/>
          </a:prstGeom>
          <a:solidFill>
            <a:srgbClr val="C9DAFF"/>
          </a:solidFill>
          <a:ln w="0">
            <a:solidFill>
              <a:srgbClr val="C9DAFF"/>
            </a:solidFill>
            <a:prstDash val="solid"/>
          </a:ln>
        </p:spPr>
      </p:sp>
      <p:sp>
        <p:nvSpPr>
          <p:cNvPr id="20" name="Rectangle: Rounded Corners 19">
            <a:extLst>
              <a:ext uri="{FF2B5EF4-FFF2-40B4-BE49-F238E27FC236}">
                <a16:creationId xmlns:a16="http://schemas.microsoft.com/office/drawing/2014/main" id="{CB902B62-1B6F-4C47-B6F7-84FFBB6C485E}"/>
              </a:ext>
            </a:extLst>
          </p:cNvPr>
          <p:cNvSpPr>
            <a:spLocks noGrp="1"/>
          </p:cNvSpPr>
          <p:nvPr/>
        </p:nvSpPr>
        <p:spPr>
          <a:xfrm>
            <a:off x="3143250" y="3162300"/>
            <a:ext cx="2381250" cy="552450"/>
          </a:xfrm>
          <a:prstGeom prst="roundRect">
            <a:avLst>
              <a:gd name="adj" fmla="val 20690"/>
            </a:avLst>
          </a:prstGeom>
          <a:solidFill>
            <a:srgbClr val="EAF2FF"/>
          </a:solidFill>
          <a:ln w="9525">
            <a:solidFill>
              <a:srgbClr val="BBD3FF"/>
            </a:solidFill>
            <a:prstDash val="solid"/>
          </a:ln>
        </p:spPr>
      </p:sp>
      <p:sp>
        <p:nvSpPr>
          <p:cNvPr id="21" name="Rectangle 20">
            <a:extLst>
              <a:ext uri="{FF2B5EF4-FFF2-40B4-BE49-F238E27FC236}">
                <a16:creationId xmlns:a16="http://schemas.microsoft.com/office/drawing/2014/main" id="{87DB6669-320E-41BD-AD79-F2940DF49C84}"/>
              </a:ext>
            </a:extLst>
          </p:cNvPr>
          <p:cNvSpPr>
            <a:spLocks noGrp="1"/>
          </p:cNvSpPr>
          <p:nvPr/>
        </p:nvSpPr>
        <p:spPr>
          <a:xfrm>
            <a:off x="3257550" y="3267075"/>
            <a:ext cx="2152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Đăng ký</a:t>
            </a:r>
          </a:p>
        </p:txBody>
      </p:sp>
      <p:sp>
        <p:nvSpPr>
          <p:cNvPr id="22" name="Arrow: Right 21">
            <a:extLst>
              <a:ext uri="{FF2B5EF4-FFF2-40B4-BE49-F238E27FC236}">
                <a16:creationId xmlns:a16="http://schemas.microsoft.com/office/drawing/2014/main" id="{659D15CB-3002-4F94-9BD9-684C6220E808}"/>
              </a:ext>
            </a:extLst>
          </p:cNvPr>
          <p:cNvSpPr>
            <a:spLocks noGrp="1"/>
          </p:cNvSpPr>
          <p:nvPr/>
        </p:nvSpPr>
        <p:spPr>
          <a:xfrm>
            <a:off x="2266950" y="3333750"/>
            <a:ext cx="552450" cy="228600"/>
          </a:xfrm>
          <a:prstGeom prst="rightArrow">
            <a:avLst/>
          </a:prstGeom>
          <a:solidFill>
            <a:srgbClr val="C9DAFF"/>
          </a:solidFill>
          <a:ln w="0">
            <a:solidFill>
              <a:srgbClr val="C9DAFF"/>
            </a:solidFill>
            <a:prstDash val="solid"/>
          </a:ln>
        </p:spPr>
      </p:sp>
      <p:sp>
        <p:nvSpPr>
          <p:cNvPr id="23" name="Rectangle: Rounded Corners 22">
            <a:extLst>
              <a:ext uri="{FF2B5EF4-FFF2-40B4-BE49-F238E27FC236}">
                <a16:creationId xmlns:a16="http://schemas.microsoft.com/office/drawing/2014/main" id="{67B103E3-0A04-4377-B082-300DE592DCAA}"/>
              </a:ext>
            </a:extLst>
          </p:cNvPr>
          <p:cNvSpPr>
            <a:spLocks noGrp="1"/>
          </p:cNvSpPr>
          <p:nvPr/>
        </p:nvSpPr>
        <p:spPr>
          <a:xfrm>
            <a:off x="6572250" y="3162300"/>
            <a:ext cx="2381250" cy="552450"/>
          </a:xfrm>
          <a:prstGeom prst="roundRect">
            <a:avLst>
              <a:gd name="adj" fmla="val 20690"/>
            </a:avLst>
          </a:prstGeom>
          <a:solidFill>
            <a:srgbClr val="EAF2FF"/>
          </a:solidFill>
          <a:ln w="9525">
            <a:solidFill>
              <a:srgbClr val="BBD3FF"/>
            </a:solidFill>
            <a:prstDash val="solid"/>
          </a:ln>
        </p:spPr>
      </p:sp>
      <p:sp>
        <p:nvSpPr>
          <p:cNvPr id="24" name="Rectangle 23">
            <a:extLst>
              <a:ext uri="{FF2B5EF4-FFF2-40B4-BE49-F238E27FC236}">
                <a16:creationId xmlns:a16="http://schemas.microsoft.com/office/drawing/2014/main" id="{B56B4D0A-D2ED-49C3-9AE9-0516AAA5BB13}"/>
              </a:ext>
            </a:extLst>
          </p:cNvPr>
          <p:cNvSpPr>
            <a:spLocks noGrp="1"/>
          </p:cNvSpPr>
          <p:nvPr/>
        </p:nvSpPr>
        <p:spPr>
          <a:xfrm>
            <a:off x="6686550" y="3267075"/>
            <a:ext cx="2152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Hủy đăng ký</a:t>
            </a:r>
          </a:p>
        </p:txBody>
      </p:sp>
      <p:sp>
        <p:nvSpPr>
          <p:cNvPr id="25" name="Arrow: Right 24">
            <a:extLst>
              <a:ext uri="{FF2B5EF4-FFF2-40B4-BE49-F238E27FC236}">
                <a16:creationId xmlns:a16="http://schemas.microsoft.com/office/drawing/2014/main" id="{1B94243F-3400-45BA-8FFF-55C68BE7F2E3}"/>
              </a:ext>
            </a:extLst>
          </p:cNvPr>
          <p:cNvSpPr>
            <a:spLocks noGrp="1"/>
          </p:cNvSpPr>
          <p:nvPr/>
        </p:nvSpPr>
        <p:spPr>
          <a:xfrm>
            <a:off x="2266950" y="3333750"/>
            <a:ext cx="552450" cy="228600"/>
          </a:xfrm>
          <a:prstGeom prst="rightArrow">
            <a:avLst/>
          </a:prstGeom>
          <a:solidFill>
            <a:srgbClr val="C9DAFF"/>
          </a:solidFill>
          <a:ln w="0">
            <a:solidFill>
              <a:srgbClr val="C9DAFF"/>
            </a:solidFill>
            <a:prstDash val="solid"/>
          </a:ln>
        </p:spPr>
      </p:sp>
      <p:sp>
        <p:nvSpPr>
          <p:cNvPr id="26" name="Rectangle: Rounded Corners 25">
            <a:extLst>
              <a:ext uri="{FF2B5EF4-FFF2-40B4-BE49-F238E27FC236}">
                <a16:creationId xmlns:a16="http://schemas.microsoft.com/office/drawing/2014/main" id="{61922ADF-40ED-4A49-8EC1-74F7E0DC40A3}"/>
              </a:ext>
            </a:extLst>
          </p:cNvPr>
          <p:cNvSpPr>
            <a:spLocks noGrp="1"/>
          </p:cNvSpPr>
          <p:nvPr/>
        </p:nvSpPr>
        <p:spPr>
          <a:xfrm>
            <a:off x="3143250" y="4067175"/>
            <a:ext cx="2381250" cy="552450"/>
          </a:xfrm>
          <a:prstGeom prst="roundRect">
            <a:avLst>
              <a:gd name="adj" fmla="val 20690"/>
            </a:avLst>
          </a:prstGeom>
          <a:solidFill>
            <a:srgbClr val="EAF2FF"/>
          </a:solidFill>
          <a:ln w="9525">
            <a:solidFill>
              <a:srgbClr val="BBD3FF"/>
            </a:solidFill>
            <a:prstDash val="solid"/>
          </a:ln>
        </p:spPr>
      </p:sp>
      <p:sp>
        <p:nvSpPr>
          <p:cNvPr id="27" name="Rectangle 26">
            <a:extLst>
              <a:ext uri="{FF2B5EF4-FFF2-40B4-BE49-F238E27FC236}">
                <a16:creationId xmlns:a16="http://schemas.microsoft.com/office/drawing/2014/main" id="{8E9C3200-4835-48EE-934C-696196FB5E72}"/>
              </a:ext>
            </a:extLst>
          </p:cNvPr>
          <p:cNvSpPr>
            <a:spLocks noGrp="1"/>
          </p:cNvSpPr>
          <p:nvPr/>
        </p:nvSpPr>
        <p:spPr>
          <a:xfrm>
            <a:off x="3257550" y="4171950"/>
            <a:ext cx="2152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Môn đã đăng ký</a:t>
            </a:r>
          </a:p>
        </p:txBody>
      </p:sp>
      <p:sp>
        <p:nvSpPr>
          <p:cNvPr id="28" name="Arrow: Right 27">
            <a:extLst>
              <a:ext uri="{FF2B5EF4-FFF2-40B4-BE49-F238E27FC236}">
                <a16:creationId xmlns:a16="http://schemas.microsoft.com/office/drawing/2014/main" id="{2C6D4AE0-E39F-4CF4-9A5E-986ECD43DC42}"/>
              </a:ext>
            </a:extLst>
          </p:cNvPr>
          <p:cNvSpPr>
            <a:spLocks noGrp="1"/>
          </p:cNvSpPr>
          <p:nvPr/>
        </p:nvSpPr>
        <p:spPr>
          <a:xfrm>
            <a:off x="2266950" y="3333750"/>
            <a:ext cx="552450" cy="228600"/>
          </a:xfrm>
          <a:prstGeom prst="rightArrow">
            <a:avLst/>
          </a:prstGeom>
          <a:solidFill>
            <a:srgbClr val="C9DAFF"/>
          </a:solidFill>
          <a:ln w="0">
            <a:solidFill>
              <a:srgbClr val="C9DAFF"/>
            </a:solidFill>
            <a:prstDash val="solid"/>
          </a:ln>
        </p:spPr>
      </p:sp>
      <p:sp>
        <p:nvSpPr>
          <p:cNvPr id="29" name="Rectangle: Rounded Corners 28">
            <a:extLst>
              <a:ext uri="{FF2B5EF4-FFF2-40B4-BE49-F238E27FC236}">
                <a16:creationId xmlns:a16="http://schemas.microsoft.com/office/drawing/2014/main" id="{FBB44A6E-D24F-4553-89E2-340C611B7177}"/>
              </a:ext>
            </a:extLst>
          </p:cNvPr>
          <p:cNvSpPr>
            <a:spLocks noGrp="1"/>
          </p:cNvSpPr>
          <p:nvPr/>
        </p:nvSpPr>
        <p:spPr>
          <a:xfrm>
            <a:off x="6572250" y="4067175"/>
            <a:ext cx="2381250" cy="552450"/>
          </a:xfrm>
          <a:prstGeom prst="roundRect">
            <a:avLst>
              <a:gd name="adj" fmla="val 20690"/>
            </a:avLst>
          </a:prstGeom>
          <a:solidFill>
            <a:srgbClr val="EAF2FF"/>
          </a:solidFill>
          <a:ln w="9525">
            <a:solidFill>
              <a:srgbClr val="BBD3FF"/>
            </a:solidFill>
            <a:prstDash val="solid"/>
          </a:ln>
        </p:spPr>
      </p:sp>
      <p:sp>
        <p:nvSpPr>
          <p:cNvPr id="30" name="Rectangle 29">
            <a:extLst>
              <a:ext uri="{FF2B5EF4-FFF2-40B4-BE49-F238E27FC236}">
                <a16:creationId xmlns:a16="http://schemas.microsoft.com/office/drawing/2014/main" id="{2A7807AA-B461-4FAC-98EF-31E31C3DA0F1}"/>
              </a:ext>
            </a:extLst>
          </p:cNvPr>
          <p:cNvSpPr>
            <a:spLocks noGrp="1"/>
          </p:cNvSpPr>
          <p:nvPr/>
        </p:nvSpPr>
        <p:spPr>
          <a:xfrm>
            <a:off x="6686550" y="4171950"/>
            <a:ext cx="2152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Thời khóa biểu</a:t>
            </a:r>
          </a:p>
        </p:txBody>
      </p:sp>
      <p:sp>
        <p:nvSpPr>
          <p:cNvPr id="31" name="Arrow: Right 30">
            <a:extLst>
              <a:ext uri="{FF2B5EF4-FFF2-40B4-BE49-F238E27FC236}">
                <a16:creationId xmlns:a16="http://schemas.microsoft.com/office/drawing/2014/main" id="{589A1F8B-36EA-4B35-A886-C878BC02A15F}"/>
              </a:ext>
            </a:extLst>
          </p:cNvPr>
          <p:cNvSpPr>
            <a:spLocks noGrp="1"/>
          </p:cNvSpPr>
          <p:nvPr/>
        </p:nvSpPr>
        <p:spPr>
          <a:xfrm>
            <a:off x="2266950" y="3333750"/>
            <a:ext cx="552450" cy="228600"/>
          </a:xfrm>
          <a:prstGeom prst="rightArrow">
            <a:avLst/>
          </a:prstGeom>
          <a:solidFill>
            <a:srgbClr val="C9DAFF"/>
          </a:solidFill>
          <a:ln w="0">
            <a:solidFill>
              <a:srgbClr val="C9DAFF"/>
            </a:solidFill>
            <a:prstDash val="solid"/>
          </a:ln>
        </p:spPr>
      </p:sp>
      <p:sp>
        <p:nvSpPr>
          <p:cNvPr id="32" name="Rectangle: Rounded Corners 31">
            <a:extLst>
              <a:ext uri="{FF2B5EF4-FFF2-40B4-BE49-F238E27FC236}">
                <a16:creationId xmlns:a16="http://schemas.microsoft.com/office/drawing/2014/main" id="{137F071E-56E3-40DA-AB09-6ACA32E06266}"/>
              </a:ext>
            </a:extLst>
          </p:cNvPr>
          <p:cNvSpPr>
            <a:spLocks noGrp="1"/>
          </p:cNvSpPr>
          <p:nvPr/>
        </p:nvSpPr>
        <p:spPr>
          <a:xfrm>
            <a:off x="3143250" y="4972050"/>
            <a:ext cx="2381250" cy="552450"/>
          </a:xfrm>
          <a:prstGeom prst="roundRect">
            <a:avLst>
              <a:gd name="adj" fmla="val 20690"/>
            </a:avLst>
          </a:prstGeom>
          <a:solidFill>
            <a:srgbClr val="EAF2FF"/>
          </a:solidFill>
          <a:ln w="9525">
            <a:solidFill>
              <a:srgbClr val="BBD3FF"/>
            </a:solidFill>
            <a:prstDash val="solid"/>
          </a:ln>
        </p:spPr>
      </p:sp>
      <p:sp>
        <p:nvSpPr>
          <p:cNvPr id="33" name="Rectangle 32">
            <a:extLst>
              <a:ext uri="{FF2B5EF4-FFF2-40B4-BE49-F238E27FC236}">
                <a16:creationId xmlns:a16="http://schemas.microsoft.com/office/drawing/2014/main" id="{0ACA8D80-FEEE-428F-B19D-827BA85C10E2}"/>
              </a:ext>
            </a:extLst>
          </p:cNvPr>
          <p:cNvSpPr>
            <a:spLocks noGrp="1"/>
          </p:cNvSpPr>
          <p:nvPr/>
        </p:nvSpPr>
        <p:spPr>
          <a:xfrm>
            <a:off x="3257550" y="5076825"/>
            <a:ext cx="2152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Thông báo</a:t>
            </a:r>
          </a:p>
        </p:txBody>
      </p:sp>
      <p:sp>
        <p:nvSpPr>
          <p:cNvPr id="34" name="Arrow: Right 33">
            <a:extLst>
              <a:ext uri="{FF2B5EF4-FFF2-40B4-BE49-F238E27FC236}">
                <a16:creationId xmlns:a16="http://schemas.microsoft.com/office/drawing/2014/main" id="{3D973030-450A-44A8-B192-6EAD48B47976}"/>
              </a:ext>
            </a:extLst>
          </p:cNvPr>
          <p:cNvSpPr>
            <a:spLocks noGrp="1"/>
          </p:cNvSpPr>
          <p:nvPr/>
        </p:nvSpPr>
        <p:spPr>
          <a:xfrm>
            <a:off x="2266950" y="3333750"/>
            <a:ext cx="552450" cy="228600"/>
          </a:xfrm>
          <a:prstGeom prst="rightArrow">
            <a:avLst/>
          </a:prstGeom>
          <a:solidFill>
            <a:srgbClr val="C9DAFF"/>
          </a:solidFill>
          <a:ln w="0">
            <a:solidFill>
              <a:srgbClr val="C9DAFF"/>
            </a:solidFill>
            <a:prstDash val="solid"/>
          </a:ln>
        </p:spPr>
      </p:sp>
      <p:sp>
        <p:nvSpPr>
          <p:cNvPr id="35" name="Rectangle: Rounded Corners 34">
            <a:extLst>
              <a:ext uri="{FF2B5EF4-FFF2-40B4-BE49-F238E27FC236}">
                <a16:creationId xmlns:a16="http://schemas.microsoft.com/office/drawing/2014/main" id="{F4E02E77-4CD5-480C-8FBF-1AE5A0BC7925}"/>
              </a:ext>
            </a:extLst>
          </p:cNvPr>
          <p:cNvSpPr>
            <a:spLocks noGrp="1"/>
          </p:cNvSpPr>
          <p:nvPr/>
        </p:nvSpPr>
        <p:spPr>
          <a:xfrm>
            <a:off x="6572250" y="4972050"/>
            <a:ext cx="2381250" cy="552450"/>
          </a:xfrm>
          <a:prstGeom prst="roundRect">
            <a:avLst>
              <a:gd name="adj" fmla="val 20690"/>
            </a:avLst>
          </a:prstGeom>
          <a:solidFill>
            <a:srgbClr val="EAF2FF"/>
          </a:solidFill>
          <a:ln w="9525">
            <a:solidFill>
              <a:srgbClr val="BBD3FF"/>
            </a:solidFill>
            <a:prstDash val="solid"/>
          </a:ln>
        </p:spPr>
      </p:sp>
      <p:sp>
        <p:nvSpPr>
          <p:cNvPr id="36" name="Rectangle 35">
            <a:extLst>
              <a:ext uri="{FF2B5EF4-FFF2-40B4-BE49-F238E27FC236}">
                <a16:creationId xmlns:a16="http://schemas.microsoft.com/office/drawing/2014/main" id="{A0165BE5-D184-4B2E-A980-E25966E100AD}"/>
              </a:ext>
            </a:extLst>
          </p:cNvPr>
          <p:cNvSpPr>
            <a:spLocks noGrp="1"/>
          </p:cNvSpPr>
          <p:nvPr/>
        </p:nvSpPr>
        <p:spPr>
          <a:xfrm>
            <a:off x="6686550" y="5076825"/>
            <a:ext cx="2152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Hồ sơ</a:t>
            </a:r>
          </a:p>
        </p:txBody>
      </p:sp>
      <p:sp>
        <p:nvSpPr>
          <p:cNvPr id="37" name="Arrow: Right 36">
            <a:extLst>
              <a:ext uri="{FF2B5EF4-FFF2-40B4-BE49-F238E27FC236}">
                <a16:creationId xmlns:a16="http://schemas.microsoft.com/office/drawing/2014/main" id="{75C0E73D-09A0-4A85-B6F1-529B8BB80701}"/>
              </a:ext>
            </a:extLst>
          </p:cNvPr>
          <p:cNvSpPr>
            <a:spLocks noGrp="1"/>
          </p:cNvSpPr>
          <p:nvPr/>
        </p:nvSpPr>
        <p:spPr>
          <a:xfrm>
            <a:off x="2266950" y="3333750"/>
            <a:ext cx="552450" cy="228600"/>
          </a:xfrm>
          <a:prstGeom prst="rightArrow">
            <a:avLst/>
          </a:prstGeom>
          <a:solidFill>
            <a:srgbClr val="C9DAFF"/>
          </a:solidFill>
          <a:ln w="0">
            <a:solidFill>
              <a:srgbClr val="C9DAFF"/>
            </a:solidFill>
            <a:prstDash val="solid"/>
          </a:ln>
        </p:spPr>
      </p:sp>
    </p:spTree>
    <p:extLst>
      <p:ext uri="{BB962C8B-B14F-4D97-AF65-F5344CB8AC3E}">
        <p14:creationId xmlns:p14="http://schemas.microsoft.com/office/powerpoint/2010/main" val="592132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FECFDA8-D9AD-499C-840D-1470EE893BA6}"/>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ED6AA6C6-AA58-4F18-A5C6-CB64D20F492D}"/>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Đăng nhập và hồ sơ dùng dữ liệu sinh viên thật</a:t>
            </a:r>
          </a:p>
        </p:txBody>
      </p:sp>
      <p:sp>
        <p:nvSpPr>
          <p:cNvPr id="3" name="Straight Connector 2">
            <a:extLst>
              <a:ext uri="{FF2B5EF4-FFF2-40B4-BE49-F238E27FC236}">
                <a16:creationId xmlns:a16="http://schemas.microsoft.com/office/drawing/2014/main" id="{AC716671-507C-4195-822A-22DB3A7EF212}"/>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C9F8F72C-51D7-4DBD-A4F6-250AA0A4FABF}"/>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3DD9D0DE-638B-4173-A345-152882F88C3F}"/>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10</a:t>
            </a:r>
          </a:p>
        </p:txBody>
      </p:sp>
      <p:sp>
        <p:nvSpPr>
          <p:cNvPr id="6" name="Rectangle: Rounded Corners 5">
            <a:extLst>
              <a:ext uri="{FF2B5EF4-FFF2-40B4-BE49-F238E27FC236}">
                <a16:creationId xmlns:a16="http://schemas.microsoft.com/office/drawing/2014/main" id="{E1079A7E-0CB8-4ED4-BC4C-7D6BD834DF00}"/>
              </a:ext>
            </a:extLst>
          </p:cNvPr>
          <p:cNvSpPr>
            <a:spLocks noGrp="1"/>
          </p:cNvSpPr>
          <p:nvPr/>
        </p:nvSpPr>
        <p:spPr>
          <a:xfrm>
            <a:off x="628650" y="1476375"/>
            <a:ext cx="4953000" cy="3333750"/>
          </a:xfrm>
          <a:prstGeom prst="roundRect">
            <a:avLst>
              <a:gd name="adj" fmla="val 4571"/>
            </a:avLst>
          </a:prstGeom>
          <a:solidFill>
            <a:srgbClr val="FFFFFF"/>
          </a:solidFill>
          <a:ln w="9525">
            <a:solidFill>
              <a:srgbClr val="E2E8F0"/>
            </a:solidFill>
            <a:prstDash val="solid"/>
          </a:ln>
        </p:spPr>
      </p:sp>
      <p:pic>
        <p:nvPicPr>
          <p:cNvPr id="20" name="Picture 19"/>
          <p:cNvPicPr>
            <a:picLocks noChangeAspect="1"/>
          </p:cNvPicPr>
          <p:nvPr/>
        </p:nvPicPr>
        <p:blipFill>
          <a:blip r:embed="rId3"/>
          <a:stretch/>
        </p:blipFill>
        <p:spPr>
          <a:xfrm>
            <a:off x="723900" y="1654969"/>
            <a:ext cx="4762500" cy="2976563"/>
          </a:xfrm>
          <a:prstGeom prst="roundRect">
            <a:avLst>
              <a:gd name="adj" fmla="val 3636"/>
            </a:avLst>
          </a:prstGeom>
        </p:spPr>
      </p:pic>
      <p:sp>
        <p:nvSpPr>
          <p:cNvPr id="8" name="Rectangle: Rounded Corners 7">
            <a:extLst>
              <a:ext uri="{FF2B5EF4-FFF2-40B4-BE49-F238E27FC236}">
                <a16:creationId xmlns:a16="http://schemas.microsoft.com/office/drawing/2014/main" id="{AD55ABD3-8398-41E5-A4E9-37459C9DFDBB}"/>
              </a:ext>
            </a:extLst>
          </p:cNvPr>
          <p:cNvSpPr>
            <a:spLocks noGrp="1"/>
          </p:cNvSpPr>
          <p:nvPr/>
        </p:nvSpPr>
        <p:spPr>
          <a:xfrm>
            <a:off x="6629400" y="1476375"/>
            <a:ext cx="4191000" cy="3333750"/>
          </a:xfrm>
          <a:prstGeom prst="roundRect">
            <a:avLst>
              <a:gd name="adj" fmla="val 4571"/>
            </a:avLst>
          </a:prstGeom>
          <a:solidFill>
            <a:srgbClr val="FFFFFF"/>
          </a:solidFill>
          <a:ln w="9525">
            <a:solidFill>
              <a:srgbClr val="E2E8F0"/>
            </a:solidFill>
            <a:prstDash val="solid"/>
          </a:ln>
        </p:spPr>
      </p:sp>
      <p:pic>
        <p:nvPicPr>
          <p:cNvPr id="22" name="Picture 21"/>
          <p:cNvPicPr>
            <a:picLocks noChangeAspect="1"/>
          </p:cNvPicPr>
          <p:nvPr/>
        </p:nvPicPr>
        <p:blipFill>
          <a:blip r:embed="rId4"/>
          <a:stretch/>
        </p:blipFill>
        <p:spPr>
          <a:xfrm>
            <a:off x="6724650" y="1893094"/>
            <a:ext cx="4000500" cy="2500313"/>
          </a:xfrm>
          <a:prstGeom prst="roundRect">
            <a:avLst>
              <a:gd name="adj" fmla="val 3636"/>
            </a:avLst>
          </a:prstGeom>
        </p:spPr>
      </p:pic>
    </p:spTree>
    <p:extLst>
      <p:ext uri="{BB962C8B-B14F-4D97-AF65-F5344CB8AC3E}">
        <p14:creationId xmlns:p14="http://schemas.microsoft.com/office/powerpoint/2010/main" val="2041362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4D6C422-7E95-42DD-8F80-F04891B1AE36}"/>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12951D2E-77F7-44F6-BAE0-3FD0BB0E142B}"/>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Danh sách học phần hỗ trợ tìm kiếm và phân trang</a:t>
            </a:r>
          </a:p>
        </p:txBody>
      </p:sp>
      <p:sp>
        <p:nvSpPr>
          <p:cNvPr id="3" name="Straight Connector 2">
            <a:extLst>
              <a:ext uri="{FF2B5EF4-FFF2-40B4-BE49-F238E27FC236}">
                <a16:creationId xmlns:a16="http://schemas.microsoft.com/office/drawing/2014/main" id="{35AC20E9-965C-4885-B3C3-C75C882025E1}"/>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B261CE1E-AB1F-414A-A681-6E56125F086A}"/>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92F77AD5-9B96-49B2-B633-E7F1407FC866}"/>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11</a:t>
            </a:r>
          </a:p>
        </p:txBody>
      </p:sp>
      <p:sp>
        <p:nvSpPr>
          <p:cNvPr id="6" name="Rectangle: Rounded Corners 5">
            <a:extLst>
              <a:ext uri="{FF2B5EF4-FFF2-40B4-BE49-F238E27FC236}">
                <a16:creationId xmlns:a16="http://schemas.microsoft.com/office/drawing/2014/main" id="{091DDC37-DECB-490D-9AC6-896DD89F6C11}"/>
              </a:ext>
            </a:extLst>
          </p:cNvPr>
          <p:cNvSpPr>
            <a:spLocks noGrp="1"/>
          </p:cNvSpPr>
          <p:nvPr/>
        </p:nvSpPr>
        <p:spPr>
          <a:xfrm>
            <a:off x="571500" y="1524000"/>
            <a:ext cx="5143500" cy="3429000"/>
          </a:xfrm>
          <a:prstGeom prst="roundRect">
            <a:avLst>
              <a:gd name="adj" fmla="val 4444"/>
            </a:avLst>
          </a:prstGeom>
          <a:solidFill>
            <a:srgbClr val="FFFFFF"/>
          </a:solidFill>
          <a:ln w="9525">
            <a:solidFill>
              <a:srgbClr val="E2E8F0"/>
            </a:solidFill>
            <a:prstDash val="solid"/>
          </a:ln>
        </p:spPr>
      </p:sp>
      <p:pic>
        <p:nvPicPr>
          <p:cNvPr id="25" name="Picture 24"/>
          <p:cNvPicPr>
            <a:picLocks noChangeAspect="1"/>
          </p:cNvPicPr>
          <p:nvPr/>
        </p:nvPicPr>
        <p:blipFill>
          <a:blip r:embed="rId3"/>
          <a:stretch/>
        </p:blipFill>
        <p:spPr>
          <a:xfrm>
            <a:off x="666750" y="1690688"/>
            <a:ext cx="4953000" cy="3095625"/>
          </a:xfrm>
          <a:prstGeom prst="roundRect">
            <a:avLst>
              <a:gd name="adj" fmla="val 3529"/>
            </a:avLst>
          </a:prstGeom>
        </p:spPr>
      </p:pic>
      <p:sp>
        <p:nvSpPr>
          <p:cNvPr id="8" name="Rectangle: Rounded Corners 7">
            <a:extLst>
              <a:ext uri="{FF2B5EF4-FFF2-40B4-BE49-F238E27FC236}">
                <a16:creationId xmlns:a16="http://schemas.microsoft.com/office/drawing/2014/main" id="{3D95B7CE-A6F8-4B4B-8DCE-03B5E3825517}"/>
              </a:ext>
            </a:extLst>
          </p:cNvPr>
          <p:cNvSpPr>
            <a:spLocks noGrp="1"/>
          </p:cNvSpPr>
          <p:nvPr/>
        </p:nvSpPr>
        <p:spPr>
          <a:xfrm>
            <a:off x="6238875" y="1524000"/>
            <a:ext cx="5143500" cy="3429000"/>
          </a:xfrm>
          <a:prstGeom prst="roundRect">
            <a:avLst>
              <a:gd name="adj" fmla="val 4444"/>
            </a:avLst>
          </a:prstGeom>
          <a:solidFill>
            <a:srgbClr val="FFFFFF"/>
          </a:solidFill>
          <a:ln w="9525">
            <a:solidFill>
              <a:srgbClr val="E2E8F0"/>
            </a:solidFill>
            <a:prstDash val="solid"/>
          </a:ln>
        </p:spPr>
      </p:sp>
      <p:pic>
        <p:nvPicPr>
          <p:cNvPr id="27" name="Picture 26"/>
          <p:cNvPicPr>
            <a:picLocks noChangeAspect="1"/>
          </p:cNvPicPr>
          <p:nvPr/>
        </p:nvPicPr>
        <p:blipFill>
          <a:blip r:embed="rId4"/>
          <a:stretch/>
        </p:blipFill>
        <p:spPr>
          <a:xfrm>
            <a:off x="6334125" y="1690688"/>
            <a:ext cx="4953000" cy="3095625"/>
          </a:xfrm>
          <a:prstGeom prst="roundRect">
            <a:avLst>
              <a:gd name="adj" fmla="val 3529"/>
            </a:avLst>
          </a:prstGeom>
        </p:spPr>
      </p:pic>
      <p:sp>
        <p:nvSpPr>
          <p:cNvPr id="10" name="Rectangle 9">
            <a:extLst>
              <a:ext uri="{FF2B5EF4-FFF2-40B4-BE49-F238E27FC236}">
                <a16:creationId xmlns:a16="http://schemas.microsoft.com/office/drawing/2014/main" id="{E1B4CF09-9ACA-4A11-8FB6-8F4A6F5AC278}"/>
              </a:ext>
            </a:extLst>
          </p:cNvPr>
          <p:cNvSpPr>
            <a:spLocks noGrp="1"/>
          </p:cNvSpPr>
          <p:nvPr/>
        </p:nvSpPr>
        <p:spPr>
          <a:xfrm>
            <a:off x="1809750" y="5191125"/>
            <a:ext cx="228600" cy="285750"/>
          </a:xfrm>
          <a:prstGeom prst="rect">
            <a:avLst/>
          </a:prstGeom>
          <a:noFill/>
          <a:ln w="0">
            <a:noFill/>
            <a:prstDash val="solid"/>
          </a:ln>
        </p:spPr>
        <p:txBody>
          <a:bodyPr/>
          <a:lstStyle/>
          <a:p>
            <a:pPr algn="l">
              <a:buNone/>
              <a:defRPr sz="1650" b="1">
                <a:solidFill>
                  <a:srgbClr val="0B5FFF"/>
                </a:solidFill>
              </a:defRPr>
            </a:pPr>
            <a:r>
              <a:rPr sz="1650" b="1">
                <a:solidFill>
                  <a:srgbClr val="0B5FFF"/>
                </a:solidFill>
              </a:rPr>
              <a:t>•</a:t>
            </a:r>
          </a:p>
        </p:txBody>
      </p:sp>
      <p:sp>
        <p:nvSpPr>
          <p:cNvPr id="11" name="Rectangle 10">
            <a:extLst>
              <a:ext uri="{FF2B5EF4-FFF2-40B4-BE49-F238E27FC236}">
                <a16:creationId xmlns:a16="http://schemas.microsoft.com/office/drawing/2014/main" id="{4D69D6BE-F1FE-4300-BF33-1370A53191D7}"/>
              </a:ext>
            </a:extLst>
          </p:cNvPr>
          <p:cNvSpPr>
            <a:spLocks noGrp="1"/>
          </p:cNvSpPr>
          <p:nvPr/>
        </p:nvSpPr>
        <p:spPr>
          <a:xfrm>
            <a:off x="2114550" y="5181600"/>
            <a:ext cx="8267700" cy="323850"/>
          </a:xfrm>
          <a:prstGeom prst="rect">
            <a:avLst/>
          </a:prstGeom>
          <a:noFill/>
          <a:ln w="0">
            <a:noFill/>
            <a:prstDash val="solid"/>
          </a:ln>
        </p:spPr>
        <p:txBody>
          <a:bodyPr/>
          <a:lstStyle/>
          <a:p>
            <a:pPr algn="l">
              <a:buNone/>
              <a:defRPr sz="1650" b="0">
                <a:solidFill>
                  <a:srgbClr val="020618"/>
                </a:solidFill>
              </a:defRPr>
            </a:pPr>
            <a:r>
              <a:rPr sz="1650" b="0">
                <a:solidFill>
                  <a:srgbClr val="020618"/>
                </a:solidFill>
              </a:rPr>
              <a:t>40 học phần mở đăng ký.</a:t>
            </a:r>
          </a:p>
        </p:txBody>
      </p:sp>
      <p:sp>
        <p:nvSpPr>
          <p:cNvPr id="12" name="Rectangle 11">
            <a:extLst>
              <a:ext uri="{FF2B5EF4-FFF2-40B4-BE49-F238E27FC236}">
                <a16:creationId xmlns:a16="http://schemas.microsoft.com/office/drawing/2014/main" id="{1957FA69-F8C6-438F-9CBC-920EED13C0DB}"/>
              </a:ext>
            </a:extLst>
          </p:cNvPr>
          <p:cNvSpPr>
            <a:spLocks noGrp="1"/>
          </p:cNvSpPr>
          <p:nvPr/>
        </p:nvSpPr>
        <p:spPr>
          <a:xfrm>
            <a:off x="1809750" y="5514975"/>
            <a:ext cx="228600" cy="285750"/>
          </a:xfrm>
          <a:prstGeom prst="rect">
            <a:avLst/>
          </a:prstGeom>
          <a:noFill/>
          <a:ln w="0">
            <a:noFill/>
            <a:prstDash val="solid"/>
          </a:ln>
        </p:spPr>
        <p:txBody>
          <a:bodyPr/>
          <a:lstStyle/>
          <a:p>
            <a:pPr algn="l">
              <a:buNone/>
              <a:defRPr sz="1650" b="1">
                <a:solidFill>
                  <a:srgbClr val="0B5FFF"/>
                </a:solidFill>
              </a:defRPr>
            </a:pPr>
            <a:r>
              <a:rPr sz="1650" b="1">
                <a:solidFill>
                  <a:srgbClr val="0B5FFF"/>
                </a:solidFill>
              </a:rPr>
              <a:t>•</a:t>
            </a:r>
          </a:p>
        </p:txBody>
      </p:sp>
      <p:sp>
        <p:nvSpPr>
          <p:cNvPr id="13" name="Rectangle 12">
            <a:extLst>
              <a:ext uri="{FF2B5EF4-FFF2-40B4-BE49-F238E27FC236}">
                <a16:creationId xmlns:a16="http://schemas.microsoft.com/office/drawing/2014/main" id="{B317C0E7-A454-4674-BC5F-A194ECAA3FDD}"/>
              </a:ext>
            </a:extLst>
          </p:cNvPr>
          <p:cNvSpPr>
            <a:spLocks noGrp="1"/>
          </p:cNvSpPr>
          <p:nvPr/>
        </p:nvSpPr>
        <p:spPr>
          <a:xfrm>
            <a:off x="2114550" y="5505450"/>
            <a:ext cx="8267700" cy="323850"/>
          </a:xfrm>
          <a:prstGeom prst="rect">
            <a:avLst/>
          </a:prstGeom>
          <a:noFill/>
          <a:ln w="0">
            <a:noFill/>
            <a:prstDash val="solid"/>
          </a:ln>
        </p:spPr>
        <p:txBody>
          <a:bodyPr/>
          <a:lstStyle/>
          <a:p>
            <a:pPr algn="l">
              <a:buNone/>
              <a:defRPr sz="1650" b="0">
                <a:solidFill>
                  <a:srgbClr val="020618"/>
                </a:solidFill>
              </a:defRPr>
            </a:pPr>
            <a:r>
              <a:rPr sz="1650" b="0">
                <a:solidFill>
                  <a:srgbClr val="020618"/>
                </a:solidFill>
              </a:rPr>
              <a:t>10 học phần/trang.</a:t>
            </a:r>
          </a:p>
        </p:txBody>
      </p:sp>
      <p:sp>
        <p:nvSpPr>
          <p:cNvPr id="14" name="Rectangle 13">
            <a:extLst>
              <a:ext uri="{FF2B5EF4-FFF2-40B4-BE49-F238E27FC236}">
                <a16:creationId xmlns:a16="http://schemas.microsoft.com/office/drawing/2014/main" id="{F8420C3F-9D1D-4D01-B960-737BE86321C3}"/>
              </a:ext>
            </a:extLst>
          </p:cNvPr>
          <p:cNvSpPr>
            <a:spLocks noGrp="1"/>
          </p:cNvSpPr>
          <p:nvPr/>
        </p:nvSpPr>
        <p:spPr>
          <a:xfrm>
            <a:off x="1809750" y="5838825"/>
            <a:ext cx="228600" cy="285750"/>
          </a:xfrm>
          <a:prstGeom prst="rect">
            <a:avLst/>
          </a:prstGeom>
          <a:noFill/>
          <a:ln w="0">
            <a:noFill/>
            <a:prstDash val="solid"/>
          </a:ln>
        </p:spPr>
        <p:txBody>
          <a:bodyPr/>
          <a:lstStyle/>
          <a:p>
            <a:pPr algn="l">
              <a:buNone/>
              <a:defRPr sz="1650" b="1">
                <a:solidFill>
                  <a:srgbClr val="0B5FFF"/>
                </a:solidFill>
              </a:defRPr>
            </a:pPr>
            <a:r>
              <a:rPr sz="1650" b="1">
                <a:solidFill>
                  <a:srgbClr val="0B5FFF"/>
                </a:solidFill>
              </a:rPr>
              <a:t>•</a:t>
            </a:r>
          </a:p>
        </p:txBody>
      </p:sp>
      <p:sp>
        <p:nvSpPr>
          <p:cNvPr id="15" name="Rectangle 14">
            <a:extLst>
              <a:ext uri="{FF2B5EF4-FFF2-40B4-BE49-F238E27FC236}">
                <a16:creationId xmlns:a16="http://schemas.microsoft.com/office/drawing/2014/main" id="{8B443226-A302-4D31-82B5-9E4A1F9F41F9}"/>
              </a:ext>
            </a:extLst>
          </p:cNvPr>
          <p:cNvSpPr>
            <a:spLocks noGrp="1"/>
          </p:cNvSpPr>
          <p:nvPr/>
        </p:nvSpPr>
        <p:spPr>
          <a:xfrm>
            <a:off x="2114550" y="5829300"/>
            <a:ext cx="8267700" cy="323850"/>
          </a:xfrm>
          <a:prstGeom prst="rect">
            <a:avLst/>
          </a:prstGeom>
          <a:noFill/>
          <a:ln w="0">
            <a:noFill/>
            <a:prstDash val="solid"/>
          </a:ln>
        </p:spPr>
        <p:txBody>
          <a:bodyPr/>
          <a:lstStyle/>
          <a:p>
            <a:pPr algn="l">
              <a:buNone/>
              <a:defRPr sz="1650" b="0">
                <a:solidFill>
                  <a:srgbClr val="020618"/>
                </a:solidFill>
              </a:defRPr>
            </a:pPr>
            <a:r>
              <a:rPr sz="1650" b="0">
                <a:solidFill>
                  <a:srgbClr val="020618"/>
                </a:solidFill>
              </a:rPr>
              <a:t>Tìm kiếm theo mã, tên hoặc giảng viên.</a:t>
            </a:r>
          </a:p>
        </p:txBody>
      </p:sp>
    </p:spTree>
    <p:extLst>
      <p:ext uri="{BB962C8B-B14F-4D97-AF65-F5344CB8AC3E}">
        <p14:creationId xmlns:p14="http://schemas.microsoft.com/office/powerpoint/2010/main" val="886687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99D49CA-4613-499B-84B5-630DCE715894}"/>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443F49DF-AC81-4991-8569-9CE8EC44DCE2}"/>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Luồng đăng ký học phần đi qua chuỗi kiểm tra</a:t>
            </a:r>
          </a:p>
        </p:txBody>
      </p:sp>
      <p:sp>
        <p:nvSpPr>
          <p:cNvPr id="3" name="Straight Connector 2">
            <a:extLst>
              <a:ext uri="{FF2B5EF4-FFF2-40B4-BE49-F238E27FC236}">
                <a16:creationId xmlns:a16="http://schemas.microsoft.com/office/drawing/2014/main" id="{D5D2D140-898F-43AA-B60A-27C48739785C}"/>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2FC17EDE-8CEB-4FD8-8D68-C37F2FEBF9CD}"/>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71CAA2D7-977C-42C4-8E96-A52C5E25BCEF}"/>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12</a:t>
            </a:r>
          </a:p>
        </p:txBody>
      </p:sp>
      <p:sp>
        <p:nvSpPr>
          <p:cNvPr id="6" name="Rectangle: Rounded Corners 5">
            <a:extLst>
              <a:ext uri="{FF2B5EF4-FFF2-40B4-BE49-F238E27FC236}">
                <a16:creationId xmlns:a16="http://schemas.microsoft.com/office/drawing/2014/main" id="{D1211A1A-0653-4613-9DC0-44F9CCE87DFB}"/>
              </a:ext>
            </a:extLst>
          </p:cNvPr>
          <p:cNvSpPr>
            <a:spLocks noGrp="1"/>
          </p:cNvSpPr>
          <p:nvPr/>
        </p:nvSpPr>
        <p:spPr>
          <a:xfrm>
            <a:off x="666750" y="1809750"/>
            <a:ext cx="2000250" cy="666750"/>
          </a:xfrm>
          <a:prstGeom prst="roundRect">
            <a:avLst>
              <a:gd name="adj" fmla="val 17143"/>
            </a:avLst>
          </a:prstGeom>
          <a:solidFill>
            <a:srgbClr val="EAF2FF"/>
          </a:solidFill>
          <a:ln w="9525">
            <a:solidFill>
              <a:srgbClr val="BBD3FF"/>
            </a:solidFill>
            <a:prstDash val="solid"/>
          </a:ln>
        </p:spPr>
      </p:sp>
      <p:sp>
        <p:nvSpPr>
          <p:cNvPr id="7" name="Rectangle 6">
            <a:extLst>
              <a:ext uri="{FF2B5EF4-FFF2-40B4-BE49-F238E27FC236}">
                <a16:creationId xmlns:a16="http://schemas.microsoft.com/office/drawing/2014/main" id="{2407D4E6-F779-4356-A7E1-4CBE7600BE69}"/>
              </a:ext>
            </a:extLst>
          </p:cNvPr>
          <p:cNvSpPr>
            <a:spLocks noGrp="1"/>
          </p:cNvSpPr>
          <p:nvPr/>
        </p:nvSpPr>
        <p:spPr>
          <a:xfrm>
            <a:off x="781050" y="1971675"/>
            <a:ext cx="1771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Chọn môn</a:t>
            </a:r>
          </a:p>
        </p:txBody>
      </p:sp>
      <p:sp>
        <p:nvSpPr>
          <p:cNvPr id="8" name="Arrow: Right 7">
            <a:extLst>
              <a:ext uri="{FF2B5EF4-FFF2-40B4-BE49-F238E27FC236}">
                <a16:creationId xmlns:a16="http://schemas.microsoft.com/office/drawing/2014/main" id="{4200A25F-8792-4D48-A4B6-BA57F1860F15}"/>
              </a:ext>
            </a:extLst>
          </p:cNvPr>
          <p:cNvSpPr>
            <a:spLocks noGrp="1"/>
          </p:cNvSpPr>
          <p:nvPr/>
        </p:nvSpPr>
        <p:spPr>
          <a:xfrm>
            <a:off x="2724150" y="2019300"/>
            <a:ext cx="514350" cy="266700"/>
          </a:xfrm>
          <a:prstGeom prst="rightArrow">
            <a:avLst/>
          </a:prstGeom>
          <a:solidFill>
            <a:srgbClr val="C9DAFF"/>
          </a:solidFill>
          <a:ln w="0">
            <a:solidFill>
              <a:srgbClr val="C9DAFF"/>
            </a:solidFill>
            <a:prstDash val="solid"/>
          </a:ln>
        </p:spPr>
      </p:sp>
      <p:sp>
        <p:nvSpPr>
          <p:cNvPr id="9" name="Rectangle: Rounded Corners 8">
            <a:extLst>
              <a:ext uri="{FF2B5EF4-FFF2-40B4-BE49-F238E27FC236}">
                <a16:creationId xmlns:a16="http://schemas.microsoft.com/office/drawing/2014/main" id="{74E57189-59F3-40DE-AE59-A2C6B8BBCB61}"/>
              </a:ext>
            </a:extLst>
          </p:cNvPr>
          <p:cNvSpPr>
            <a:spLocks noGrp="1"/>
          </p:cNvSpPr>
          <p:nvPr/>
        </p:nvSpPr>
        <p:spPr>
          <a:xfrm>
            <a:off x="3448050" y="1809750"/>
            <a:ext cx="2000250" cy="666750"/>
          </a:xfrm>
          <a:prstGeom prst="roundRect">
            <a:avLst>
              <a:gd name="adj" fmla="val 17143"/>
            </a:avLst>
          </a:prstGeom>
          <a:solidFill>
            <a:srgbClr val="EAF2FF"/>
          </a:solidFill>
          <a:ln w="9525">
            <a:solidFill>
              <a:srgbClr val="BBD3FF"/>
            </a:solidFill>
            <a:prstDash val="solid"/>
          </a:ln>
        </p:spPr>
      </p:sp>
      <p:sp>
        <p:nvSpPr>
          <p:cNvPr id="10" name="Rectangle 9">
            <a:extLst>
              <a:ext uri="{FF2B5EF4-FFF2-40B4-BE49-F238E27FC236}">
                <a16:creationId xmlns:a16="http://schemas.microsoft.com/office/drawing/2014/main" id="{3D8C80AF-FB85-4265-B58E-7198F3B7475D}"/>
              </a:ext>
            </a:extLst>
          </p:cNvPr>
          <p:cNvSpPr>
            <a:spLocks noGrp="1"/>
          </p:cNvSpPr>
          <p:nvPr/>
        </p:nvSpPr>
        <p:spPr>
          <a:xfrm>
            <a:off x="3562350" y="1971675"/>
            <a:ext cx="1771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Tồn tại?</a:t>
            </a:r>
          </a:p>
        </p:txBody>
      </p:sp>
      <p:sp>
        <p:nvSpPr>
          <p:cNvPr id="11" name="Arrow: Right 10">
            <a:extLst>
              <a:ext uri="{FF2B5EF4-FFF2-40B4-BE49-F238E27FC236}">
                <a16:creationId xmlns:a16="http://schemas.microsoft.com/office/drawing/2014/main" id="{1C919EE7-8BEF-449C-BA29-4E4826685357}"/>
              </a:ext>
            </a:extLst>
          </p:cNvPr>
          <p:cNvSpPr>
            <a:spLocks noGrp="1"/>
          </p:cNvSpPr>
          <p:nvPr/>
        </p:nvSpPr>
        <p:spPr>
          <a:xfrm>
            <a:off x="5505450" y="2019300"/>
            <a:ext cx="514350" cy="266700"/>
          </a:xfrm>
          <a:prstGeom prst="rightArrow">
            <a:avLst/>
          </a:prstGeom>
          <a:solidFill>
            <a:srgbClr val="C9DAFF"/>
          </a:solidFill>
          <a:ln w="0">
            <a:solidFill>
              <a:srgbClr val="C9DAFF"/>
            </a:solidFill>
            <a:prstDash val="solid"/>
          </a:ln>
        </p:spPr>
      </p:sp>
      <p:sp>
        <p:nvSpPr>
          <p:cNvPr id="12" name="Rectangle: Rounded Corners 11">
            <a:extLst>
              <a:ext uri="{FF2B5EF4-FFF2-40B4-BE49-F238E27FC236}">
                <a16:creationId xmlns:a16="http://schemas.microsoft.com/office/drawing/2014/main" id="{8505ACFD-9DB8-41A0-8A7C-7C909E38CE32}"/>
              </a:ext>
            </a:extLst>
          </p:cNvPr>
          <p:cNvSpPr>
            <a:spLocks noGrp="1"/>
          </p:cNvSpPr>
          <p:nvPr/>
        </p:nvSpPr>
        <p:spPr>
          <a:xfrm>
            <a:off x="6229350" y="1809750"/>
            <a:ext cx="2000250" cy="666750"/>
          </a:xfrm>
          <a:prstGeom prst="roundRect">
            <a:avLst>
              <a:gd name="adj" fmla="val 17143"/>
            </a:avLst>
          </a:prstGeom>
          <a:solidFill>
            <a:srgbClr val="EAF2FF"/>
          </a:solidFill>
          <a:ln w="9525">
            <a:solidFill>
              <a:srgbClr val="BBD3FF"/>
            </a:solidFill>
            <a:prstDash val="solid"/>
          </a:ln>
        </p:spPr>
      </p:sp>
      <p:sp>
        <p:nvSpPr>
          <p:cNvPr id="13" name="Rectangle 12">
            <a:extLst>
              <a:ext uri="{FF2B5EF4-FFF2-40B4-BE49-F238E27FC236}">
                <a16:creationId xmlns:a16="http://schemas.microsoft.com/office/drawing/2014/main" id="{3D1F6065-F2BF-4F23-A6D4-A9CD4A5E0BC9}"/>
              </a:ext>
            </a:extLst>
          </p:cNvPr>
          <p:cNvSpPr>
            <a:spLocks noGrp="1"/>
          </p:cNvSpPr>
          <p:nvPr/>
        </p:nvSpPr>
        <p:spPr>
          <a:xfrm>
            <a:off x="6343650" y="1971675"/>
            <a:ext cx="1771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Trùng?</a:t>
            </a:r>
          </a:p>
        </p:txBody>
      </p:sp>
      <p:sp>
        <p:nvSpPr>
          <p:cNvPr id="14" name="Arrow: Right 13">
            <a:extLst>
              <a:ext uri="{FF2B5EF4-FFF2-40B4-BE49-F238E27FC236}">
                <a16:creationId xmlns:a16="http://schemas.microsoft.com/office/drawing/2014/main" id="{88751190-3C72-49AA-A237-8878F4732824}"/>
              </a:ext>
            </a:extLst>
          </p:cNvPr>
          <p:cNvSpPr>
            <a:spLocks noGrp="1"/>
          </p:cNvSpPr>
          <p:nvPr/>
        </p:nvSpPr>
        <p:spPr>
          <a:xfrm>
            <a:off x="8286750" y="2019300"/>
            <a:ext cx="514350" cy="266700"/>
          </a:xfrm>
          <a:prstGeom prst="rightArrow">
            <a:avLst/>
          </a:prstGeom>
          <a:solidFill>
            <a:srgbClr val="C9DAFF"/>
          </a:solidFill>
          <a:ln w="0">
            <a:solidFill>
              <a:srgbClr val="C9DAFF"/>
            </a:solidFill>
            <a:prstDash val="solid"/>
          </a:ln>
        </p:spPr>
      </p:sp>
      <p:sp>
        <p:nvSpPr>
          <p:cNvPr id="15" name="Rectangle: Rounded Corners 14">
            <a:extLst>
              <a:ext uri="{FF2B5EF4-FFF2-40B4-BE49-F238E27FC236}">
                <a16:creationId xmlns:a16="http://schemas.microsoft.com/office/drawing/2014/main" id="{AFB94279-7929-40E0-BCB9-0FC899C2D481}"/>
              </a:ext>
            </a:extLst>
          </p:cNvPr>
          <p:cNvSpPr>
            <a:spLocks noGrp="1"/>
          </p:cNvSpPr>
          <p:nvPr/>
        </p:nvSpPr>
        <p:spPr>
          <a:xfrm>
            <a:off x="9010650" y="1809750"/>
            <a:ext cx="2000250" cy="666750"/>
          </a:xfrm>
          <a:prstGeom prst="roundRect">
            <a:avLst>
              <a:gd name="adj" fmla="val 17143"/>
            </a:avLst>
          </a:prstGeom>
          <a:solidFill>
            <a:srgbClr val="EAF2FF"/>
          </a:solidFill>
          <a:ln w="9525">
            <a:solidFill>
              <a:srgbClr val="BBD3FF"/>
            </a:solidFill>
            <a:prstDash val="solid"/>
          </a:ln>
        </p:spPr>
      </p:sp>
      <p:sp>
        <p:nvSpPr>
          <p:cNvPr id="16" name="Rectangle 15">
            <a:extLst>
              <a:ext uri="{FF2B5EF4-FFF2-40B4-BE49-F238E27FC236}">
                <a16:creationId xmlns:a16="http://schemas.microsoft.com/office/drawing/2014/main" id="{AEF072D7-55E5-42EF-931B-C0C170AA52AF}"/>
              </a:ext>
            </a:extLst>
          </p:cNvPr>
          <p:cNvSpPr>
            <a:spLocks noGrp="1"/>
          </p:cNvSpPr>
          <p:nvPr/>
        </p:nvSpPr>
        <p:spPr>
          <a:xfrm>
            <a:off x="9124950" y="1971675"/>
            <a:ext cx="1771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Còn sĩ số?</a:t>
            </a:r>
          </a:p>
        </p:txBody>
      </p:sp>
      <p:sp>
        <p:nvSpPr>
          <p:cNvPr id="17" name="Rectangle 16">
            <a:extLst>
              <a:ext uri="{FF2B5EF4-FFF2-40B4-BE49-F238E27FC236}">
                <a16:creationId xmlns:a16="http://schemas.microsoft.com/office/drawing/2014/main" id="{28E69B09-DBB0-474E-B908-7301C8927533}"/>
              </a:ext>
            </a:extLst>
          </p:cNvPr>
          <p:cNvSpPr>
            <a:spLocks noGrp="1"/>
          </p:cNvSpPr>
          <p:nvPr/>
        </p:nvSpPr>
        <p:spPr>
          <a:xfrm>
            <a:off x="9886950" y="2686050"/>
            <a:ext cx="476250" cy="361950"/>
          </a:xfrm>
          <a:prstGeom prst="rect">
            <a:avLst/>
          </a:prstGeom>
          <a:noFill/>
          <a:ln w="0">
            <a:noFill/>
            <a:prstDash val="solid"/>
          </a:ln>
        </p:spPr>
        <p:txBody>
          <a:bodyPr/>
          <a:lstStyle/>
          <a:p>
            <a:pPr algn="l">
              <a:buNone/>
              <a:defRPr sz="2700" b="1">
                <a:solidFill>
                  <a:srgbClr val="0B5FFF"/>
                </a:solidFill>
              </a:defRPr>
            </a:pPr>
            <a:r>
              <a:rPr sz="2700" b="1">
                <a:solidFill>
                  <a:srgbClr val="0B5FFF"/>
                </a:solidFill>
              </a:rPr>
              <a:t>↓</a:t>
            </a:r>
          </a:p>
        </p:txBody>
      </p:sp>
      <p:sp>
        <p:nvSpPr>
          <p:cNvPr id="18" name="Rectangle: Rounded Corners 17">
            <a:extLst>
              <a:ext uri="{FF2B5EF4-FFF2-40B4-BE49-F238E27FC236}">
                <a16:creationId xmlns:a16="http://schemas.microsoft.com/office/drawing/2014/main" id="{2D482008-9A69-40E9-9B53-F34443A1202B}"/>
              </a:ext>
            </a:extLst>
          </p:cNvPr>
          <p:cNvSpPr>
            <a:spLocks noGrp="1"/>
          </p:cNvSpPr>
          <p:nvPr/>
        </p:nvSpPr>
        <p:spPr>
          <a:xfrm>
            <a:off x="666750" y="3714750"/>
            <a:ext cx="2000250" cy="666750"/>
          </a:xfrm>
          <a:prstGeom prst="roundRect">
            <a:avLst>
              <a:gd name="adj" fmla="val 17143"/>
            </a:avLst>
          </a:prstGeom>
          <a:solidFill>
            <a:srgbClr val="EAF2FF"/>
          </a:solidFill>
          <a:ln w="9525">
            <a:solidFill>
              <a:srgbClr val="BBD3FF"/>
            </a:solidFill>
            <a:prstDash val="solid"/>
          </a:ln>
        </p:spPr>
      </p:sp>
      <p:sp>
        <p:nvSpPr>
          <p:cNvPr id="19" name="Rectangle 18">
            <a:extLst>
              <a:ext uri="{FF2B5EF4-FFF2-40B4-BE49-F238E27FC236}">
                <a16:creationId xmlns:a16="http://schemas.microsoft.com/office/drawing/2014/main" id="{58AB6C36-9174-40A6-9630-5E9B4E9E0EB6}"/>
              </a:ext>
            </a:extLst>
          </p:cNvPr>
          <p:cNvSpPr>
            <a:spLocks noGrp="1"/>
          </p:cNvSpPr>
          <p:nvPr/>
        </p:nvSpPr>
        <p:spPr>
          <a:xfrm>
            <a:off x="781050" y="3876675"/>
            <a:ext cx="1771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Vượt tín chỉ?</a:t>
            </a:r>
          </a:p>
        </p:txBody>
      </p:sp>
      <p:sp>
        <p:nvSpPr>
          <p:cNvPr id="20" name="Arrow: Right 19">
            <a:extLst>
              <a:ext uri="{FF2B5EF4-FFF2-40B4-BE49-F238E27FC236}">
                <a16:creationId xmlns:a16="http://schemas.microsoft.com/office/drawing/2014/main" id="{5728947B-8B91-41A7-A649-0F717854978A}"/>
              </a:ext>
            </a:extLst>
          </p:cNvPr>
          <p:cNvSpPr>
            <a:spLocks noGrp="1"/>
          </p:cNvSpPr>
          <p:nvPr/>
        </p:nvSpPr>
        <p:spPr>
          <a:xfrm>
            <a:off x="2724150" y="3924300"/>
            <a:ext cx="514350" cy="266700"/>
          </a:xfrm>
          <a:prstGeom prst="rightArrow">
            <a:avLst/>
          </a:prstGeom>
          <a:solidFill>
            <a:srgbClr val="C9DAFF"/>
          </a:solidFill>
          <a:ln w="0">
            <a:solidFill>
              <a:srgbClr val="C9DAFF"/>
            </a:solidFill>
            <a:prstDash val="solid"/>
          </a:ln>
        </p:spPr>
      </p:sp>
      <p:sp>
        <p:nvSpPr>
          <p:cNvPr id="21" name="Rectangle: Rounded Corners 20">
            <a:extLst>
              <a:ext uri="{FF2B5EF4-FFF2-40B4-BE49-F238E27FC236}">
                <a16:creationId xmlns:a16="http://schemas.microsoft.com/office/drawing/2014/main" id="{47997271-6415-490F-9146-C150D5D1B9AE}"/>
              </a:ext>
            </a:extLst>
          </p:cNvPr>
          <p:cNvSpPr>
            <a:spLocks noGrp="1"/>
          </p:cNvSpPr>
          <p:nvPr/>
        </p:nvSpPr>
        <p:spPr>
          <a:xfrm>
            <a:off x="3448050" y="3714750"/>
            <a:ext cx="2000250" cy="666750"/>
          </a:xfrm>
          <a:prstGeom prst="roundRect">
            <a:avLst>
              <a:gd name="adj" fmla="val 17143"/>
            </a:avLst>
          </a:prstGeom>
          <a:solidFill>
            <a:srgbClr val="EAF2FF"/>
          </a:solidFill>
          <a:ln w="9525">
            <a:solidFill>
              <a:srgbClr val="BBD3FF"/>
            </a:solidFill>
            <a:prstDash val="solid"/>
          </a:ln>
        </p:spPr>
      </p:sp>
      <p:sp>
        <p:nvSpPr>
          <p:cNvPr id="22" name="Rectangle 21">
            <a:extLst>
              <a:ext uri="{FF2B5EF4-FFF2-40B4-BE49-F238E27FC236}">
                <a16:creationId xmlns:a16="http://schemas.microsoft.com/office/drawing/2014/main" id="{AC6A65DD-6C73-4BF8-A969-F2FCD4898F73}"/>
              </a:ext>
            </a:extLst>
          </p:cNvPr>
          <p:cNvSpPr>
            <a:spLocks noGrp="1"/>
          </p:cNvSpPr>
          <p:nvPr/>
        </p:nvSpPr>
        <p:spPr>
          <a:xfrm>
            <a:off x="3562350" y="3876675"/>
            <a:ext cx="17716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Trùng lịch?</a:t>
            </a:r>
          </a:p>
        </p:txBody>
      </p:sp>
      <p:sp>
        <p:nvSpPr>
          <p:cNvPr id="23" name="Arrow: Right 22">
            <a:extLst>
              <a:ext uri="{FF2B5EF4-FFF2-40B4-BE49-F238E27FC236}">
                <a16:creationId xmlns:a16="http://schemas.microsoft.com/office/drawing/2014/main" id="{BCB2617B-674F-49ED-8362-8D49BCBDB4D3}"/>
              </a:ext>
            </a:extLst>
          </p:cNvPr>
          <p:cNvSpPr>
            <a:spLocks noGrp="1"/>
          </p:cNvSpPr>
          <p:nvPr/>
        </p:nvSpPr>
        <p:spPr>
          <a:xfrm>
            <a:off x="5505450" y="3924300"/>
            <a:ext cx="514350" cy="266700"/>
          </a:xfrm>
          <a:prstGeom prst="rightArrow">
            <a:avLst/>
          </a:prstGeom>
          <a:solidFill>
            <a:srgbClr val="C9DAFF"/>
          </a:solidFill>
          <a:ln w="0">
            <a:solidFill>
              <a:srgbClr val="C9DAFF"/>
            </a:solidFill>
            <a:prstDash val="solid"/>
          </a:ln>
        </p:spPr>
      </p:sp>
      <p:sp>
        <p:nvSpPr>
          <p:cNvPr id="24" name="Rectangle: Rounded Corners 23">
            <a:extLst>
              <a:ext uri="{FF2B5EF4-FFF2-40B4-BE49-F238E27FC236}">
                <a16:creationId xmlns:a16="http://schemas.microsoft.com/office/drawing/2014/main" id="{A5EFA361-53AE-4946-AEDC-F63E395895AE}"/>
              </a:ext>
            </a:extLst>
          </p:cNvPr>
          <p:cNvSpPr>
            <a:spLocks noGrp="1"/>
          </p:cNvSpPr>
          <p:nvPr/>
        </p:nvSpPr>
        <p:spPr>
          <a:xfrm>
            <a:off x="6229350" y="3714750"/>
            <a:ext cx="2000250" cy="666750"/>
          </a:xfrm>
          <a:prstGeom prst="roundRect">
            <a:avLst>
              <a:gd name="adj" fmla="val 17143"/>
            </a:avLst>
          </a:prstGeom>
          <a:solidFill>
            <a:srgbClr val="ECFDF5"/>
          </a:solidFill>
          <a:ln w="9525">
            <a:solidFill>
              <a:srgbClr val="BBD3FF"/>
            </a:solidFill>
            <a:prstDash val="solid"/>
          </a:ln>
        </p:spPr>
      </p:sp>
      <p:sp>
        <p:nvSpPr>
          <p:cNvPr id="25" name="Rectangle 24">
            <a:extLst>
              <a:ext uri="{FF2B5EF4-FFF2-40B4-BE49-F238E27FC236}">
                <a16:creationId xmlns:a16="http://schemas.microsoft.com/office/drawing/2014/main" id="{32A5CEBE-970D-4EDC-9970-EAE016FD6471}"/>
              </a:ext>
            </a:extLst>
          </p:cNvPr>
          <p:cNvSpPr>
            <a:spLocks noGrp="1"/>
          </p:cNvSpPr>
          <p:nvPr/>
        </p:nvSpPr>
        <p:spPr>
          <a:xfrm>
            <a:off x="6343650" y="3876675"/>
            <a:ext cx="1771650" cy="342900"/>
          </a:xfrm>
          <a:prstGeom prst="rect">
            <a:avLst/>
          </a:prstGeom>
          <a:noFill/>
          <a:ln w="0">
            <a:noFill/>
            <a:prstDash val="solid"/>
          </a:ln>
        </p:spPr>
        <p:txBody>
          <a:bodyPr/>
          <a:lstStyle/>
          <a:p>
            <a:pPr algn="ctr">
              <a:buNone/>
              <a:defRPr sz="1425" b="1">
                <a:solidFill>
                  <a:srgbClr val="166534"/>
                </a:solidFill>
              </a:defRPr>
            </a:pPr>
            <a:r>
              <a:rPr sz="1425" b="1">
                <a:solidFill>
                  <a:srgbClr val="166534"/>
                </a:solidFill>
              </a:rPr>
              <a:t>Lưu đăng ký</a:t>
            </a:r>
          </a:p>
        </p:txBody>
      </p:sp>
      <p:sp>
        <p:nvSpPr>
          <p:cNvPr id="26" name="Rectangle 25">
            <a:extLst>
              <a:ext uri="{FF2B5EF4-FFF2-40B4-BE49-F238E27FC236}">
                <a16:creationId xmlns:a16="http://schemas.microsoft.com/office/drawing/2014/main" id="{37BA36A1-E3B2-4FA9-90D3-F2A79F2A5D81}"/>
              </a:ext>
            </a:extLst>
          </p:cNvPr>
          <p:cNvSpPr>
            <a:spLocks noGrp="1"/>
          </p:cNvSpPr>
          <p:nvPr/>
        </p:nvSpPr>
        <p:spPr>
          <a:xfrm>
            <a:off x="1219200" y="5334000"/>
            <a:ext cx="9429750" cy="419100"/>
          </a:xfrm>
          <a:prstGeom prst="rect">
            <a:avLst/>
          </a:prstGeom>
          <a:noFill/>
          <a:ln w="0">
            <a:noFill/>
            <a:prstDash val="solid"/>
          </a:ln>
        </p:spPr>
        <p:txBody>
          <a:bodyPr/>
          <a:lstStyle/>
          <a:p>
            <a:pPr algn="ctr">
              <a:buNone/>
              <a:defRPr sz="1875" b="1">
                <a:solidFill>
                  <a:srgbClr val="020618"/>
                </a:solidFill>
              </a:defRPr>
            </a:pPr>
            <a:r>
              <a:rPr sz="1875" b="1">
                <a:solidFill>
                  <a:srgbClr val="020618"/>
                </a:solidFill>
              </a:rPr>
              <a:t>Nếu rule không đạt, backend trả BusinessException với errorCode rõ ràng.</a:t>
            </a:r>
          </a:p>
        </p:txBody>
      </p:sp>
    </p:spTree>
    <p:extLst>
      <p:ext uri="{BB962C8B-B14F-4D97-AF65-F5344CB8AC3E}">
        <p14:creationId xmlns:p14="http://schemas.microsoft.com/office/powerpoint/2010/main" val="291063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DC6D5D9-2ECD-407F-8B39-2B489535F441}"/>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A5734F0A-2332-48EC-BE9D-A19D375B41CC}"/>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Validator nghiệp vụ là ví dụ rõ về polymorphism</a:t>
            </a:r>
          </a:p>
        </p:txBody>
      </p:sp>
      <p:sp>
        <p:nvSpPr>
          <p:cNvPr id="3" name="Straight Connector 2">
            <a:extLst>
              <a:ext uri="{FF2B5EF4-FFF2-40B4-BE49-F238E27FC236}">
                <a16:creationId xmlns:a16="http://schemas.microsoft.com/office/drawing/2014/main" id="{D5B0CD7A-0952-4759-A461-752FB262318F}"/>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D9AD8990-C7D8-4898-9036-C25372656129}"/>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5EDBEDD9-4C17-4743-954A-2BE6827293CB}"/>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13</a:t>
            </a:r>
          </a:p>
        </p:txBody>
      </p:sp>
      <p:sp>
        <p:nvSpPr>
          <p:cNvPr id="6" name="Rectangle: Rounded Corners 5">
            <a:extLst>
              <a:ext uri="{FF2B5EF4-FFF2-40B4-BE49-F238E27FC236}">
                <a16:creationId xmlns:a16="http://schemas.microsoft.com/office/drawing/2014/main" id="{1561627F-40E0-4071-837A-3EA5E269504D}"/>
              </a:ext>
            </a:extLst>
          </p:cNvPr>
          <p:cNvSpPr>
            <a:spLocks noGrp="1"/>
          </p:cNvSpPr>
          <p:nvPr/>
        </p:nvSpPr>
        <p:spPr>
          <a:xfrm>
            <a:off x="723900" y="2952750"/>
            <a:ext cx="2476500" cy="762000"/>
          </a:xfrm>
          <a:prstGeom prst="roundRect">
            <a:avLst>
              <a:gd name="adj" fmla="val 15000"/>
            </a:avLst>
          </a:prstGeom>
          <a:solidFill>
            <a:srgbClr val="F5F3FF"/>
          </a:solidFill>
          <a:ln w="9525">
            <a:solidFill>
              <a:srgbClr val="BBD3FF"/>
            </a:solidFill>
            <a:prstDash val="solid"/>
          </a:ln>
        </p:spPr>
      </p:sp>
      <p:sp>
        <p:nvSpPr>
          <p:cNvPr id="7" name="Rectangle 6">
            <a:extLst>
              <a:ext uri="{FF2B5EF4-FFF2-40B4-BE49-F238E27FC236}">
                <a16:creationId xmlns:a16="http://schemas.microsoft.com/office/drawing/2014/main" id="{0C88356E-4FF9-429F-9BB1-2B00A8A7465A}"/>
              </a:ext>
            </a:extLst>
          </p:cNvPr>
          <p:cNvSpPr>
            <a:spLocks noGrp="1"/>
          </p:cNvSpPr>
          <p:nvPr/>
        </p:nvSpPr>
        <p:spPr>
          <a:xfrm>
            <a:off x="838200" y="3162300"/>
            <a:ext cx="2247900" cy="342900"/>
          </a:xfrm>
          <a:prstGeom prst="rect">
            <a:avLst/>
          </a:prstGeom>
          <a:noFill/>
          <a:ln w="0">
            <a:noFill/>
            <a:prstDash val="solid"/>
          </a:ln>
        </p:spPr>
        <p:txBody>
          <a:bodyPr/>
          <a:lstStyle/>
          <a:p>
            <a:pPr algn="ctr">
              <a:buNone/>
              <a:defRPr sz="1425" b="1">
                <a:solidFill>
                  <a:srgbClr val="5B21B6"/>
                </a:solidFill>
              </a:defRPr>
            </a:pPr>
            <a:r>
              <a:rPr sz="1425" b="1">
                <a:solidFill>
                  <a:srgbClr val="5B21B6"/>
                </a:solidFill>
              </a:rPr>
              <a:t>RegistrationService</a:t>
            </a:r>
          </a:p>
        </p:txBody>
      </p:sp>
      <p:sp>
        <p:nvSpPr>
          <p:cNvPr id="8" name="Arrow: Right 7">
            <a:extLst>
              <a:ext uri="{FF2B5EF4-FFF2-40B4-BE49-F238E27FC236}">
                <a16:creationId xmlns:a16="http://schemas.microsoft.com/office/drawing/2014/main" id="{370222D7-BFFE-4B46-ACA6-F748901E9117}"/>
              </a:ext>
            </a:extLst>
          </p:cNvPr>
          <p:cNvSpPr>
            <a:spLocks noGrp="1"/>
          </p:cNvSpPr>
          <p:nvPr/>
        </p:nvSpPr>
        <p:spPr>
          <a:xfrm>
            <a:off x="3429000" y="3143250"/>
            <a:ext cx="666750" cy="342900"/>
          </a:xfrm>
          <a:prstGeom prst="rightArrow">
            <a:avLst/>
          </a:prstGeom>
          <a:solidFill>
            <a:srgbClr val="C9DAFF"/>
          </a:solidFill>
          <a:ln w="0">
            <a:solidFill>
              <a:srgbClr val="C9DAFF"/>
            </a:solidFill>
            <a:prstDash val="solid"/>
          </a:ln>
        </p:spPr>
      </p:sp>
      <p:sp>
        <p:nvSpPr>
          <p:cNvPr id="9" name="Rectangle: Rounded Corners 8">
            <a:extLst>
              <a:ext uri="{FF2B5EF4-FFF2-40B4-BE49-F238E27FC236}">
                <a16:creationId xmlns:a16="http://schemas.microsoft.com/office/drawing/2014/main" id="{ED333B36-2F9E-4F29-B375-2FC142E248F3}"/>
              </a:ext>
            </a:extLst>
          </p:cNvPr>
          <p:cNvSpPr>
            <a:spLocks noGrp="1"/>
          </p:cNvSpPr>
          <p:nvPr/>
        </p:nvSpPr>
        <p:spPr>
          <a:xfrm>
            <a:off x="4476750" y="1619250"/>
            <a:ext cx="2190750" cy="666750"/>
          </a:xfrm>
          <a:prstGeom prst="roundRect">
            <a:avLst>
              <a:gd name="adj" fmla="val 17143"/>
            </a:avLst>
          </a:prstGeom>
          <a:solidFill>
            <a:srgbClr val="EAF2FF"/>
          </a:solidFill>
          <a:ln w="9525">
            <a:solidFill>
              <a:srgbClr val="BBD3FF"/>
            </a:solidFill>
            <a:prstDash val="solid"/>
          </a:ln>
        </p:spPr>
      </p:sp>
      <p:sp>
        <p:nvSpPr>
          <p:cNvPr id="10" name="Rectangle 9">
            <a:extLst>
              <a:ext uri="{FF2B5EF4-FFF2-40B4-BE49-F238E27FC236}">
                <a16:creationId xmlns:a16="http://schemas.microsoft.com/office/drawing/2014/main" id="{19DD4C3C-A720-4762-AA01-4464EB979097}"/>
              </a:ext>
            </a:extLst>
          </p:cNvPr>
          <p:cNvSpPr>
            <a:spLocks noGrp="1"/>
          </p:cNvSpPr>
          <p:nvPr/>
        </p:nvSpPr>
        <p:spPr>
          <a:xfrm>
            <a:off x="4591050" y="1781175"/>
            <a:ext cx="19621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CourseExistence</a:t>
            </a:r>
          </a:p>
        </p:txBody>
      </p:sp>
      <p:sp>
        <p:nvSpPr>
          <p:cNvPr id="11" name="Rectangle: Rounded Corners 10">
            <a:extLst>
              <a:ext uri="{FF2B5EF4-FFF2-40B4-BE49-F238E27FC236}">
                <a16:creationId xmlns:a16="http://schemas.microsoft.com/office/drawing/2014/main" id="{53E5EAB6-0620-44FE-8A33-7157CAF2DF85}"/>
              </a:ext>
            </a:extLst>
          </p:cNvPr>
          <p:cNvSpPr>
            <a:spLocks noGrp="1"/>
          </p:cNvSpPr>
          <p:nvPr/>
        </p:nvSpPr>
        <p:spPr>
          <a:xfrm>
            <a:off x="7334250" y="1619250"/>
            <a:ext cx="2190750" cy="666750"/>
          </a:xfrm>
          <a:prstGeom prst="roundRect">
            <a:avLst>
              <a:gd name="adj" fmla="val 17143"/>
            </a:avLst>
          </a:prstGeom>
          <a:solidFill>
            <a:srgbClr val="EAF2FF"/>
          </a:solidFill>
          <a:ln w="9525">
            <a:solidFill>
              <a:srgbClr val="BBD3FF"/>
            </a:solidFill>
            <a:prstDash val="solid"/>
          </a:ln>
        </p:spPr>
      </p:sp>
      <p:sp>
        <p:nvSpPr>
          <p:cNvPr id="12" name="Rectangle 11">
            <a:extLst>
              <a:ext uri="{FF2B5EF4-FFF2-40B4-BE49-F238E27FC236}">
                <a16:creationId xmlns:a16="http://schemas.microsoft.com/office/drawing/2014/main" id="{3459E8FC-B375-4AD7-B96E-4876BCCE3166}"/>
              </a:ext>
            </a:extLst>
          </p:cNvPr>
          <p:cNvSpPr>
            <a:spLocks noGrp="1"/>
          </p:cNvSpPr>
          <p:nvPr/>
        </p:nvSpPr>
        <p:spPr>
          <a:xfrm>
            <a:off x="7448550" y="1781175"/>
            <a:ext cx="19621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Duplicate</a:t>
            </a:r>
          </a:p>
        </p:txBody>
      </p:sp>
      <p:sp>
        <p:nvSpPr>
          <p:cNvPr id="13" name="Rectangle: Rounded Corners 12">
            <a:extLst>
              <a:ext uri="{FF2B5EF4-FFF2-40B4-BE49-F238E27FC236}">
                <a16:creationId xmlns:a16="http://schemas.microsoft.com/office/drawing/2014/main" id="{35F60680-990C-411C-9002-63DF172778BF}"/>
              </a:ext>
            </a:extLst>
          </p:cNvPr>
          <p:cNvSpPr>
            <a:spLocks noGrp="1"/>
          </p:cNvSpPr>
          <p:nvPr/>
        </p:nvSpPr>
        <p:spPr>
          <a:xfrm>
            <a:off x="4476750" y="2905125"/>
            <a:ext cx="2190750" cy="666750"/>
          </a:xfrm>
          <a:prstGeom prst="roundRect">
            <a:avLst>
              <a:gd name="adj" fmla="val 17143"/>
            </a:avLst>
          </a:prstGeom>
          <a:solidFill>
            <a:srgbClr val="EAF2FF"/>
          </a:solidFill>
          <a:ln w="9525">
            <a:solidFill>
              <a:srgbClr val="BBD3FF"/>
            </a:solidFill>
            <a:prstDash val="solid"/>
          </a:ln>
        </p:spPr>
      </p:sp>
      <p:sp>
        <p:nvSpPr>
          <p:cNvPr id="14" name="Rectangle 13">
            <a:extLst>
              <a:ext uri="{FF2B5EF4-FFF2-40B4-BE49-F238E27FC236}">
                <a16:creationId xmlns:a16="http://schemas.microsoft.com/office/drawing/2014/main" id="{D27D731B-C7FF-41FA-A103-1BF962EC3CEA}"/>
              </a:ext>
            </a:extLst>
          </p:cNvPr>
          <p:cNvSpPr>
            <a:spLocks noGrp="1"/>
          </p:cNvSpPr>
          <p:nvPr/>
        </p:nvSpPr>
        <p:spPr>
          <a:xfrm>
            <a:off x="4591050" y="3067050"/>
            <a:ext cx="19621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Capacity</a:t>
            </a:r>
          </a:p>
        </p:txBody>
      </p:sp>
      <p:sp>
        <p:nvSpPr>
          <p:cNvPr id="15" name="Rectangle: Rounded Corners 14">
            <a:extLst>
              <a:ext uri="{FF2B5EF4-FFF2-40B4-BE49-F238E27FC236}">
                <a16:creationId xmlns:a16="http://schemas.microsoft.com/office/drawing/2014/main" id="{FF290A72-1393-40AE-AEFD-360C6F357F39}"/>
              </a:ext>
            </a:extLst>
          </p:cNvPr>
          <p:cNvSpPr>
            <a:spLocks noGrp="1"/>
          </p:cNvSpPr>
          <p:nvPr/>
        </p:nvSpPr>
        <p:spPr>
          <a:xfrm>
            <a:off x="7334250" y="2905125"/>
            <a:ext cx="2190750" cy="666750"/>
          </a:xfrm>
          <a:prstGeom prst="roundRect">
            <a:avLst>
              <a:gd name="adj" fmla="val 17143"/>
            </a:avLst>
          </a:prstGeom>
          <a:solidFill>
            <a:srgbClr val="EAF2FF"/>
          </a:solidFill>
          <a:ln w="9525">
            <a:solidFill>
              <a:srgbClr val="BBD3FF"/>
            </a:solidFill>
            <a:prstDash val="solid"/>
          </a:ln>
        </p:spPr>
      </p:sp>
      <p:sp>
        <p:nvSpPr>
          <p:cNvPr id="16" name="Rectangle 15">
            <a:extLst>
              <a:ext uri="{FF2B5EF4-FFF2-40B4-BE49-F238E27FC236}">
                <a16:creationId xmlns:a16="http://schemas.microsoft.com/office/drawing/2014/main" id="{68C1B409-DEB5-4571-ABB1-F15AACDCEFF2}"/>
              </a:ext>
            </a:extLst>
          </p:cNvPr>
          <p:cNvSpPr>
            <a:spLocks noGrp="1"/>
          </p:cNvSpPr>
          <p:nvPr/>
        </p:nvSpPr>
        <p:spPr>
          <a:xfrm>
            <a:off x="7448550" y="3067050"/>
            <a:ext cx="19621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CreditLimit</a:t>
            </a:r>
          </a:p>
        </p:txBody>
      </p:sp>
      <p:sp>
        <p:nvSpPr>
          <p:cNvPr id="17" name="Rectangle: Rounded Corners 16">
            <a:extLst>
              <a:ext uri="{FF2B5EF4-FFF2-40B4-BE49-F238E27FC236}">
                <a16:creationId xmlns:a16="http://schemas.microsoft.com/office/drawing/2014/main" id="{5D75A338-A8C4-429D-8857-0DC16086126C}"/>
              </a:ext>
            </a:extLst>
          </p:cNvPr>
          <p:cNvSpPr>
            <a:spLocks noGrp="1"/>
          </p:cNvSpPr>
          <p:nvPr/>
        </p:nvSpPr>
        <p:spPr>
          <a:xfrm>
            <a:off x="4476750" y="4191000"/>
            <a:ext cx="2190750" cy="666750"/>
          </a:xfrm>
          <a:prstGeom prst="roundRect">
            <a:avLst>
              <a:gd name="adj" fmla="val 17143"/>
            </a:avLst>
          </a:prstGeom>
          <a:solidFill>
            <a:srgbClr val="EAF2FF"/>
          </a:solidFill>
          <a:ln w="9525">
            <a:solidFill>
              <a:srgbClr val="BBD3FF"/>
            </a:solidFill>
            <a:prstDash val="solid"/>
          </a:ln>
        </p:spPr>
      </p:sp>
      <p:sp>
        <p:nvSpPr>
          <p:cNvPr id="18" name="Rectangle 17">
            <a:extLst>
              <a:ext uri="{FF2B5EF4-FFF2-40B4-BE49-F238E27FC236}">
                <a16:creationId xmlns:a16="http://schemas.microsoft.com/office/drawing/2014/main" id="{EFE985A4-2DDC-4620-83A6-BDCBE8E12DED}"/>
              </a:ext>
            </a:extLst>
          </p:cNvPr>
          <p:cNvSpPr>
            <a:spLocks noGrp="1"/>
          </p:cNvSpPr>
          <p:nvPr/>
        </p:nvSpPr>
        <p:spPr>
          <a:xfrm>
            <a:off x="4591050" y="4352925"/>
            <a:ext cx="1962150" cy="342900"/>
          </a:xfrm>
          <a:prstGeom prst="rect">
            <a:avLst/>
          </a:prstGeom>
          <a:noFill/>
          <a:ln w="0">
            <a:noFill/>
            <a:prstDash val="solid"/>
          </a:ln>
        </p:spPr>
        <p:txBody>
          <a:bodyPr/>
          <a:lstStyle/>
          <a:p>
            <a:pPr algn="ctr">
              <a:buNone/>
              <a:defRPr sz="1425" b="1">
                <a:solidFill>
                  <a:srgbClr val="0B2A6F"/>
                </a:solidFill>
              </a:defRPr>
            </a:pPr>
            <a:r>
              <a:rPr sz="1425" b="1">
                <a:solidFill>
                  <a:srgbClr val="0B2A6F"/>
                </a:solidFill>
              </a:rPr>
              <a:t>ScheduleConflict</a:t>
            </a:r>
          </a:p>
        </p:txBody>
      </p:sp>
      <p:sp>
        <p:nvSpPr>
          <p:cNvPr id="19" name="Rectangle 18">
            <a:extLst>
              <a:ext uri="{FF2B5EF4-FFF2-40B4-BE49-F238E27FC236}">
                <a16:creationId xmlns:a16="http://schemas.microsoft.com/office/drawing/2014/main" id="{75307ABB-D994-46EB-A3E6-7F3307F428B7}"/>
              </a:ext>
            </a:extLst>
          </p:cNvPr>
          <p:cNvSpPr>
            <a:spLocks noGrp="1"/>
          </p:cNvSpPr>
          <p:nvPr/>
        </p:nvSpPr>
        <p:spPr>
          <a:xfrm>
            <a:off x="1143000" y="5429250"/>
            <a:ext cx="9906000" cy="476250"/>
          </a:xfrm>
          <a:prstGeom prst="rect">
            <a:avLst/>
          </a:prstGeom>
          <a:noFill/>
          <a:ln w="0">
            <a:noFill/>
            <a:prstDash val="solid"/>
          </a:ln>
        </p:spPr>
        <p:txBody>
          <a:bodyPr/>
          <a:lstStyle/>
          <a:p>
            <a:pPr algn="ctr">
              <a:buNone/>
              <a:defRPr sz="1800" b="1">
                <a:solidFill>
                  <a:srgbClr val="020618"/>
                </a:solidFill>
              </a:defRPr>
            </a:pPr>
            <a:r>
              <a:rPr sz="1800" b="1">
                <a:solidFill>
                  <a:srgbClr val="020618"/>
                </a:solidFill>
              </a:rPr>
              <a:t>Service chỉ gọi cùng một contract CourseValidator.validate(context), còn từng rule tự xử lý điều kiện riêng.</a:t>
            </a:r>
          </a:p>
        </p:txBody>
      </p:sp>
    </p:spTree>
    <p:extLst>
      <p:ext uri="{BB962C8B-B14F-4D97-AF65-F5344CB8AC3E}">
        <p14:creationId xmlns:p14="http://schemas.microsoft.com/office/powerpoint/2010/main" val="1540631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00B671-D5DB-4793-8CF8-A8F4B0077F0A}"/>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0D5855B6-E91C-4A86-965E-A45C11FF1E8B}"/>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Môn đã đăng ký tạo nền cho thời khóa biểu</a:t>
            </a:r>
          </a:p>
        </p:txBody>
      </p:sp>
      <p:sp>
        <p:nvSpPr>
          <p:cNvPr id="3" name="Straight Connector 2">
            <a:extLst>
              <a:ext uri="{FF2B5EF4-FFF2-40B4-BE49-F238E27FC236}">
                <a16:creationId xmlns:a16="http://schemas.microsoft.com/office/drawing/2014/main" id="{6C145240-5137-4E12-B94C-6E9273A058DB}"/>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C8A45D48-B629-44E8-BBFD-7191AD6BDE88}"/>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519D344F-BAB9-4EC1-87C7-9ADD36F69DAF}"/>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14</a:t>
            </a:r>
          </a:p>
        </p:txBody>
      </p:sp>
      <p:sp>
        <p:nvSpPr>
          <p:cNvPr id="6" name="Rectangle: Rounded Corners 5">
            <a:extLst>
              <a:ext uri="{FF2B5EF4-FFF2-40B4-BE49-F238E27FC236}">
                <a16:creationId xmlns:a16="http://schemas.microsoft.com/office/drawing/2014/main" id="{26B39ED9-7CC9-4898-9983-33C600C4AC99}"/>
              </a:ext>
            </a:extLst>
          </p:cNvPr>
          <p:cNvSpPr>
            <a:spLocks noGrp="1"/>
          </p:cNvSpPr>
          <p:nvPr/>
        </p:nvSpPr>
        <p:spPr>
          <a:xfrm>
            <a:off x="628650" y="1524000"/>
            <a:ext cx="5095875" cy="3429000"/>
          </a:xfrm>
          <a:prstGeom prst="roundRect">
            <a:avLst>
              <a:gd name="adj" fmla="val 4444"/>
            </a:avLst>
          </a:prstGeom>
          <a:solidFill>
            <a:srgbClr val="FFFFFF"/>
          </a:solidFill>
          <a:ln w="9525">
            <a:solidFill>
              <a:srgbClr val="E2E8F0"/>
            </a:solidFill>
            <a:prstDash val="solid"/>
          </a:ln>
        </p:spPr>
      </p:sp>
      <p:pic>
        <p:nvPicPr>
          <p:cNvPr id="20" name="Picture 19"/>
          <p:cNvPicPr>
            <a:picLocks noChangeAspect="1"/>
          </p:cNvPicPr>
          <p:nvPr/>
        </p:nvPicPr>
        <p:blipFill>
          <a:blip r:embed="rId3"/>
          <a:stretch/>
        </p:blipFill>
        <p:spPr>
          <a:xfrm>
            <a:off x="723900" y="1705570"/>
            <a:ext cx="4905375" cy="3065859"/>
          </a:xfrm>
          <a:prstGeom prst="roundRect">
            <a:avLst>
              <a:gd name="adj" fmla="val 3529"/>
            </a:avLst>
          </a:prstGeom>
        </p:spPr>
      </p:pic>
      <p:sp>
        <p:nvSpPr>
          <p:cNvPr id="8" name="Rectangle: Rounded Corners 7">
            <a:extLst>
              <a:ext uri="{FF2B5EF4-FFF2-40B4-BE49-F238E27FC236}">
                <a16:creationId xmlns:a16="http://schemas.microsoft.com/office/drawing/2014/main" id="{54110BF8-DACD-4BDF-AFBC-8288D9288875}"/>
              </a:ext>
            </a:extLst>
          </p:cNvPr>
          <p:cNvSpPr>
            <a:spLocks noGrp="1"/>
          </p:cNvSpPr>
          <p:nvPr/>
        </p:nvSpPr>
        <p:spPr>
          <a:xfrm>
            <a:off x="6286500" y="1524000"/>
            <a:ext cx="5095875" cy="3429000"/>
          </a:xfrm>
          <a:prstGeom prst="roundRect">
            <a:avLst>
              <a:gd name="adj" fmla="val 4444"/>
            </a:avLst>
          </a:prstGeom>
          <a:solidFill>
            <a:srgbClr val="FFFFFF"/>
          </a:solidFill>
          <a:ln w="9525">
            <a:solidFill>
              <a:srgbClr val="E2E8F0"/>
            </a:solidFill>
            <a:prstDash val="solid"/>
          </a:ln>
        </p:spPr>
      </p:sp>
      <p:pic>
        <p:nvPicPr>
          <p:cNvPr id="22" name="Picture 21"/>
          <p:cNvPicPr>
            <a:picLocks noChangeAspect="1"/>
          </p:cNvPicPr>
          <p:nvPr/>
        </p:nvPicPr>
        <p:blipFill>
          <a:blip r:embed="rId4"/>
          <a:stretch/>
        </p:blipFill>
        <p:spPr>
          <a:xfrm>
            <a:off x="6381750" y="1705570"/>
            <a:ext cx="4905375" cy="3065859"/>
          </a:xfrm>
          <a:prstGeom prst="roundRect">
            <a:avLst>
              <a:gd name="adj" fmla="val 3529"/>
            </a:avLst>
          </a:prstGeom>
        </p:spPr>
      </p:pic>
      <p:sp>
        <p:nvSpPr>
          <p:cNvPr id="10" name="Rectangle 9">
            <a:extLst>
              <a:ext uri="{FF2B5EF4-FFF2-40B4-BE49-F238E27FC236}">
                <a16:creationId xmlns:a16="http://schemas.microsoft.com/office/drawing/2014/main" id="{C57C9999-9D9A-4909-932A-FBAABADD2E4A}"/>
              </a:ext>
            </a:extLst>
          </p:cNvPr>
          <p:cNvSpPr>
            <a:spLocks noGrp="1"/>
          </p:cNvSpPr>
          <p:nvPr/>
        </p:nvSpPr>
        <p:spPr>
          <a:xfrm>
            <a:off x="1600200" y="5191125"/>
            <a:ext cx="8763000" cy="400050"/>
          </a:xfrm>
          <a:prstGeom prst="rect">
            <a:avLst/>
          </a:prstGeom>
          <a:noFill/>
          <a:ln w="0">
            <a:noFill/>
            <a:prstDash val="solid"/>
          </a:ln>
        </p:spPr>
        <p:txBody>
          <a:bodyPr/>
          <a:lstStyle/>
          <a:p>
            <a:pPr algn="ctr">
              <a:buNone/>
              <a:defRPr sz="1875" b="1">
                <a:solidFill>
                  <a:srgbClr val="0B2A6F"/>
                </a:solidFill>
              </a:defRPr>
            </a:pPr>
            <a:r>
              <a:rPr sz="1875" b="1">
                <a:solidFill>
                  <a:srgbClr val="0B2A6F"/>
                </a:solidFill>
              </a:rPr>
              <a:t>Tổng tín chỉ và lịch học được tính từ registration + course schedule.</a:t>
            </a:r>
          </a:p>
        </p:txBody>
      </p:sp>
    </p:spTree>
    <p:extLst>
      <p:ext uri="{BB962C8B-B14F-4D97-AF65-F5344CB8AC3E}">
        <p14:creationId xmlns:p14="http://schemas.microsoft.com/office/powerpoint/2010/main" val="1829342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2A4713C-675E-40D6-8358-6C438ADA8521}"/>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0B939FD7-C188-4EA1-97B8-6C1A3571565B}"/>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Dashboard gom dữ liệu để sinh viên theo dõi nhanh</a:t>
            </a:r>
          </a:p>
        </p:txBody>
      </p:sp>
      <p:sp>
        <p:nvSpPr>
          <p:cNvPr id="3" name="Straight Connector 2">
            <a:extLst>
              <a:ext uri="{FF2B5EF4-FFF2-40B4-BE49-F238E27FC236}">
                <a16:creationId xmlns:a16="http://schemas.microsoft.com/office/drawing/2014/main" id="{C7A5057C-38EC-4626-B027-CB36B1C573A6}"/>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2088E7F5-6EB7-41C5-A51E-4EBB0585DAD3}"/>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6125E96E-145D-4A7C-9E1F-083131558060}"/>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15</a:t>
            </a:r>
          </a:p>
        </p:txBody>
      </p:sp>
      <p:sp>
        <p:nvSpPr>
          <p:cNvPr id="6" name="Rectangle: Rounded Corners 5">
            <a:extLst>
              <a:ext uri="{FF2B5EF4-FFF2-40B4-BE49-F238E27FC236}">
                <a16:creationId xmlns:a16="http://schemas.microsoft.com/office/drawing/2014/main" id="{4A7D7BCE-E6AB-4EC8-ADAC-2984DC61C2ED}"/>
              </a:ext>
            </a:extLst>
          </p:cNvPr>
          <p:cNvSpPr>
            <a:spLocks noGrp="1"/>
          </p:cNvSpPr>
          <p:nvPr/>
        </p:nvSpPr>
        <p:spPr>
          <a:xfrm>
            <a:off x="666750" y="1371600"/>
            <a:ext cx="6381750" cy="4038600"/>
          </a:xfrm>
          <a:prstGeom prst="roundRect">
            <a:avLst>
              <a:gd name="adj" fmla="val 3774"/>
            </a:avLst>
          </a:prstGeom>
          <a:solidFill>
            <a:srgbClr val="FFFFFF"/>
          </a:solidFill>
          <a:ln w="9525">
            <a:solidFill>
              <a:srgbClr val="E2E8F0"/>
            </a:solidFill>
            <a:prstDash val="solid"/>
          </a:ln>
        </p:spPr>
      </p:sp>
      <p:pic>
        <p:nvPicPr>
          <p:cNvPr id="26" name="Picture 25"/>
          <p:cNvPicPr>
            <a:picLocks noChangeAspect="1"/>
          </p:cNvPicPr>
          <p:nvPr/>
        </p:nvPicPr>
        <p:blipFill>
          <a:blip r:embed="rId3"/>
          <a:stretch/>
        </p:blipFill>
        <p:spPr>
          <a:xfrm>
            <a:off x="779145" y="1466850"/>
            <a:ext cx="6156960" cy="3848100"/>
          </a:xfrm>
          <a:prstGeom prst="roundRect">
            <a:avLst>
              <a:gd name="adj" fmla="val 2970"/>
            </a:avLst>
          </a:prstGeom>
        </p:spPr>
      </p:pic>
      <p:sp>
        <p:nvSpPr>
          <p:cNvPr id="8" name="Rectangle 7">
            <a:extLst>
              <a:ext uri="{FF2B5EF4-FFF2-40B4-BE49-F238E27FC236}">
                <a16:creationId xmlns:a16="http://schemas.microsoft.com/office/drawing/2014/main" id="{FB1261E5-9A8B-4255-9DB5-07F7ED9775B6}"/>
              </a:ext>
            </a:extLst>
          </p:cNvPr>
          <p:cNvSpPr>
            <a:spLocks noGrp="1"/>
          </p:cNvSpPr>
          <p:nvPr/>
        </p:nvSpPr>
        <p:spPr>
          <a:xfrm>
            <a:off x="7524750" y="1809750"/>
            <a:ext cx="228600" cy="285750"/>
          </a:xfrm>
          <a:prstGeom prst="rect">
            <a:avLst/>
          </a:prstGeom>
          <a:noFill/>
          <a:ln w="0">
            <a:noFill/>
            <a:prstDash val="solid"/>
          </a:ln>
        </p:spPr>
        <p:txBody>
          <a:bodyPr/>
          <a:lstStyle/>
          <a:p>
            <a:pPr algn="l">
              <a:buNone/>
              <a:defRPr sz="1800" b="1">
                <a:solidFill>
                  <a:srgbClr val="0B5FFF"/>
                </a:solidFill>
              </a:defRPr>
            </a:pPr>
            <a:r>
              <a:rPr sz="1800" b="1">
                <a:solidFill>
                  <a:srgbClr val="0B5FFF"/>
                </a:solidFill>
              </a:rPr>
              <a:t>•</a:t>
            </a:r>
          </a:p>
        </p:txBody>
      </p:sp>
      <p:sp>
        <p:nvSpPr>
          <p:cNvPr id="9" name="Rectangle 8">
            <a:extLst>
              <a:ext uri="{FF2B5EF4-FFF2-40B4-BE49-F238E27FC236}">
                <a16:creationId xmlns:a16="http://schemas.microsoft.com/office/drawing/2014/main" id="{031F8BD7-3F36-4C29-9772-54E7CBDB8526}"/>
              </a:ext>
            </a:extLst>
          </p:cNvPr>
          <p:cNvSpPr>
            <a:spLocks noGrp="1"/>
          </p:cNvSpPr>
          <p:nvPr/>
        </p:nvSpPr>
        <p:spPr>
          <a:xfrm>
            <a:off x="7829550" y="1800225"/>
            <a:ext cx="3124200" cy="533400"/>
          </a:xfrm>
          <a:prstGeom prst="rect">
            <a:avLst/>
          </a:prstGeom>
          <a:noFill/>
          <a:ln w="0">
            <a:noFill/>
            <a:prstDash val="solid"/>
          </a:ln>
        </p:spPr>
        <p:txBody>
          <a:bodyPr/>
          <a:lstStyle/>
          <a:p>
            <a:pPr algn="l">
              <a:buNone/>
              <a:defRPr sz="1800" b="0">
                <a:solidFill>
                  <a:srgbClr val="020618"/>
                </a:solidFill>
              </a:defRPr>
            </a:pPr>
            <a:r>
              <a:rPr sz="1800" b="0">
                <a:solidFill>
                  <a:srgbClr val="020618"/>
                </a:solidFill>
              </a:rPr>
              <a:t>Thông tin sinh viên.</a:t>
            </a:r>
          </a:p>
        </p:txBody>
      </p:sp>
      <p:sp>
        <p:nvSpPr>
          <p:cNvPr id="10" name="Rectangle 9">
            <a:extLst>
              <a:ext uri="{FF2B5EF4-FFF2-40B4-BE49-F238E27FC236}">
                <a16:creationId xmlns:a16="http://schemas.microsoft.com/office/drawing/2014/main" id="{F035D5E7-C5A7-4DC0-918A-920A1734EE71}"/>
              </a:ext>
            </a:extLst>
          </p:cNvPr>
          <p:cNvSpPr>
            <a:spLocks noGrp="1"/>
          </p:cNvSpPr>
          <p:nvPr/>
        </p:nvSpPr>
        <p:spPr>
          <a:xfrm>
            <a:off x="7524750" y="2343150"/>
            <a:ext cx="228600" cy="285750"/>
          </a:xfrm>
          <a:prstGeom prst="rect">
            <a:avLst/>
          </a:prstGeom>
          <a:noFill/>
          <a:ln w="0">
            <a:noFill/>
            <a:prstDash val="solid"/>
          </a:ln>
        </p:spPr>
        <p:txBody>
          <a:bodyPr/>
          <a:lstStyle/>
          <a:p>
            <a:pPr algn="l">
              <a:buNone/>
              <a:defRPr sz="1800" b="1">
                <a:solidFill>
                  <a:srgbClr val="0B5FFF"/>
                </a:solidFill>
              </a:defRPr>
            </a:pPr>
            <a:r>
              <a:rPr sz="1800" b="1">
                <a:solidFill>
                  <a:srgbClr val="0B5FFF"/>
                </a:solidFill>
              </a:rPr>
              <a:t>•</a:t>
            </a:r>
          </a:p>
        </p:txBody>
      </p:sp>
      <p:sp>
        <p:nvSpPr>
          <p:cNvPr id="11" name="Rectangle 10">
            <a:extLst>
              <a:ext uri="{FF2B5EF4-FFF2-40B4-BE49-F238E27FC236}">
                <a16:creationId xmlns:a16="http://schemas.microsoft.com/office/drawing/2014/main" id="{428F68F3-2FDB-4FD6-B5CD-1D6F7567B9AA}"/>
              </a:ext>
            </a:extLst>
          </p:cNvPr>
          <p:cNvSpPr>
            <a:spLocks noGrp="1"/>
          </p:cNvSpPr>
          <p:nvPr/>
        </p:nvSpPr>
        <p:spPr>
          <a:xfrm>
            <a:off x="7829550" y="2333625"/>
            <a:ext cx="3124200" cy="533400"/>
          </a:xfrm>
          <a:prstGeom prst="rect">
            <a:avLst/>
          </a:prstGeom>
          <a:noFill/>
          <a:ln w="0">
            <a:noFill/>
            <a:prstDash val="solid"/>
          </a:ln>
        </p:spPr>
        <p:txBody>
          <a:bodyPr/>
          <a:lstStyle/>
          <a:p>
            <a:pPr algn="l">
              <a:buNone/>
              <a:defRPr sz="1800" b="0">
                <a:solidFill>
                  <a:srgbClr val="020618"/>
                </a:solidFill>
              </a:defRPr>
            </a:pPr>
            <a:r>
              <a:rPr sz="1800" b="0">
                <a:solidFill>
                  <a:srgbClr val="020618"/>
                </a:solidFill>
              </a:rPr>
              <a:t>Số môn đã đăng ký.</a:t>
            </a:r>
          </a:p>
        </p:txBody>
      </p:sp>
      <p:sp>
        <p:nvSpPr>
          <p:cNvPr id="12" name="Rectangle 11">
            <a:extLst>
              <a:ext uri="{FF2B5EF4-FFF2-40B4-BE49-F238E27FC236}">
                <a16:creationId xmlns:a16="http://schemas.microsoft.com/office/drawing/2014/main" id="{173CC0F9-DEE8-435E-9577-25CF42ABF461}"/>
              </a:ext>
            </a:extLst>
          </p:cNvPr>
          <p:cNvSpPr>
            <a:spLocks noGrp="1"/>
          </p:cNvSpPr>
          <p:nvPr/>
        </p:nvSpPr>
        <p:spPr>
          <a:xfrm>
            <a:off x="7524750" y="2876550"/>
            <a:ext cx="228600" cy="285750"/>
          </a:xfrm>
          <a:prstGeom prst="rect">
            <a:avLst/>
          </a:prstGeom>
          <a:noFill/>
          <a:ln w="0">
            <a:noFill/>
            <a:prstDash val="solid"/>
          </a:ln>
        </p:spPr>
        <p:txBody>
          <a:bodyPr/>
          <a:lstStyle/>
          <a:p>
            <a:pPr algn="l">
              <a:buNone/>
              <a:defRPr sz="1800" b="1">
                <a:solidFill>
                  <a:srgbClr val="0B5FFF"/>
                </a:solidFill>
              </a:defRPr>
            </a:pPr>
            <a:r>
              <a:rPr sz="1800" b="1">
                <a:solidFill>
                  <a:srgbClr val="0B5FFF"/>
                </a:solidFill>
              </a:rPr>
              <a:t>•</a:t>
            </a:r>
          </a:p>
        </p:txBody>
      </p:sp>
      <p:sp>
        <p:nvSpPr>
          <p:cNvPr id="13" name="Rectangle 12">
            <a:extLst>
              <a:ext uri="{FF2B5EF4-FFF2-40B4-BE49-F238E27FC236}">
                <a16:creationId xmlns:a16="http://schemas.microsoft.com/office/drawing/2014/main" id="{A360345B-E6B6-4B02-A1B1-D6AA1C5C949D}"/>
              </a:ext>
            </a:extLst>
          </p:cNvPr>
          <p:cNvSpPr>
            <a:spLocks noGrp="1"/>
          </p:cNvSpPr>
          <p:nvPr/>
        </p:nvSpPr>
        <p:spPr>
          <a:xfrm>
            <a:off x="7829550" y="2867025"/>
            <a:ext cx="3124200" cy="533400"/>
          </a:xfrm>
          <a:prstGeom prst="rect">
            <a:avLst/>
          </a:prstGeom>
          <a:noFill/>
          <a:ln w="0">
            <a:noFill/>
            <a:prstDash val="solid"/>
          </a:ln>
        </p:spPr>
        <p:txBody>
          <a:bodyPr/>
          <a:lstStyle/>
          <a:p>
            <a:pPr algn="l">
              <a:buNone/>
              <a:defRPr sz="1800" b="0">
                <a:solidFill>
                  <a:srgbClr val="020618"/>
                </a:solidFill>
              </a:defRPr>
            </a:pPr>
            <a:r>
              <a:rPr sz="1800" b="0">
                <a:solidFill>
                  <a:srgbClr val="020618"/>
                </a:solidFill>
              </a:rPr>
              <a:t>Tổng tín chỉ.</a:t>
            </a:r>
          </a:p>
        </p:txBody>
      </p:sp>
      <p:sp>
        <p:nvSpPr>
          <p:cNvPr id="14" name="Rectangle 13">
            <a:extLst>
              <a:ext uri="{FF2B5EF4-FFF2-40B4-BE49-F238E27FC236}">
                <a16:creationId xmlns:a16="http://schemas.microsoft.com/office/drawing/2014/main" id="{09AD7BF8-8733-442C-B837-292F1A80F43B}"/>
              </a:ext>
            </a:extLst>
          </p:cNvPr>
          <p:cNvSpPr>
            <a:spLocks noGrp="1"/>
          </p:cNvSpPr>
          <p:nvPr/>
        </p:nvSpPr>
        <p:spPr>
          <a:xfrm>
            <a:off x="7524750" y="3409950"/>
            <a:ext cx="228600" cy="285750"/>
          </a:xfrm>
          <a:prstGeom prst="rect">
            <a:avLst/>
          </a:prstGeom>
          <a:noFill/>
          <a:ln w="0">
            <a:noFill/>
            <a:prstDash val="solid"/>
          </a:ln>
        </p:spPr>
        <p:txBody>
          <a:bodyPr/>
          <a:lstStyle/>
          <a:p>
            <a:pPr algn="l">
              <a:buNone/>
              <a:defRPr sz="1800" b="1">
                <a:solidFill>
                  <a:srgbClr val="0B5FFF"/>
                </a:solidFill>
              </a:defRPr>
            </a:pPr>
            <a:r>
              <a:rPr sz="1800" b="1">
                <a:solidFill>
                  <a:srgbClr val="0B5FFF"/>
                </a:solidFill>
              </a:rPr>
              <a:t>•</a:t>
            </a:r>
          </a:p>
        </p:txBody>
      </p:sp>
      <p:sp>
        <p:nvSpPr>
          <p:cNvPr id="15" name="Rectangle 14">
            <a:extLst>
              <a:ext uri="{FF2B5EF4-FFF2-40B4-BE49-F238E27FC236}">
                <a16:creationId xmlns:a16="http://schemas.microsoft.com/office/drawing/2014/main" id="{2FDE9FF9-BEDB-4404-909A-B493996175CA}"/>
              </a:ext>
            </a:extLst>
          </p:cNvPr>
          <p:cNvSpPr>
            <a:spLocks noGrp="1"/>
          </p:cNvSpPr>
          <p:nvPr/>
        </p:nvSpPr>
        <p:spPr>
          <a:xfrm>
            <a:off x="7829550" y="3400425"/>
            <a:ext cx="3124200" cy="533400"/>
          </a:xfrm>
          <a:prstGeom prst="rect">
            <a:avLst/>
          </a:prstGeom>
          <a:noFill/>
          <a:ln w="0">
            <a:noFill/>
            <a:prstDash val="solid"/>
          </a:ln>
        </p:spPr>
        <p:txBody>
          <a:bodyPr/>
          <a:lstStyle/>
          <a:p>
            <a:pPr algn="l">
              <a:buNone/>
              <a:defRPr sz="1800" b="0">
                <a:solidFill>
                  <a:srgbClr val="020618"/>
                </a:solidFill>
              </a:defRPr>
            </a:pPr>
            <a:r>
              <a:rPr sz="1800" b="0">
                <a:solidFill>
                  <a:srgbClr val="020618"/>
                </a:solidFill>
              </a:rPr>
              <a:t>Số môn mở.</a:t>
            </a:r>
          </a:p>
        </p:txBody>
      </p:sp>
      <p:sp>
        <p:nvSpPr>
          <p:cNvPr id="16" name="Rectangle 15">
            <a:extLst>
              <a:ext uri="{FF2B5EF4-FFF2-40B4-BE49-F238E27FC236}">
                <a16:creationId xmlns:a16="http://schemas.microsoft.com/office/drawing/2014/main" id="{3D8F4727-2EBF-4ECB-BA96-2FB80ABB3C98}"/>
              </a:ext>
            </a:extLst>
          </p:cNvPr>
          <p:cNvSpPr>
            <a:spLocks noGrp="1"/>
          </p:cNvSpPr>
          <p:nvPr/>
        </p:nvSpPr>
        <p:spPr>
          <a:xfrm>
            <a:off x="7524750" y="3943350"/>
            <a:ext cx="228600" cy="285750"/>
          </a:xfrm>
          <a:prstGeom prst="rect">
            <a:avLst/>
          </a:prstGeom>
          <a:noFill/>
          <a:ln w="0">
            <a:noFill/>
            <a:prstDash val="solid"/>
          </a:ln>
        </p:spPr>
        <p:txBody>
          <a:bodyPr/>
          <a:lstStyle/>
          <a:p>
            <a:pPr algn="l">
              <a:buNone/>
              <a:defRPr sz="1800" b="1">
                <a:solidFill>
                  <a:srgbClr val="0B5FFF"/>
                </a:solidFill>
              </a:defRPr>
            </a:pPr>
            <a:r>
              <a:rPr sz="1800" b="1">
                <a:solidFill>
                  <a:srgbClr val="0B5FFF"/>
                </a:solidFill>
              </a:rPr>
              <a:t>•</a:t>
            </a:r>
          </a:p>
        </p:txBody>
      </p:sp>
      <p:sp>
        <p:nvSpPr>
          <p:cNvPr id="17" name="Rectangle 16">
            <a:extLst>
              <a:ext uri="{FF2B5EF4-FFF2-40B4-BE49-F238E27FC236}">
                <a16:creationId xmlns:a16="http://schemas.microsoft.com/office/drawing/2014/main" id="{3A0EDCF3-B2C2-4233-A86C-50D7AF040D97}"/>
              </a:ext>
            </a:extLst>
          </p:cNvPr>
          <p:cNvSpPr>
            <a:spLocks noGrp="1"/>
          </p:cNvSpPr>
          <p:nvPr/>
        </p:nvSpPr>
        <p:spPr>
          <a:xfrm>
            <a:off x="7829550" y="3933825"/>
            <a:ext cx="3124200" cy="533400"/>
          </a:xfrm>
          <a:prstGeom prst="rect">
            <a:avLst/>
          </a:prstGeom>
          <a:noFill/>
          <a:ln w="0">
            <a:noFill/>
            <a:prstDash val="solid"/>
          </a:ln>
        </p:spPr>
        <p:txBody>
          <a:bodyPr/>
          <a:lstStyle/>
          <a:p>
            <a:pPr algn="l">
              <a:buNone/>
              <a:defRPr sz="1800" b="0">
                <a:solidFill>
                  <a:srgbClr val="020618"/>
                </a:solidFill>
              </a:defRPr>
            </a:pPr>
            <a:r>
              <a:rPr sz="1800" b="0">
                <a:solidFill>
                  <a:srgbClr val="020618"/>
                </a:solidFill>
              </a:rPr>
              <a:t>Lịch học gần nhất.</a:t>
            </a:r>
          </a:p>
        </p:txBody>
      </p:sp>
    </p:spTree>
    <p:extLst>
      <p:ext uri="{BB962C8B-B14F-4D97-AF65-F5344CB8AC3E}">
        <p14:creationId xmlns:p14="http://schemas.microsoft.com/office/powerpoint/2010/main" val="1427221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FD9E5B7-BFA0-4F4E-8383-95187BE0F4BB}"/>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455B86C5-E2AE-4798-B5F8-8052E96E0F57}"/>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Kiểm thử cho thấy main còn cần đồng bộ</a:t>
            </a:r>
          </a:p>
        </p:txBody>
      </p:sp>
      <p:sp>
        <p:nvSpPr>
          <p:cNvPr id="3" name="Straight Connector 2">
            <a:extLst>
              <a:ext uri="{FF2B5EF4-FFF2-40B4-BE49-F238E27FC236}">
                <a16:creationId xmlns:a16="http://schemas.microsoft.com/office/drawing/2014/main" id="{B0FC2C91-0C20-4EB9-93EA-E0833B97787E}"/>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16B14659-8AB3-44B2-8424-5B33332EB049}"/>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B8FFBBD2-735E-4DFC-A360-028AD8084E3F}"/>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16</a:t>
            </a:r>
          </a:p>
        </p:txBody>
      </p:sp>
      <p:sp>
        <p:nvSpPr>
          <p:cNvPr id="6" name="Rectangle: Rounded Corners 5">
            <a:extLst>
              <a:ext uri="{FF2B5EF4-FFF2-40B4-BE49-F238E27FC236}">
                <a16:creationId xmlns:a16="http://schemas.microsoft.com/office/drawing/2014/main" id="{0AFBBDB8-B02A-48B8-B8A4-CC1E2420C243}"/>
              </a:ext>
            </a:extLst>
          </p:cNvPr>
          <p:cNvSpPr>
            <a:spLocks noGrp="1"/>
          </p:cNvSpPr>
          <p:nvPr/>
        </p:nvSpPr>
        <p:spPr>
          <a:xfrm>
            <a:off x="990600" y="1571625"/>
            <a:ext cx="9715500" cy="514350"/>
          </a:xfrm>
          <a:prstGeom prst="roundRect">
            <a:avLst>
              <a:gd name="adj" fmla="val 22222"/>
            </a:avLst>
          </a:prstGeom>
          <a:solidFill>
            <a:srgbClr val="FFFFFF"/>
          </a:solidFill>
          <a:ln w="9525">
            <a:solidFill>
              <a:srgbClr val="E2E8F0"/>
            </a:solidFill>
            <a:prstDash val="solid"/>
          </a:ln>
        </p:spPr>
      </p:sp>
      <p:sp>
        <p:nvSpPr>
          <p:cNvPr id="7" name="Rectangle 6">
            <a:extLst>
              <a:ext uri="{FF2B5EF4-FFF2-40B4-BE49-F238E27FC236}">
                <a16:creationId xmlns:a16="http://schemas.microsoft.com/office/drawing/2014/main" id="{5DF2E836-FA5F-4763-86B5-088ECA9125AF}"/>
              </a:ext>
            </a:extLst>
          </p:cNvPr>
          <p:cNvSpPr>
            <a:spLocks noGrp="1"/>
          </p:cNvSpPr>
          <p:nvPr/>
        </p:nvSpPr>
        <p:spPr>
          <a:xfrm>
            <a:off x="1238250" y="1695450"/>
            <a:ext cx="2952750" cy="266700"/>
          </a:xfrm>
          <a:prstGeom prst="rect">
            <a:avLst/>
          </a:prstGeom>
          <a:noFill/>
          <a:ln w="0">
            <a:noFill/>
            <a:prstDash val="solid"/>
          </a:ln>
        </p:spPr>
        <p:txBody>
          <a:bodyPr/>
          <a:lstStyle/>
          <a:p>
            <a:pPr algn="l">
              <a:buNone/>
              <a:defRPr sz="1575" b="1">
                <a:solidFill>
                  <a:srgbClr val="020618"/>
                </a:solidFill>
              </a:defRPr>
            </a:pPr>
            <a:r>
              <a:rPr sz="1575" b="1">
                <a:solidFill>
                  <a:srgbClr val="020618"/>
                </a:solidFill>
              </a:rPr>
              <a:t>backend test</a:t>
            </a:r>
          </a:p>
        </p:txBody>
      </p:sp>
      <p:sp>
        <p:nvSpPr>
          <p:cNvPr id="8" name="Rectangle 7">
            <a:extLst>
              <a:ext uri="{FF2B5EF4-FFF2-40B4-BE49-F238E27FC236}">
                <a16:creationId xmlns:a16="http://schemas.microsoft.com/office/drawing/2014/main" id="{3F7DB313-7D01-4E83-A0F9-5D082699C136}"/>
              </a:ext>
            </a:extLst>
          </p:cNvPr>
          <p:cNvSpPr>
            <a:spLocks noGrp="1"/>
          </p:cNvSpPr>
          <p:nvPr/>
        </p:nvSpPr>
        <p:spPr>
          <a:xfrm>
            <a:off x="4572000" y="1695450"/>
            <a:ext cx="952500" cy="266700"/>
          </a:xfrm>
          <a:prstGeom prst="rect">
            <a:avLst/>
          </a:prstGeom>
          <a:noFill/>
          <a:ln w="0">
            <a:noFill/>
            <a:prstDash val="solid"/>
          </a:ln>
        </p:spPr>
        <p:txBody>
          <a:bodyPr/>
          <a:lstStyle/>
          <a:p>
            <a:pPr algn="l">
              <a:buNone/>
              <a:defRPr sz="1575" b="1">
                <a:solidFill>
                  <a:srgbClr val="DC2626"/>
                </a:solidFill>
              </a:defRPr>
            </a:pPr>
            <a:r>
              <a:rPr sz="1575" b="1">
                <a:solidFill>
                  <a:srgbClr val="DC2626"/>
                </a:solidFill>
              </a:rPr>
              <a:t>FAIL</a:t>
            </a:r>
          </a:p>
        </p:txBody>
      </p:sp>
      <p:sp>
        <p:nvSpPr>
          <p:cNvPr id="9" name="Rectangle 8">
            <a:extLst>
              <a:ext uri="{FF2B5EF4-FFF2-40B4-BE49-F238E27FC236}">
                <a16:creationId xmlns:a16="http://schemas.microsoft.com/office/drawing/2014/main" id="{B33BAC00-D847-4B70-8223-18E0729661D2}"/>
              </a:ext>
            </a:extLst>
          </p:cNvPr>
          <p:cNvSpPr>
            <a:spLocks noGrp="1"/>
          </p:cNvSpPr>
          <p:nvPr/>
        </p:nvSpPr>
        <p:spPr>
          <a:xfrm>
            <a:off x="6000750" y="1695450"/>
            <a:ext cx="4381500" cy="266700"/>
          </a:xfrm>
          <a:prstGeom prst="rect">
            <a:avLst/>
          </a:prstGeom>
          <a:noFill/>
          <a:ln w="0">
            <a:noFill/>
            <a:prstDash val="solid"/>
          </a:ln>
        </p:spPr>
        <p:txBody>
          <a:bodyPr/>
          <a:lstStyle/>
          <a:p>
            <a:pPr algn="l">
              <a:buNone/>
              <a:defRPr sz="1500" b="0">
                <a:solidFill>
                  <a:srgbClr val="45556C"/>
                </a:solidFill>
              </a:defRPr>
            </a:pPr>
            <a:r>
              <a:rPr sz="1500" b="0">
                <a:solidFill>
                  <a:srgbClr val="45556C"/>
                </a:solidFill>
              </a:rPr>
              <a:t>compile/package lỗi</a:t>
            </a:r>
          </a:p>
        </p:txBody>
      </p:sp>
      <p:sp>
        <p:nvSpPr>
          <p:cNvPr id="10" name="Rectangle: Rounded Corners 9">
            <a:extLst>
              <a:ext uri="{FF2B5EF4-FFF2-40B4-BE49-F238E27FC236}">
                <a16:creationId xmlns:a16="http://schemas.microsoft.com/office/drawing/2014/main" id="{4A3EC653-31B1-4C86-8033-1F8226EC15E4}"/>
              </a:ext>
            </a:extLst>
          </p:cNvPr>
          <p:cNvSpPr>
            <a:spLocks noGrp="1"/>
          </p:cNvSpPr>
          <p:nvPr/>
        </p:nvSpPr>
        <p:spPr>
          <a:xfrm>
            <a:off x="990600" y="2314575"/>
            <a:ext cx="9715500" cy="514350"/>
          </a:xfrm>
          <a:prstGeom prst="roundRect">
            <a:avLst>
              <a:gd name="adj" fmla="val 22222"/>
            </a:avLst>
          </a:prstGeom>
          <a:solidFill>
            <a:srgbClr val="FFFFFF"/>
          </a:solidFill>
          <a:ln w="9525">
            <a:solidFill>
              <a:srgbClr val="E2E8F0"/>
            </a:solidFill>
            <a:prstDash val="solid"/>
          </a:ln>
        </p:spPr>
      </p:sp>
      <p:sp>
        <p:nvSpPr>
          <p:cNvPr id="11" name="Rectangle 10">
            <a:extLst>
              <a:ext uri="{FF2B5EF4-FFF2-40B4-BE49-F238E27FC236}">
                <a16:creationId xmlns:a16="http://schemas.microsoft.com/office/drawing/2014/main" id="{DD3D2037-023A-45A6-8CDE-E0BDDBA95C43}"/>
              </a:ext>
            </a:extLst>
          </p:cNvPr>
          <p:cNvSpPr>
            <a:spLocks noGrp="1"/>
          </p:cNvSpPr>
          <p:nvPr/>
        </p:nvSpPr>
        <p:spPr>
          <a:xfrm>
            <a:off x="1238250" y="2438400"/>
            <a:ext cx="2952750" cy="266700"/>
          </a:xfrm>
          <a:prstGeom prst="rect">
            <a:avLst/>
          </a:prstGeom>
          <a:noFill/>
          <a:ln w="0">
            <a:noFill/>
            <a:prstDash val="solid"/>
          </a:ln>
        </p:spPr>
        <p:txBody>
          <a:bodyPr/>
          <a:lstStyle/>
          <a:p>
            <a:pPr algn="l">
              <a:buNone/>
              <a:defRPr sz="1575" b="1">
                <a:solidFill>
                  <a:srgbClr val="020618"/>
                </a:solidFill>
              </a:defRPr>
            </a:pPr>
            <a:r>
              <a:rPr sz="1575" b="1">
                <a:solidFill>
                  <a:srgbClr val="020618"/>
                </a:solidFill>
              </a:rPr>
              <a:t>backend package</a:t>
            </a:r>
          </a:p>
        </p:txBody>
      </p:sp>
      <p:sp>
        <p:nvSpPr>
          <p:cNvPr id="12" name="Rectangle 11">
            <a:extLst>
              <a:ext uri="{FF2B5EF4-FFF2-40B4-BE49-F238E27FC236}">
                <a16:creationId xmlns:a16="http://schemas.microsoft.com/office/drawing/2014/main" id="{1912BDCF-C4E2-43DF-8850-386225646D89}"/>
              </a:ext>
            </a:extLst>
          </p:cNvPr>
          <p:cNvSpPr>
            <a:spLocks noGrp="1"/>
          </p:cNvSpPr>
          <p:nvPr/>
        </p:nvSpPr>
        <p:spPr>
          <a:xfrm>
            <a:off x="4572000" y="2438400"/>
            <a:ext cx="952500" cy="266700"/>
          </a:xfrm>
          <a:prstGeom prst="rect">
            <a:avLst/>
          </a:prstGeom>
          <a:noFill/>
          <a:ln w="0">
            <a:noFill/>
            <a:prstDash val="solid"/>
          </a:ln>
        </p:spPr>
        <p:txBody>
          <a:bodyPr/>
          <a:lstStyle/>
          <a:p>
            <a:pPr algn="l">
              <a:buNone/>
              <a:defRPr sz="1575" b="1">
                <a:solidFill>
                  <a:srgbClr val="DC2626"/>
                </a:solidFill>
              </a:defRPr>
            </a:pPr>
            <a:r>
              <a:rPr sz="1575" b="1">
                <a:solidFill>
                  <a:srgbClr val="DC2626"/>
                </a:solidFill>
              </a:rPr>
              <a:t>FAIL</a:t>
            </a:r>
          </a:p>
        </p:txBody>
      </p:sp>
      <p:sp>
        <p:nvSpPr>
          <p:cNvPr id="13" name="Rectangle 12">
            <a:extLst>
              <a:ext uri="{FF2B5EF4-FFF2-40B4-BE49-F238E27FC236}">
                <a16:creationId xmlns:a16="http://schemas.microsoft.com/office/drawing/2014/main" id="{79202BBF-BB26-480D-8224-202FD60AD1B1}"/>
              </a:ext>
            </a:extLst>
          </p:cNvPr>
          <p:cNvSpPr>
            <a:spLocks noGrp="1"/>
          </p:cNvSpPr>
          <p:nvPr/>
        </p:nvSpPr>
        <p:spPr>
          <a:xfrm>
            <a:off x="6000750" y="2438400"/>
            <a:ext cx="4381500" cy="266700"/>
          </a:xfrm>
          <a:prstGeom prst="rect">
            <a:avLst/>
          </a:prstGeom>
          <a:noFill/>
          <a:ln w="0">
            <a:noFill/>
            <a:prstDash val="solid"/>
          </a:ln>
        </p:spPr>
        <p:txBody>
          <a:bodyPr/>
          <a:lstStyle/>
          <a:p>
            <a:pPr algn="l">
              <a:buNone/>
              <a:defRPr sz="1500" b="0">
                <a:solidFill>
                  <a:srgbClr val="45556C"/>
                </a:solidFill>
              </a:defRPr>
            </a:pPr>
            <a:r>
              <a:rPr sz="1500" b="0">
                <a:solidFill>
                  <a:srgbClr val="45556C"/>
                </a:solidFill>
              </a:rPr>
              <a:t>cùng nhóm lỗi Java</a:t>
            </a:r>
          </a:p>
        </p:txBody>
      </p:sp>
      <p:sp>
        <p:nvSpPr>
          <p:cNvPr id="14" name="Rectangle: Rounded Corners 13">
            <a:extLst>
              <a:ext uri="{FF2B5EF4-FFF2-40B4-BE49-F238E27FC236}">
                <a16:creationId xmlns:a16="http://schemas.microsoft.com/office/drawing/2014/main" id="{DDB00601-8B8F-4BC4-AE81-3D3428EFC41F}"/>
              </a:ext>
            </a:extLst>
          </p:cNvPr>
          <p:cNvSpPr>
            <a:spLocks noGrp="1"/>
          </p:cNvSpPr>
          <p:nvPr/>
        </p:nvSpPr>
        <p:spPr>
          <a:xfrm>
            <a:off x="990600" y="3057525"/>
            <a:ext cx="9715500" cy="514350"/>
          </a:xfrm>
          <a:prstGeom prst="roundRect">
            <a:avLst>
              <a:gd name="adj" fmla="val 22222"/>
            </a:avLst>
          </a:prstGeom>
          <a:solidFill>
            <a:srgbClr val="FFFFFF"/>
          </a:solidFill>
          <a:ln w="9525">
            <a:solidFill>
              <a:srgbClr val="E2E8F0"/>
            </a:solidFill>
            <a:prstDash val="solid"/>
          </a:ln>
        </p:spPr>
      </p:sp>
      <p:sp>
        <p:nvSpPr>
          <p:cNvPr id="15" name="Rectangle 14">
            <a:extLst>
              <a:ext uri="{FF2B5EF4-FFF2-40B4-BE49-F238E27FC236}">
                <a16:creationId xmlns:a16="http://schemas.microsoft.com/office/drawing/2014/main" id="{AE15DBFD-0702-4DAB-B028-051377C6DF9E}"/>
              </a:ext>
            </a:extLst>
          </p:cNvPr>
          <p:cNvSpPr>
            <a:spLocks noGrp="1"/>
          </p:cNvSpPr>
          <p:nvPr/>
        </p:nvSpPr>
        <p:spPr>
          <a:xfrm>
            <a:off x="1238250" y="3181350"/>
            <a:ext cx="2952750" cy="266700"/>
          </a:xfrm>
          <a:prstGeom prst="rect">
            <a:avLst/>
          </a:prstGeom>
          <a:noFill/>
          <a:ln w="0">
            <a:noFill/>
            <a:prstDash val="solid"/>
          </a:ln>
        </p:spPr>
        <p:txBody>
          <a:bodyPr/>
          <a:lstStyle/>
          <a:p>
            <a:pPr algn="l">
              <a:buNone/>
              <a:defRPr sz="1575" b="1">
                <a:solidFill>
                  <a:srgbClr val="020618"/>
                </a:solidFill>
              </a:defRPr>
            </a:pPr>
            <a:r>
              <a:rPr sz="1575" b="1">
                <a:solidFill>
                  <a:srgbClr val="020618"/>
                </a:solidFill>
              </a:rPr>
              <a:t>frontend typecheck</a:t>
            </a:r>
          </a:p>
        </p:txBody>
      </p:sp>
      <p:sp>
        <p:nvSpPr>
          <p:cNvPr id="16" name="Rectangle 15">
            <a:extLst>
              <a:ext uri="{FF2B5EF4-FFF2-40B4-BE49-F238E27FC236}">
                <a16:creationId xmlns:a16="http://schemas.microsoft.com/office/drawing/2014/main" id="{A2FAB438-0829-4F96-8F9F-357155DE789E}"/>
              </a:ext>
            </a:extLst>
          </p:cNvPr>
          <p:cNvSpPr>
            <a:spLocks noGrp="1"/>
          </p:cNvSpPr>
          <p:nvPr/>
        </p:nvSpPr>
        <p:spPr>
          <a:xfrm>
            <a:off x="4572000" y="3181350"/>
            <a:ext cx="952500" cy="266700"/>
          </a:xfrm>
          <a:prstGeom prst="rect">
            <a:avLst/>
          </a:prstGeom>
          <a:noFill/>
          <a:ln w="0">
            <a:noFill/>
            <a:prstDash val="solid"/>
          </a:ln>
        </p:spPr>
        <p:txBody>
          <a:bodyPr/>
          <a:lstStyle/>
          <a:p>
            <a:pPr algn="l">
              <a:buNone/>
              <a:defRPr sz="1575" b="1">
                <a:solidFill>
                  <a:srgbClr val="DC2626"/>
                </a:solidFill>
              </a:defRPr>
            </a:pPr>
            <a:r>
              <a:rPr sz="1575" b="1">
                <a:solidFill>
                  <a:srgbClr val="DC2626"/>
                </a:solidFill>
              </a:rPr>
              <a:t>FAIL</a:t>
            </a:r>
          </a:p>
        </p:txBody>
      </p:sp>
      <p:sp>
        <p:nvSpPr>
          <p:cNvPr id="17" name="Rectangle 16">
            <a:extLst>
              <a:ext uri="{FF2B5EF4-FFF2-40B4-BE49-F238E27FC236}">
                <a16:creationId xmlns:a16="http://schemas.microsoft.com/office/drawing/2014/main" id="{1AFDE4B5-2DAF-49AE-B5B5-84E9870AC366}"/>
              </a:ext>
            </a:extLst>
          </p:cNvPr>
          <p:cNvSpPr>
            <a:spLocks noGrp="1"/>
          </p:cNvSpPr>
          <p:nvPr/>
        </p:nvSpPr>
        <p:spPr>
          <a:xfrm>
            <a:off x="6000750" y="3181350"/>
            <a:ext cx="4381500" cy="266700"/>
          </a:xfrm>
          <a:prstGeom prst="rect">
            <a:avLst/>
          </a:prstGeom>
          <a:noFill/>
          <a:ln w="0">
            <a:noFill/>
            <a:prstDash val="solid"/>
          </a:ln>
        </p:spPr>
        <p:txBody>
          <a:bodyPr/>
          <a:lstStyle/>
          <a:p>
            <a:pPr algn="l">
              <a:buNone/>
              <a:defRPr sz="1500" b="0">
                <a:solidFill>
                  <a:srgbClr val="45556C"/>
                </a:solidFill>
              </a:defRPr>
            </a:pPr>
            <a:r>
              <a:rPr sz="1500" b="0">
                <a:solidFill>
                  <a:srgbClr val="45556C"/>
                </a:solidFill>
              </a:rPr>
              <a:t>API/type mismatch</a:t>
            </a:r>
          </a:p>
        </p:txBody>
      </p:sp>
      <p:sp>
        <p:nvSpPr>
          <p:cNvPr id="18" name="Rectangle: Rounded Corners 17">
            <a:extLst>
              <a:ext uri="{FF2B5EF4-FFF2-40B4-BE49-F238E27FC236}">
                <a16:creationId xmlns:a16="http://schemas.microsoft.com/office/drawing/2014/main" id="{2229CCBB-5028-4977-B1C3-861F4665D055}"/>
              </a:ext>
            </a:extLst>
          </p:cNvPr>
          <p:cNvSpPr>
            <a:spLocks noGrp="1"/>
          </p:cNvSpPr>
          <p:nvPr/>
        </p:nvSpPr>
        <p:spPr>
          <a:xfrm>
            <a:off x="990600" y="3800475"/>
            <a:ext cx="9715500" cy="514350"/>
          </a:xfrm>
          <a:prstGeom prst="roundRect">
            <a:avLst>
              <a:gd name="adj" fmla="val 22222"/>
            </a:avLst>
          </a:prstGeom>
          <a:solidFill>
            <a:srgbClr val="FFFFFF"/>
          </a:solidFill>
          <a:ln w="9525">
            <a:solidFill>
              <a:srgbClr val="E2E8F0"/>
            </a:solidFill>
            <a:prstDash val="solid"/>
          </a:ln>
        </p:spPr>
      </p:sp>
      <p:sp>
        <p:nvSpPr>
          <p:cNvPr id="19" name="Rectangle 18">
            <a:extLst>
              <a:ext uri="{FF2B5EF4-FFF2-40B4-BE49-F238E27FC236}">
                <a16:creationId xmlns:a16="http://schemas.microsoft.com/office/drawing/2014/main" id="{6DAB9ECE-2849-4657-81C9-3A5252B46606}"/>
              </a:ext>
            </a:extLst>
          </p:cNvPr>
          <p:cNvSpPr>
            <a:spLocks noGrp="1"/>
          </p:cNvSpPr>
          <p:nvPr/>
        </p:nvSpPr>
        <p:spPr>
          <a:xfrm>
            <a:off x="1238250" y="3924300"/>
            <a:ext cx="2952750" cy="266700"/>
          </a:xfrm>
          <a:prstGeom prst="rect">
            <a:avLst/>
          </a:prstGeom>
          <a:noFill/>
          <a:ln w="0">
            <a:noFill/>
            <a:prstDash val="solid"/>
          </a:ln>
        </p:spPr>
        <p:txBody>
          <a:bodyPr/>
          <a:lstStyle/>
          <a:p>
            <a:pPr algn="l">
              <a:buNone/>
              <a:defRPr sz="1575" b="1">
                <a:solidFill>
                  <a:srgbClr val="020618"/>
                </a:solidFill>
              </a:defRPr>
            </a:pPr>
            <a:r>
              <a:rPr sz="1575" b="1">
                <a:solidFill>
                  <a:srgbClr val="020618"/>
                </a:solidFill>
              </a:rPr>
              <a:t>frontend build</a:t>
            </a:r>
          </a:p>
        </p:txBody>
      </p:sp>
      <p:sp>
        <p:nvSpPr>
          <p:cNvPr id="20" name="Rectangle 19">
            <a:extLst>
              <a:ext uri="{FF2B5EF4-FFF2-40B4-BE49-F238E27FC236}">
                <a16:creationId xmlns:a16="http://schemas.microsoft.com/office/drawing/2014/main" id="{102C81BE-2049-4286-8D6B-DAE0A5EAB129}"/>
              </a:ext>
            </a:extLst>
          </p:cNvPr>
          <p:cNvSpPr>
            <a:spLocks noGrp="1"/>
          </p:cNvSpPr>
          <p:nvPr/>
        </p:nvSpPr>
        <p:spPr>
          <a:xfrm>
            <a:off x="4572000" y="3924300"/>
            <a:ext cx="952500" cy="266700"/>
          </a:xfrm>
          <a:prstGeom prst="rect">
            <a:avLst/>
          </a:prstGeom>
          <a:noFill/>
          <a:ln w="0">
            <a:noFill/>
            <a:prstDash val="solid"/>
          </a:ln>
        </p:spPr>
        <p:txBody>
          <a:bodyPr/>
          <a:lstStyle/>
          <a:p>
            <a:pPr algn="l">
              <a:buNone/>
              <a:defRPr sz="1575" b="1">
                <a:solidFill>
                  <a:srgbClr val="DC2626"/>
                </a:solidFill>
              </a:defRPr>
            </a:pPr>
            <a:r>
              <a:rPr sz="1575" b="1">
                <a:solidFill>
                  <a:srgbClr val="DC2626"/>
                </a:solidFill>
              </a:rPr>
              <a:t>FAIL</a:t>
            </a:r>
          </a:p>
        </p:txBody>
      </p:sp>
      <p:sp>
        <p:nvSpPr>
          <p:cNvPr id="21" name="Rectangle 20">
            <a:extLst>
              <a:ext uri="{FF2B5EF4-FFF2-40B4-BE49-F238E27FC236}">
                <a16:creationId xmlns:a16="http://schemas.microsoft.com/office/drawing/2014/main" id="{8DA48883-B99A-4E9B-AAF9-C0194E0B161D}"/>
              </a:ext>
            </a:extLst>
          </p:cNvPr>
          <p:cNvSpPr>
            <a:spLocks noGrp="1"/>
          </p:cNvSpPr>
          <p:nvPr/>
        </p:nvSpPr>
        <p:spPr>
          <a:xfrm>
            <a:off x="6000750" y="3924300"/>
            <a:ext cx="4381500" cy="266700"/>
          </a:xfrm>
          <a:prstGeom prst="rect">
            <a:avLst/>
          </a:prstGeom>
          <a:noFill/>
          <a:ln w="0">
            <a:noFill/>
            <a:prstDash val="solid"/>
          </a:ln>
        </p:spPr>
        <p:txBody>
          <a:bodyPr/>
          <a:lstStyle/>
          <a:p>
            <a:pPr algn="l">
              <a:buNone/>
              <a:defRPr sz="1500" b="0">
                <a:solidFill>
                  <a:srgbClr val="45556C"/>
                </a:solidFill>
              </a:defRPr>
            </a:pPr>
            <a:r>
              <a:rPr sz="1500" b="0">
                <a:solidFill>
                  <a:srgbClr val="45556C"/>
                </a:solidFill>
              </a:rPr>
              <a:t>import helper lỗi</a:t>
            </a:r>
          </a:p>
        </p:txBody>
      </p:sp>
      <p:sp>
        <p:nvSpPr>
          <p:cNvPr id="22" name="Rectangle: Rounded Corners 21">
            <a:extLst>
              <a:ext uri="{FF2B5EF4-FFF2-40B4-BE49-F238E27FC236}">
                <a16:creationId xmlns:a16="http://schemas.microsoft.com/office/drawing/2014/main" id="{E74338E8-EE49-480A-AB97-246BDAB71EFC}"/>
              </a:ext>
            </a:extLst>
          </p:cNvPr>
          <p:cNvSpPr>
            <a:spLocks noGrp="1"/>
          </p:cNvSpPr>
          <p:nvPr/>
        </p:nvSpPr>
        <p:spPr>
          <a:xfrm>
            <a:off x="990600" y="4543425"/>
            <a:ext cx="9715500" cy="514350"/>
          </a:xfrm>
          <a:prstGeom prst="roundRect">
            <a:avLst>
              <a:gd name="adj" fmla="val 22222"/>
            </a:avLst>
          </a:prstGeom>
          <a:solidFill>
            <a:srgbClr val="FFFFFF"/>
          </a:solidFill>
          <a:ln w="9525">
            <a:solidFill>
              <a:srgbClr val="E2E8F0"/>
            </a:solidFill>
            <a:prstDash val="solid"/>
          </a:ln>
        </p:spPr>
      </p:sp>
      <p:sp>
        <p:nvSpPr>
          <p:cNvPr id="23" name="Rectangle 22">
            <a:extLst>
              <a:ext uri="{FF2B5EF4-FFF2-40B4-BE49-F238E27FC236}">
                <a16:creationId xmlns:a16="http://schemas.microsoft.com/office/drawing/2014/main" id="{BE8390BB-F7A5-4831-A4E4-8360EBD17949}"/>
              </a:ext>
            </a:extLst>
          </p:cNvPr>
          <p:cNvSpPr>
            <a:spLocks noGrp="1"/>
          </p:cNvSpPr>
          <p:nvPr/>
        </p:nvSpPr>
        <p:spPr>
          <a:xfrm>
            <a:off x="1238250" y="4667250"/>
            <a:ext cx="2952750" cy="266700"/>
          </a:xfrm>
          <a:prstGeom prst="rect">
            <a:avLst/>
          </a:prstGeom>
          <a:noFill/>
          <a:ln w="0">
            <a:noFill/>
            <a:prstDash val="solid"/>
          </a:ln>
        </p:spPr>
        <p:txBody>
          <a:bodyPr/>
          <a:lstStyle/>
          <a:p>
            <a:pPr algn="l">
              <a:buNone/>
              <a:defRPr sz="1575" b="1">
                <a:solidFill>
                  <a:srgbClr val="020618"/>
                </a:solidFill>
              </a:defRPr>
            </a:pPr>
            <a:r>
              <a:rPr sz="1575" b="1">
                <a:solidFill>
                  <a:srgbClr val="020618"/>
                </a:solidFill>
              </a:rPr>
              <a:t>script tổng hợp</a:t>
            </a:r>
          </a:p>
        </p:txBody>
      </p:sp>
      <p:sp>
        <p:nvSpPr>
          <p:cNvPr id="24" name="Rectangle 23">
            <a:extLst>
              <a:ext uri="{FF2B5EF4-FFF2-40B4-BE49-F238E27FC236}">
                <a16:creationId xmlns:a16="http://schemas.microsoft.com/office/drawing/2014/main" id="{20C7E2C5-D0FD-4124-B97B-55E3EBC61F5F}"/>
              </a:ext>
            </a:extLst>
          </p:cNvPr>
          <p:cNvSpPr>
            <a:spLocks noGrp="1"/>
          </p:cNvSpPr>
          <p:nvPr/>
        </p:nvSpPr>
        <p:spPr>
          <a:xfrm>
            <a:off x="4572000" y="4667250"/>
            <a:ext cx="952500" cy="266700"/>
          </a:xfrm>
          <a:prstGeom prst="rect">
            <a:avLst/>
          </a:prstGeom>
          <a:noFill/>
          <a:ln w="0">
            <a:noFill/>
            <a:prstDash val="solid"/>
          </a:ln>
        </p:spPr>
        <p:txBody>
          <a:bodyPr/>
          <a:lstStyle/>
          <a:p>
            <a:pPr algn="l">
              <a:buNone/>
              <a:defRPr sz="1575" b="1">
                <a:solidFill>
                  <a:srgbClr val="DC2626"/>
                </a:solidFill>
              </a:defRPr>
            </a:pPr>
            <a:r>
              <a:rPr sz="1575" b="1">
                <a:solidFill>
                  <a:srgbClr val="DC2626"/>
                </a:solidFill>
              </a:rPr>
              <a:t>FAIL</a:t>
            </a:r>
          </a:p>
        </p:txBody>
      </p:sp>
      <p:sp>
        <p:nvSpPr>
          <p:cNvPr id="25" name="Rectangle 24">
            <a:extLst>
              <a:ext uri="{FF2B5EF4-FFF2-40B4-BE49-F238E27FC236}">
                <a16:creationId xmlns:a16="http://schemas.microsoft.com/office/drawing/2014/main" id="{0EF2DAB4-15DF-4D9B-A6D7-73AE488200B2}"/>
              </a:ext>
            </a:extLst>
          </p:cNvPr>
          <p:cNvSpPr>
            <a:spLocks noGrp="1"/>
          </p:cNvSpPr>
          <p:nvPr/>
        </p:nvSpPr>
        <p:spPr>
          <a:xfrm>
            <a:off x="6000750" y="4667250"/>
            <a:ext cx="4381500" cy="266700"/>
          </a:xfrm>
          <a:prstGeom prst="rect">
            <a:avLst/>
          </a:prstGeom>
          <a:noFill/>
          <a:ln w="0">
            <a:noFill/>
            <a:prstDash val="solid"/>
          </a:ln>
        </p:spPr>
        <p:txBody>
          <a:bodyPr/>
          <a:lstStyle/>
          <a:p>
            <a:pPr algn="l">
              <a:buNone/>
              <a:defRPr sz="1500" b="0">
                <a:solidFill>
                  <a:srgbClr val="45556C"/>
                </a:solidFill>
              </a:defRPr>
            </a:pPr>
            <a:r>
              <a:rPr sz="1500" b="0">
                <a:solidFill>
                  <a:srgbClr val="45556C"/>
                </a:solidFill>
              </a:rPr>
              <a:t>dừng ở typecheck</a:t>
            </a:r>
          </a:p>
        </p:txBody>
      </p:sp>
    </p:spTree>
    <p:extLst>
      <p:ext uri="{BB962C8B-B14F-4D97-AF65-F5344CB8AC3E}">
        <p14:creationId xmlns:p14="http://schemas.microsoft.com/office/powerpoint/2010/main" val="1401337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95BE08D-2908-4EF4-AB0C-9C61391BE535}"/>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CB0B514C-FA30-4675-ACC8-5CAA184F59A9}"/>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Kết quả đạt được nằm ở thiết kế, dữ liệu và UI demo</a:t>
            </a:r>
          </a:p>
        </p:txBody>
      </p:sp>
      <p:sp>
        <p:nvSpPr>
          <p:cNvPr id="3" name="Straight Connector 2">
            <a:extLst>
              <a:ext uri="{FF2B5EF4-FFF2-40B4-BE49-F238E27FC236}">
                <a16:creationId xmlns:a16="http://schemas.microsoft.com/office/drawing/2014/main" id="{F3C1FE0E-9713-43AB-90D5-C9788F222A9A}"/>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172380E0-1492-4A2A-AD29-18D989490DAA}"/>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C92064E4-0293-450F-A1AF-73FAC90DD554}"/>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17</a:t>
            </a:r>
          </a:p>
        </p:txBody>
      </p:sp>
      <p:sp>
        <p:nvSpPr>
          <p:cNvPr id="6" name="Rectangle 5">
            <a:extLst>
              <a:ext uri="{FF2B5EF4-FFF2-40B4-BE49-F238E27FC236}">
                <a16:creationId xmlns:a16="http://schemas.microsoft.com/office/drawing/2014/main" id="{8C1B670D-FD66-4BCA-8A97-6B4EC8EE67F8}"/>
              </a:ext>
            </a:extLst>
          </p:cNvPr>
          <p:cNvSpPr>
            <a:spLocks noGrp="1"/>
          </p:cNvSpPr>
          <p:nvPr/>
        </p:nvSpPr>
        <p:spPr>
          <a:xfrm>
            <a:off x="1047750" y="1657350"/>
            <a:ext cx="228600" cy="285750"/>
          </a:xfrm>
          <a:prstGeom prst="rect">
            <a:avLst/>
          </a:prstGeom>
          <a:noFill/>
          <a:ln w="0">
            <a:noFill/>
            <a:prstDash val="solid"/>
          </a:ln>
        </p:spPr>
        <p:txBody>
          <a:bodyPr/>
          <a:lstStyle/>
          <a:p>
            <a:pPr algn="l">
              <a:buNone/>
              <a:defRPr sz="1875" b="1">
                <a:solidFill>
                  <a:srgbClr val="0B5FFF"/>
                </a:solidFill>
              </a:defRPr>
            </a:pPr>
            <a:r>
              <a:rPr sz="1875" b="1">
                <a:solidFill>
                  <a:srgbClr val="0B5FFF"/>
                </a:solidFill>
              </a:rPr>
              <a:t>•</a:t>
            </a:r>
          </a:p>
        </p:txBody>
      </p:sp>
      <p:sp>
        <p:nvSpPr>
          <p:cNvPr id="7" name="Rectangle 6">
            <a:extLst>
              <a:ext uri="{FF2B5EF4-FFF2-40B4-BE49-F238E27FC236}">
                <a16:creationId xmlns:a16="http://schemas.microsoft.com/office/drawing/2014/main" id="{ACC386FE-D270-4525-870E-0970E430E1CF}"/>
              </a:ext>
            </a:extLst>
          </p:cNvPr>
          <p:cNvSpPr>
            <a:spLocks noGrp="1"/>
          </p:cNvSpPr>
          <p:nvPr/>
        </p:nvSpPr>
        <p:spPr>
          <a:xfrm>
            <a:off x="1352550" y="1647825"/>
            <a:ext cx="9220200" cy="590550"/>
          </a:xfrm>
          <a:prstGeom prst="rect">
            <a:avLst/>
          </a:prstGeom>
          <a:noFill/>
          <a:ln w="0">
            <a:noFill/>
            <a:prstDash val="solid"/>
          </a:ln>
        </p:spPr>
        <p:txBody>
          <a:bodyPr/>
          <a:lstStyle/>
          <a:p>
            <a:pPr algn="l">
              <a:buNone/>
              <a:defRPr sz="1875" b="0">
                <a:solidFill>
                  <a:srgbClr val="020618"/>
                </a:solidFill>
              </a:defRPr>
            </a:pPr>
            <a:r>
              <a:rPr sz="1875" b="0">
                <a:solidFill>
                  <a:srgbClr val="020618"/>
                </a:solidFill>
              </a:rPr>
              <a:t>Đã có mô hình domain và luồng nhiều lớp phù hợp OOP.</a:t>
            </a:r>
          </a:p>
        </p:txBody>
      </p:sp>
      <p:sp>
        <p:nvSpPr>
          <p:cNvPr id="8" name="Rectangle 7">
            <a:extLst>
              <a:ext uri="{FF2B5EF4-FFF2-40B4-BE49-F238E27FC236}">
                <a16:creationId xmlns:a16="http://schemas.microsoft.com/office/drawing/2014/main" id="{20C67434-0945-488B-9B91-A5C4DD765495}"/>
              </a:ext>
            </a:extLst>
          </p:cNvPr>
          <p:cNvSpPr>
            <a:spLocks noGrp="1"/>
          </p:cNvSpPr>
          <p:nvPr/>
        </p:nvSpPr>
        <p:spPr>
          <a:xfrm>
            <a:off x="1047750" y="2247900"/>
            <a:ext cx="228600" cy="285750"/>
          </a:xfrm>
          <a:prstGeom prst="rect">
            <a:avLst/>
          </a:prstGeom>
          <a:noFill/>
          <a:ln w="0">
            <a:noFill/>
            <a:prstDash val="solid"/>
          </a:ln>
        </p:spPr>
        <p:txBody>
          <a:bodyPr/>
          <a:lstStyle/>
          <a:p>
            <a:pPr algn="l">
              <a:buNone/>
              <a:defRPr sz="1875" b="1">
                <a:solidFill>
                  <a:srgbClr val="0B5FFF"/>
                </a:solidFill>
              </a:defRPr>
            </a:pPr>
            <a:r>
              <a:rPr sz="1875" b="1">
                <a:solidFill>
                  <a:srgbClr val="0B5FFF"/>
                </a:solidFill>
              </a:rPr>
              <a:t>•</a:t>
            </a:r>
          </a:p>
        </p:txBody>
      </p:sp>
      <p:sp>
        <p:nvSpPr>
          <p:cNvPr id="9" name="Rectangle 8">
            <a:extLst>
              <a:ext uri="{FF2B5EF4-FFF2-40B4-BE49-F238E27FC236}">
                <a16:creationId xmlns:a16="http://schemas.microsoft.com/office/drawing/2014/main" id="{A277336B-B796-4BDD-A4F5-25F7C1F38209}"/>
              </a:ext>
            </a:extLst>
          </p:cNvPr>
          <p:cNvSpPr>
            <a:spLocks noGrp="1"/>
          </p:cNvSpPr>
          <p:nvPr/>
        </p:nvSpPr>
        <p:spPr>
          <a:xfrm>
            <a:off x="1352550" y="2238375"/>
            <a:ext cx="9220200" cy="590550"/>
          </a:xfrm>
          <a:prstGeom prst="rect">
            <a:avLst/>
          </a:prstGeom>
          <a:noFill/>
          <a:ln w="0">
            <a:noFill/>
            <a:prstDash val="solid"/>
          </a:ln>
        </p:spPr>
        <p:txBody>
          <a:bodyPr/>
          <a:lstStyle/>
          <a:p>
            <a:pPr algn="l">
              <a:buNone/>
              <a:defRPr sz="1875" b="0">
                <a:solidFill>
                  <a:srgbClr val="020618"/>
                </a:solidFill>
              </a:defRPr>
            </a:pPr>
            <a:r>
              <a:rPr sz="1875" b="0">
                <a:solidFill>
                  <a:srgbClr val="020618"/>
                </a:solidFill>
              </a:rPr>
              <a:t>Có bộ dữ liệu JSON đủ để minh họa sinh viên, giảng viên, học phần và đăng ký.</a:t>
            </a:r>
          </a:p>
        </p:txBody>
      </p:sp>
      <p:sp>
        <p:nvSpPr>
          <p:cNvPr id="10" name="Rectangle 9">
            <a:extLst>
              <a:ext uri="{FF2B5EF4-FFF2-40B4-BE49-F238E27FC236}">
                <a16:creationId xmlns:a16="http://schemas.microsoft.com/office/drawing/2014/main" id="{968C28C6-8B89-4016-A6CC-03AB76F8304B}"/>
              </a:ext>
            </a:extLst>
          </p:cNvPr>
          <p:cNvSpPr>
            <a:spLocks noGrp="1"/>
          </p:cNvSpPr>
          <p:nvPr/>
        </p:nvSpPr>
        <p:spPr>
          <a:xfrm>
            <a:off x="1047750" y="2838450"/>
            <a:ext cx="228600" cy="285750"/>
          </a:xfrm>
          <a:prstGeom prst="rect">
            <a:avLst/>
          </a:prstGeom>
          <a:noFill/>
          <a:ln w="0">
            <a:noFill/>
            <a:prstDash val="solid"/>
          </a:ln>
        </p:spPr>
        <p:txBody>
          <a:bodyPr/>
          <a:lstStyle/>
          <a:p>
            <a:pPr algn="l">
              <a:buNone/>
              <a:defRPr sz="1875" b="1">
                <a:solidFill>
                  <a:srgbClr val="0B5FFF"/>
                </a:solidFill>
              </a:defRPr>
            </a:pPr>
            <a:r>
              <a:rPr sz="1875" b="1">
                <a:solidFill>
                  <a:srgbClr val="0B5FFF"/>
                </a:solidFill>
              </a:rPr>
              <a:t>•</a:t>
            </a:r>
          </a:p>
        </p:txBody>
      </p:sp>
      <p:sp>
        <p:nvSpPr>
          <p:cNvPr id="11" name="Rectangle 10">
            <a:extLst>
              <a:ext uri="{FF2B5EF4-FFF2-40B4-BE49-F238E27FC236}">
                <a16:creationId xmlns:a16="http://schemas.microsoft.com/office/drawing/2014/main" id="{EA79D353-2C31-40AC-BAAD-5A93E0062FE1}"/>
              </a:ext>
            </a:extLst>
          </p:cNvPr>
          <p:cNvSpPr>
            <a:spLocks noGrp="1"/>
          </p:cNvSpPr>
          <p:nvPr/>
        </p:nvSpPr>
        <p:spPr>
          <a:xfrm>
            <a:off x="1352550" y="2828925"/>
            <a:ext cx="9220200" cy="590550"/>
          </a:xfrm>
          <a:prstGeom prst="rect">
            <a:avLst/>
          </a:prstGeom>
          <a:noFill/>
          <a:ln w="0">
            <a:noFill/>
            <a:prstDash val="solid"/>
          </a:ln>
        </p:spPr>
        <p:txBody>
          <a:bodyPr/>
          <a:lstStyle/>
          <a:p>
            <a:pPr algn="l">
              <a:buNone/>
              <a:defRPr sz="1875" b="0">
                <a:solidFill>
                  <a:srgbClr val="020618"/>
                </a:solidFill>
              </a:defRPr>
            </a:pPr>
            <a:r>
              <a:rPr sz="1875" b="0">
                <a:solidFill>
                  <a:srgbClr val="020618"/>
                </a:solidFill>
              </a:rPr>
              <a:t>Frontend thể hiện đủ các màn hình chính cho sinh viên.</a:t>
            </a:r>
          </a:p>
        </p:txBody>
      </p:sp>
      <p:sp>
        <p:nvSpPr>
          <p:cNvPr id="12" name="Rectangle 11">
            <a:extLst>
              <a:ext uri="{FF2B5EF4-FFF2-40B4-BE49-F238E27FC236}">
                <a16:creationId xmlns:a16="http://schemas.microsoft.com/office/drawing/2014/main" id="{79B118FD-49AF-4A88-B8D1-47442CD5EE1E}"/>
              </a:ext>
            </a:extLst>
          </p:cNvPr>
          <p:cNvSpPr>
            <a:spLocks noGrp="1"/>
          </p:cNvSpPr>
          <p:nvPr/>
        </p:nvSpPr>
        <p:spPr>
          <a:xfrm>
            <a:off x="1047750" y="3429000"/>
            <a:ext cx="228600" cy="285750"/>
          </a:xfrm>
          <a:prstGeom prst="rect">
            <a:avLst/>
          </a:prstGeom>
          <a:noFill/>
          <a:ln w="0">
            <a:noFill/>
            <a:prstDash val="solid"/>
          </a:ln>
        </p:spPr>
        <p:txBody>
          <a:bodyPr/>
          <a:lstStyle/>
          <a:p>
            <a:pPr algn="l">
              <a:buNone/>
              <a:defRPr sz="1875" b="1">
                <a:solidFill>
                  <a:srgbClr val="0B5FFF"/>
                </a:solidFill>
              </a:defRPr>
            </a:pPr>
            <a:r>
              <a:rPr sz="1875" b="1">
                <a:solidFill>
                  <a:srgbClr val="0B5FFF"/>
                </a:solidFill>
              </a:rPr>
              <a:t>•</a:t>
            </a:r>
          </a:p>
        </p:txBody>
      </p:sp>
      <p:sp>
        <p:nvSpPr>
          <p:cNvPr id="13" name="Rectangle 12">
            <a:extLst>
              <a:ext uri="{FF2B5EF4-FFF2-40B4-BE49-F238E27FC236}">
                <a16:creationId xmlns:a16="http://schemas.microsoft.com/office/drawing/2014/main" id="{99FB2345-6633-4440-8D1E-EE004D32B742}"/>
              </a:ext>
            </a:extLst>
          </p:cNvPr>
          <p:cNvSpPr>
            <a:spLocks noGrp="1"/>
          </p:cNvSpPr>
          <p:nvPr/>
        </p:nvSpPr>
        <p:spPr>
          <a:xfrm>
            <a:off x="1352550" y="3419475"/>
            <a:ext cx="9220200" cy="590550"/>
          </a:xfrm>
          <a:prstGeom prst="rect">
            <a:avLst/>
          </a:prstGeom>
          <a:noFill/>
          <a:ln w="0">
            <a:noFill/>
            <a:prstDash val="solid"/>
          </a:ln>
        </p:spPr>
        <p:txBody>
          <a:bodyPr/>
          <a:lstStyle/>
          <a:p>
            <a:pPr algn="l">
              <a:buNone/>
              <a:defRPr sz="1875" b="0">
                <a:solidFill>
                  <a:srgbClr val="020618"/>
                </a:solidFill>
              </a:defRPr>
            </a:pPr>
            <a:r>
              <a:rPr sz="1875" b="0">
                <a:solidFill>
                  <a:srgbClr val="020618"/>
                </a:solidFill>
              </a:rPr>
              <a:t>Các business rules đã được tách thành validator riêng.</a:t>
            </a:r>
          </a:p>
        </p:txBody>
      </p:sp>
      <p:sp>
        <p:nvSpPr>
          <p:cNvPr id="14" name="Rectangle 13">
            <a:extLst>
              <a:ext uri="{FF2B5EF4-FFF2-40B4-BE49-F238E27FC236}">
                <a16:creationId xmlns:a16="http://schemas.microsoft.com/office/drawing/2014/main" id="{82DB3C22-530E-4DE3-A1C2-17FA64748B58}"/>
              </a:ext>
            </a:extLst>
          </p:cNvPr>
          <p:cNvSpPr>
            <a:spLocks noGrp="1"/>
          </p:cNvSpPr>
          <p:nvPr/>
        </p:nvSpPr>
        <p:spPr>
          <a:xfrm>
            <a:off x="1047750" y="4019550"/>
            <a:ext cx="228600" cy="285750"/>
          </a:xfrm>
          <a:prstGeom prst="rect">
            <a:avLst/>
          </a:prstGeom>
          <a:noFill/>
          <a:ln w="0">
            <a:noFill/>
            <a:prstDash val="solid"/>
          </a:ln>
        </p:spPr>
        <p:txBody>
          <a:bodyPr/>
          <a:lstStyle/>
          <a:p>
            <a:pPr algn="l">
              <a:buNone/>
              <a:defRPr sz="1875" b="1">
                <a:solidFill>
                  <a:srgbClr val="0B5FFF"/>
                </a:solidFill>
              </a:defRPr>
            </a:pPr>
            <a:r>
              <a:rPr sz="1875" b="1">
                <a:solidFill>
                  <a:srgbClr val="0B5FFF"/>
                </a:solidFill>
              </a:rPr>
              <a:t>•</a:t>
            </a:r>
          </a:p>
        </p:txBody>
      </p:sp>
      <p:sp>
        <p:nvSpPr>
          <p:cNvPr id="15" name="Rectangle 14">
            <a:extLst>
              <a:ext uri="{FF2B5EF4-FFF2-40B4-BE49-F238E27FC236}">
                <a16:creationId xmlns:a16="http://schemas.microsoft.com/office/drawing/2014/main" id="{FBA47A55-662E-46BD-B906-7EF34B33474B}"/>
              </a:ext>
            </a:extLst>
          </p:cNvPr>
          <p:cNvSpPr>
            <a:spLocks noGrp="1"/>
          </p:cNvSpPr>
          <p:nvPr/>
        </p:nvSpPr>
        <p:spPr>
          <a:xfrm>
            <a:off x="1352550" y="4010025"/>
            <a:ext cx="9220200" cy="590550"/>
          </a:xfrm>
          <a:prstGeom prst="rect">
            <a:avLst/>
          </a:prstGeom>
          <a:noFill/>
          <a:ln w="0">
            <a:noFill/>
            <a:prstDash val="solid"/>
          </a:ln>
        </p:spPr>
        <p:txBody>
          <a:bodyPr/>
          <a:lstStyle/>
          <a:p>
            <a:pPr algn="l">
              <a:buNone/>
              <a:defRPr sz="1875" b="0">
                <a:solidFill>
                  <a:srgbClr val="020618"/>
                </a:solidFill>
              </a:defRPr>
            </a:pPr>
            <a:r>
              <a:rPr sz="1875" b="0">
                <a:solidFill>
                  <a:srgbClr val="020618"/>
                </a:solidFill>
              </a:rPr>
              <a:t>Việc còn lại: sửa tích hợp main để build/test pass trước demo cuối.</a:t>
            </a:r>
          </a:p>
        </p:txBody>
      </p:sp>
    </p:spTree>
    <p:extLst>
      <p:ext uri="{BB962C8B-B14F-4D97-AF65-F5344CB8AC3E}">
        <p14:creationId xmlns:p14="http://schemas.microsoft.com/office/powerpoint/2010/main" val="1489665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DD66B70-C9B9-4411-9E6D-A04160A01B20}"/>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9CEBE063-AFDD-4532-8B29-0C677D67980A}"/>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Hạn chế hiện tại cần được nói rõ</a:t>
            </a:r>
          </a:p>
        </p:txBody>
      </p:sp>
      <p:sp>
        <p:nvSpPr>
          <p:cNvPr id="3" name="Straight Connector 2">
            <a:extLst>
              <a:ext uri="{FF2B5EF4-FFF2-40B4-BE49-F238E27FC236}">
                <a16:creationId xmlns:a16="http://schemas.microsoft.com/office/drawing/2014/main" id="{5D0A5DA0-EA3D-4370-A7C7-87E1EA72B088}"/>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997AF585-B776-47F3-A6BD-7C2085A9FB3B}"/>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D77EE503-38A5-4872-87F9-8F8B013CF385}"/>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18</a:t>
            </a:r>
          </a:p>
        </p:txBody>
      </p:sp>
      <p:sp>
        <p:nvSpPr>
          <p:cNvPr id="6" name="Rectangle 5">
            <a:extLst>
              <a:ext uri="{FF2B5EF4-FFF2-40B4-BE49-F238E27FC236}">
                <a16:creationId xmlns:a16="http://schemas.microsoft.com/office/drawing/2014/main" id="{EABF0F6C-9FCE-4281-9A05-9B63806E6428}"/>
              </a:ext>
            </a:extLst>
          </p:cNvPr>
          <p:cNvSpPr>
            <a:spLocks noGrp="1"/>
          </p:cNvSpPr>
          <p:nvPr/>
        </p:nvSpPr>
        <p:spPr>
          <a:xfrm>
            <a:off x="1047750" y="1714500"/>
            <a:ext cx="228600" cy="285750"/>
          </a:xfrm>
          <a:prstGeom prst="rect">
            <a:avLst/>
          </a:prstGeom>
          <a:noFill/>
          <a:ln w="0">
            <a:noFill/>
            <a:prstDash val="solid"/>
          </a:ln>
        </p:spPr>
        <p:txBody>
          <a:bodyPr/>
          <a:lstStyle/>
          <a:p>
            <a:pPr algn="l">
              <a:buNone/>
              <a:defRPr sz="1950" b="1">
                <a:solidFill>
                  <a:srgbClr val="0B5FFF"/>
                </a:solidFill>
              </a:defRPr>
            </a:pPr>
            <a:r>
              <a:rPr sz="1950" b="1">
                <a:solidFill>
                  <a:srgbClr val="0B5FFF"/>
                </a:solidFill>
              </a:rPr>
              <a:t>•</a:t>
            </a:r>
          </a:p>
        </p:txBody>
      </p:sp>
      <p:sp>
        <p:nvSpPr>
          <p:cNvPr id="7" name="Rectangle 6">
            <a:extLst>
              <a:ext uri="{FF2B5EF4-FFF2-40B4-BE49-F238E27FC236}">
                <a16:creationId xmlns:a16="http://schemas.microsoft.com/office/drawing/2014/main" id="{46A1E377-4E4F-4036-B706-027C4573230C}"/>
              </a:ext>
            </a:extLst>
          </p:cNvPr>
          <p:cNvSpPr>
            <a:spLocks noGrp="1"/>
          </p:cNvSpPr>
          <p:nvPr/>
        </p:nvSpPr>
        <p:spPr>
          <a:xfrm>
            <a:off x="1352550" y="1704975"/>
            <a:ext cx="9220200" cy="609600"/>
          </a:xfrm>
          <a:prstGeom prst="rect">
            <a:avLst/>
          </a:prstGeom>
          <a:noFill/>
          <a:ln w="0">
            <a:noFill/>
            <a:prstDash val="solid"/>
          </a:ln>
        </p:spPr>
        <p:txBody>
          <a:bodyPr/>
          <a:lstStyle/>
          <a:p>
            <a:pPr algn="l">
              <a:buNone/>
              <a:defRPr sz="1950" b="0">
                <a:solidFill>
                  <a:srgbClr val="020618"/>
                </a:solidFill>
              </a:defRPr>
            </a:pPr>
            <a:r>
              <a:rPr sz="1950" b="0">
                <a:solidFill>
                  <a:srgbClr val="020618"/>
                </a:solidFill>
              </a:rPr>
              <a:t>Xác thực vẫn là demo, chưa có mật khẩu thật/JWT.</a:t>
            </a:r>
          </a:p>
        </p:txBody>
      </p:sp>
      <p:sp>
        <p:nvSpPr>
          <p:cNvPr id="8" name="Rectangle 7">
            <a:extLst>
              <a:ext uri="{FF2B5EF4-FFF2-40B4-BE49-F238E27FC236}">
                <a16:creationId xmlns:a16="http://schemas.microsoft.com/office/drawing/2014/main" id="{DCA4E2F6-BD49-4BAF-9940-1C7490042387}"/>
              </a:ext>
            </a:extLst>
          </p:cNvPr>
          <p:cNvSpPr>
            <a:spLocks noGrp="1"/>
          </p:cNvSpPr>
          <p:nvPr/>
        </p:nvSpPr>
        <p:spPr>
          <a:xfrm>
            <a:off x="1047750" y="2324100"/>
            <a:ext cx="228600" cy="285750"/>
          </a:xfrm>
          <a:prstGeom prst="rect">
            <a:avLst/>
          </a:prstGeom>
          <a:noFill/>
          <a:ln w="0">
            <a:noFill/>
            <a:prstDash val="solid"/>
          </a:ln>
        </p:spPr>
        <p:txBody>
          <a:bodyPr/>
          <a:lstStyle/>
          <a:p>
            <a:pPr algn="l">
              <a:buNone/>
              <a:defRPr sz="1950" b="1">
                <a:solidFill>
                  <a:srgbClr val="0B5FFF"/>
                </a:solidFill>
              </a:defRPr>
            </a:pPr>
            <a:r>
              <a:rPr sz="1950" b="1">
                <a:solidFill>
                  <a:srgbClr val="0B5FFF"/>
                </a:solidFill>
              </a:rPr>
              <a:t>•</a:t>
            </a:r>
          </a:p>
        </p:txBody>
      </p:sp>
      <p:sp>
        <p:nvSpPr>
          <p:cNvPr id="9" name="Rectangle 8">
            <a:extLst>
              <a:ext uri="{FF2B5EF4-FFF2-40B4-BE49-F238E27FC236}">
                <a16:creationId xmlns:a16="http://schemas.microsoft.com/office/drawing/2014/main" id="{7558A5D8-B909-4573-9EA3-2757DA1C29E0}"/>
              </a:ext>
            </a:extLst>
          </p:cNvPr>
          <p:cNvSpPr>
            <a:spLocks noGrp="1"/>
          </p:cNvSpPr>
          <p:nvPr/>
        </p:nvSpPr>
        <p:spPr>
          <a:xfrm>
            <a:off x="1352550" y="2314575"/>
            <a:ext cx="9220200" cy="609600"/>
          </a:xfrm>
          <a:prstGeom prst="rect">
            <a:avLst/>
          </a:prstGeom>
          <a:noFill/>
          <a:ln w="0">
            <a:noFill/>
            <a:prstDash val="solid"/>
          </a:ln>
        </p:spPr>
        <p:txBody>
          <a:bodyPr/>
          <a:lstStyle/>
          <a:p>
            <a:pPr algn="l">
              <a:buNone/>
              <a:defRPr sz="1950" b="0">
                <a:solidFill>
                  <a:srgbClr val="020618"/>
                </a:solidFill>
              </a:defRPr>
            </a:pPr>
            <a:r>
              <a:rPr sz="1950" b="0">
                <a:solidFill>
                  <a:srgbClr val="020618"/>
                </a:solidFill>
              </a:rPr>
              <a:t>JSON File IO chưa phù hợp khi nhiều người ghi đồng thời.</a:t>
            </a:r>
          </a:p>
        </p:txBody>
      </p:sp>
      <p:sp>
        <p:nvSpPr>
          <p:cNvPr id="10" name="Rectangle 9">
            <a:extLst>
              <a:ext uri="{FF2B5EF4-FFF2-40B4-BE49-F238E27FC236}">
                <a16:creationId xmlns:a16="http://schemas.microsoft.com/office/drawing/2014/main" id="{1BC7A858-950A-48DB-8D27-217C29EE519F}"/>
              </a:ext>
            </a:extLst>
          </p:cNvPr>
          <p:cNvSpPr>
            <a:spLocks noGrp="1"/>
          </p:cNvSpPr>
          <p:nvPr/>
        </p:nvSpPr>
        <p:spPr>
          <a:xfrm>
            <a:off x="1047750" y="2933700"/>
            <a:ext cx="228600" cy="285750"/>
          </a:xfrm>
          <a:prstGeom prst="rect">
            <a:avLst/>
          </a:prstGeom>
          <a:noFill/>
          <a:ln w="0">
            <a:noFill/>
            <a:prstDash val="solid"/>
          </a:ln>
        </p:spPr>
        <p:txBody>
          <a:bodyPr/>
          <a:lstStyle/>
          <a:p>
            <a:pPr algn="l">
              <a:buNone/>
              <a:defRPr sz="1950" b="1">
                <a:solidFill>
                  <a:srgbClr val="0B5FFF"/>
                </a:solidFill>
              </a:defRPr>
            </a:pPr>
            <a:r>
              <a:rPr sz="1950" b="1">
                <a:solidFill>
                  <a:srgbClr val="0B5FFF"/>
                </a:solidFill>
              </a:rPr>
              <a:t>•</a:t>
            </a:r>
          </a:p>
        </p:txBody>
      </p:sp>
      <p:sp>
        <p:nvSpPr>
          <p:cNvPr id="11" name="Rectangle 10">
            <a:extLst>
              <a:ext uri="{FF2B5EF4-FFF2-40B4-BE49-F238E27FC236}">
                <a16:creationId xmlns:a16="http://schemas.microsoft.com/office/drawing/2014/main" id="{2AC9CBA8-67B0-4A09-8BA0-9926432272C9}"/>
              </a:ext>
            </a:extLst>
          </p:cNvPr>
          <p:cNvSpPr>
            <a:spLocks noGrp="1"/>
          </p:cNvSpPr>
          <p:nvPr/>
        </p:nvSpPr>
        <p:spPr>
          <a:xfrm>
            <a:off x="1352550" y="2924175"/>
            <a:ext cx="9220200" cy="609600"/>
          </a:xfrm>
          <a:prstGeom prst="rect">
            <a:avLst/>
          </a:prstGeom>
          <a:noFill/>
          <a:ln w="0">
            <a:noFill/>
            <a:prstDash val="solid"/>
          </a:ln>
        </p:spPr>
        <p:txBody>
          <a:bodyPr/>
          <a:lstStyle/>
          <a:p>
            <a:pPr algn="l">
              <a:buNone/>
              <a:defRPr sz="1950" b="0">
                <a:solidFill>
                  <a:srgbClr val="020618"/>
                </a:solidFill>
              </a:defRPr>
            </a:pPr>
            <a:r>
              <a:rPr sz="1950" b="0">
                <a:solidFill>
                  <a:srgbClr val="020618"/>
                </a:solidFill>
              </a:rPr>
              <a:t>Notifications còn là dữ liệu local/mock ở frontend.</a:t>
            </a:r>
          </a:p>
        </p:txBody>
      </p:sp>
      <p:sp>
        <p:nvSpPr>
          <p:cNvPr id="12" name="Rectangle 11">
            <a:extLst>
              <a:ext uri="{FF2B5EF4-FFF2-40B4-BE49-F238E27FC236}">
                <a16:creationId xmlns:a16="http://schemas.microsoft.com/office/drawing/2014/main" id="{00B1B0BE-6EF8-4A48-928E-5464B3A8F217}"/>
              </a:ext>
            </a:extLst>
          </p:cNvPr>
          <p:cNvSpPr>
            <a:spLocks noGrp="1"/>
          </p:cNvSpPr>
          <p:nvPr/>
        </p:nvSpPr>
        <p:spPr>
          <a:xfrm>
            <a:off x="1047750" y="3543300"/>
            <a:ext cx="228600" cy="285750"/>
          </a:xfrm>
          <a:prstGeom prst="rect">
            <a:avLst/>
          </a:prstGeom>
          <a:noFill/>
          <a:ln w="0">
            <a:noFill/>
            <a:prstDash val="solid"/>
          </a:ln>
        </p:spPr>
        <p:txBody>
          <a:bodyPr/>
          <a:lstStyle/>
          <a:p>
            <a:pPr algn="l">
              <a:buNone/>
              <a:defRPr sz="1950" b="1">
                <a:solidFill>
                  <a:srgbClr val="0B5FFF"/>
                </a:solidFill>
              </a:defRPr>
            </a:pPr>
            <a:r>
              <a:rPr sz="1950" b="1">
                <a:solidFill>
                  <a:srgbClr val="0B5FFF"/>
                </a:solidFill>
              </a:rPr>
              <a:t>•</a:t>
            </a:r>
          </a:p>
        </p:txBody>
      </p:sp>
      <p:sp>
        <p:nvSpPr>
          <p:cNvPr id="13" name="Rectangle 12">
            <a:extLst>
              <a:ext uri="{FF2B5EF4-FFF2-40B4-BE49-F238E27FC236}">
                <a16:creationId xmlns:a16="http://schemas.microsoft.com/office/drawing/2014/main" id="{174D5486-FB31-4646-9DDE-7E5E05FDCDF0}"/>
              </a:ext>
            </a:extLst>
          </p:cNvPr>
          <p:cNvSpPr>
            <a:spLocks noGrp="1"/>
          </p:cNvSpPr>
          <p:nvPr/>
        </p:nvSpPr>
        <p:spPr>
          <a:xfrm>
            <a:off x="1352550" y="3533775"/>
            <a:ext cx="9220200" cy="609600"/>
          </a:xfrm>
          <a:prstGeom prst="rect">
            <a:avLst/>
          </a:prstGeom>
          <a:noFill/>
          <a:ln w="0">
            <a:noFill/>
            <a:prstDash val="solid"/>
          </a:ln>
        </p:spPr>
        <p:txBody>
          <a:bodyPr/>
          <a:lstStyle/>
          <a:p>
            <a:pPr algn="l">
              <a:buNone/>
              <a:defRPr sz="1950" b="0">
                <a:solidFill>
                  <a:srgbClr val="020618"/>
                </a:solidFill>
              </a:defRPr>
            </a:pPr>
            <a:r>
              <a:rPr sz="1950" b="0">
                <a:solidFill>
                  <a:srgbClr val="020618"/>
                </a:solidFill>
              </a:rPr>
              <a:t>Chưa có database thật và chưa có phân quyền admin/giảng viên.</a:t>
            </a:r>
          </a:p>
        </p:txBody>
      </p:sp>
      <p:sp>
        <p:nvSpPr>
          <p:cNvPr id="14" name="Rectangle 13">
            <a:extLst>
              <a:ext uri="{FF2B5EF4-FFF2-40B4-BE49-F238E27FC236}">
                <a16:creationId xmlns:a16="http://schemas.microsoft.com/office/drawing/2014/main" id="{64F1072C-0246-4F73-87BB-3F8727E71774}"/>
              </a:ext>
            </a:extLst>
          </p:cNvPr>
          <p:cNvSpPr>
            <a:spLocks noGrp="1"/>
          </p:cNvSpPr>
          <p:nvPr/>
        </p:nvSpPr>
        <p:spPr>
          <a:xfrm>
            <a:off x="1047750" y="4152900"/>
            <a:ext cx="228600" cy="285750"/>
          </a:xfrm>
          <a:prstGeom prst="rect">
            <a:avLst/>
          </a:prstGeom>
          <a:noFill/>
          <a:ln w="0">
            <a:noFill/>
            <a:prstDash val="solid"/>
          </a:ln>
        </p:spPr>
        <p:txBody>
          <a:bodyPr/>
          <a:lstStyle/>
          <a:p>
            <a:pPr algn="l">
              <a:buNone/>
              <a:defRPr sz="1950" b="1">
                <a:solidFill>
                  <a:srgbClr val="0B5FFF"/>
                </a:solidFill>
              </a:defRPr>
            </a:pPr>
            <a:r>
              <a:rPr sz="1950" b="1">
                <a:solidFill>
                  <a:srgbClr val="0B5FFF"/>
                </a:solidFill>
              </a:rPr>
              <a:t>•</a:t>
            </a:r>
          </a:p>
        </p:txBody>
      </p:sp>
      <p:sp>
        <p:nvSpPr>
          <p:cNvPr id="15" name="Rectangle 14">
            <a:extLst>
              <a:ext uri="{FF2B5EF4-FFF2-40B4-BE49-F238E27FC236}">
                <a16:creationId xmlns:a16="http://schemas.microsoft.com/office/drawing/2014/main" id="{49F6FA76-F613-4A37-BFD6-5CCC5062FAFF}"/>
              </a:ext>
            </a:extLst>
          </p:cNvPr>
          <p:cNvSpPr>
            <a:spLocks noGrp="1"/>
          </p:cNvSpPr>
          <p:nvPr/>
        </p:nvSpPr>
        <p:spPr>
          <a:xfrm>
            <a:off x="1352550" y="4143375"/>
            <a:ext cx="9220200" cy="609600"/>
          </a:xfrm>
          <a:prstGeom prst="rect">
            <a:avLst/>
          </a:prstGeom>
          <a:noFill/>
          <a:ln w="0">
            <a:noFill/>
            <a:prstDash val="solid"/>
          </a:ln>
        </p:spPr>
        <p:txBody>
          <a:bodyPr/>
          <a:lstStyle/>
          <a:p>
            <a:pPr algn="l">
              <a:buNone/>
              <a:defRPr sz="1950" b="0">
                <a:solidFill>
                  <a:srgbClr val="020618"/>
                </a:solidFill>
              </a:defRPr>
            </a:pPr>
            <a:r>
              <a:rPr sz="1950" b="0">
                <a:solidFill>
                  <a:srgbClr val="020618"/>
                </a:solidFill>
              </a:rPr>
              <a:t>Nhánh main cần được sửa để pass build và test.</a:t>
            </a:r>
          </a:p>
        </p:txBody>
      </p:sp>
    </p:spTree>
    <p:extLst>
      <p:ext uri="{BB962C8B-B14F-4D97-AF65-F5344CB8AC3E}">
        <p14:creationId xmlns:p14="http://schemas.microsoft.com/office/powerpoint/2010/main" val="418393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7B4202D-DD1A-45B2-8504-A6E3970CF8F8}"/>
              </a:ext>
            </a:extLst>
          </p:cNvPr>
          <p:cNvSpPr>
            <a:spLocks noGrp="1"/>
          </p:cNvSpPr>
          <p:nvPr/>
        </p:nvSpPr>
        <p:spPr>
          <a:xfrm>
            <a:off x="609600" y="342900"/>
            <a:ext cx="6667500" cy="285750"/>
          </a:xfrm>
          <a:prstGeom prst="rect">
            <a:avLst/>
          </a:prstGeom>
          <a:noFill/>
          <a:ln w="0">
            <a:noFill/>
            <a:prstDash val="solid"/>
          </a:ln>
        </p:spPr>
        <p:txBody>
          <a:bodyPr/>
          <a:lstStyle/>
          <a:p>
            <a:pPr algn="l">
              <a:buNone/>
              <a:defRPr sz="1125" b="1">
                <a:solidFill>
                  <a:srgbClr val="0B5FFF"/>
                </a:solidFill>
              </a:defRPr>
            </a:pPr>
            <a:r>
              <a:rPr sz="1125" b="1">
                <a:solidFill>
                  <a:srgbClr val="0B5FFF"/>
                </a:solidFill>
              </a:rPr>
              <a:t>BTL | Hệ thống đăng ký môn học</a:t>
            </a:r>
          </a:p>
        </p:txBody>
      </p:sp>
      <p:sp>
        <p:nvSpPr>
          <p:cNvPr id="2" name="Rectangle 1">
            <a:extLst>
              <a:ext uri="{FF2B5EF4-FFF2-40B4-BE49-F238E27FC236}">
                <a16:creationId xmlns:a16="http://schemas.microsoft.com/office/drawing/2014/main" id="{204E0409-EEEA-453A-9B95-437D9A3D322D}"/>
              </a:ext>
            </a:extLst>
          </p:cNvPr>
          <p:cNvSpPr>
            <a:spLocks noGrp="1"/>
          </p:cNvSpPr>
          <p:nvPr/>
        </p:nvSpPr>
        <p:spPr>
          <a:xfrm>
            <a:off x="609600" y="666750"/>
            <a:ext cx="9525000" cy="533400"/>
          </a:xfrm>
          <a:prstGeom prst="rect">
            <a:avLst/>
          </a:prstGeom>
          <a:noFill/>
          <a:ln w="0">
            <a:noFill/>
            <a:prstDash val="solid"/>
          </a:ln>
        </p:spPr>
        <p:txBody>
          <a:bodyPr/>
          <a:lstStyle/>
          <a:p>
            <a:pPr algn="l">
              <a:buNone/>
              <a:defRPr sz="2850" b="1">
                <a:solidFill>
                  <a:srgbClr val="020618"/>
                </a:solidFill>
              </a:defRPr>
            </a:pPr>
            <a:r>
              <a:rPr sz="2850" b="1">
                <a:solidFill>
                  <a:srgbClr val="020618"/>
                </a:solidFill>
              </a:rPr>
              <a:t>Hướng phát triển ưu tiên tính ổn định trước</a:t>
            </a:r>
          </a:p>
        </p:txBody>
      </p:sp>
      <p:sp>
        <p:nvSpPr>
          <p:cNvPr id="3" name="Straight Connector 2">
            <a:extLst>
              <a:ext uri="{FF2B5EF4-FFF2-40B4-BE49-F238E27FC236}">
                <a16:creationId xmlns:a16="http://schemas.microsoft.com/office/drawing/2014/main" id="{AE9DCD18-7832-42B2-A08D-8E3001B2EDD1}"/>
              </a:ext>
            </a:extLst>
          </p:cNvPr>
          <p:cNvSpPr>
            <a:spLocks noGrp="1"/>
          </p:cNvSpPr>
          <p:nvPr/>
        </p:nvSpPr>
        <p:spPr>
          <a:xfrm>
            <a:off x="609600" y="1295400"/>
            <a:ext cx="10972800" cy="0"/>
          </a:xfrm>
          <a:prstGeom prst="line">
            <a:avLst/>
          </a:prstGeom>
          <a:noFill/>
          <a:ln w="9525">
            <a:solidFill>
              <a:srgbClr val="E2E8F0"/>
            </a:solidFill>
            <a:prstDash val="solid"/>
          </a:ln>
        </p:spPr>
      </p:sp>
      <p:sp>
        <p:nvSpPr>
          <p:cNvPr id="4" name="Rectangle 3">
            <a:extLst>
              <a:ext uri="{FF2B5EF4-FFF2-40B4-BE49-F238E27FC236}">
                <a16:creationId xmlns:a16="http://schemas.microsoft.com/office/drawing/2014/main" id="{EF27F8D7-C2AE-4D22-845D-AECE46EEACFC}"/>
              </a:ext>
            </a:extLst>
          </p:cNvPr>
          <p:cNvSpPr>
            <a:spLocks noGrp="1"/>
          </p:cNvSpPr>
          <p:nvPr/>
        </p:nvSpPr>
        <p:spPr>
          <a:xfrm>
            <a:off x="609600" y="6477000"/>
            <a:ext cx="4953000" cy="209550"/>
          </a:xfrm>
          <a:prstGeom prst="rect">
            <a:avLst/>
          </a:prstGeom>
          <a:noFill/>
          <a:ln w="0">
            <a:noFill/>
            <a:prstDash val="solid"/>
          </a:ln>
        </p:spPr>
        <p:txBody>
          <a:bodyPr/>
          <a:lstStyle/>
          <a:p>
            <a:pPr algn="l">
              <a:buNone/>
              <a:defRPr sz="900" b="0">
                <a:solidFill>
                  <a:srgbClr val="90A1B9"/>
                </a:solidFill>
              </a:defRPr>
            </a:pPr>
            <a:r>
              <a:rPr sz="900" b="0">
                <a:solidFill>
                  <a:srgbClr val="90A1B9"/>
                </a:solidFill>
              </a:rPr>
              <a:t>Nhóm 2 - Phenikaa University</a:t>
            </a:r>
          </a:p>
        </p:txBody>
      </p:sp>
      <p:sp>
        <p:nvSpPr>
          <p:cNvPr id="5" name="Rectangle 4">
            <a:extLst>
              <a:ext uri="{FF2B5EF4-FFF2-40B4-BE49-F238E27FC236}">
                <a16:creationId xmlns:a16="http://schemas.microsoft.com/office/drawing/2014/main" id="{E1BA1520-1D32-4ADB-A38E-3DA4AE4A9D18}"/>
              </a:ext>
            </a:extLst>
          </p:cNvPr>
          <p:cNvSpPr>
            <a:spLocks noGrp="1"/>
          </p:cNvSpPr>
          <p:nvPr/>
        </p:nvSpPr>
        <p:spPr>
          <a:xfrm>
            <a:off x="11125200" y="6477000"/>
            <a:ext cx="457200" cy="209550"/>
          </a:xfrm>
          <a:prstGeom prst="rect">
            <a:avLst/>
          </a:prstGeom>
          <a:noFill/>
          <a:ln w="0">
            <a:noFill/>
            <a:prstDash val="solid"/>
          </a:ln>
        </p:spPr>
        <p:txBody>
          <a:bodyPr/>
          <a:lstStyle/>
          <a:p>
            <a:pPr algn="r">
              <a:buNone/>
              <a:defRPr sz="900" b="0">
                <a:solidFill>
                  <a:srgbClr val="90A1B9"/>
                </a:solidFill>
              </a:defRPr>
            </a:pPr>
            <a:r>
              <a:rPr sz="900" b="0">
                <a:solidFill>
                  <a:srgbClr val="90A1B9"/>
                </a:solidFill>
              </a:rPr>
              <a:t>19</a:t>
            </a:r>
          </a:p>
        </p:txBody>
      </p:sp>
      <p:sp>
        <p:nvSpPr>
          <p:cNvPr id="6" name="Oval 5">
            <a:extLst>
              <a:ext uri="{FF2B5EF4-FFF2-40B4-BE49-F238E27FC236}">
                <a16:creationId xmlns:a16="http://schemas.microsoft.com/office/drawing/2014/main" id="{9C324102-18AB-4C63-867E-0625D7E319B7}"/>
              </a:ext>
            </a:extLst>
          </p:cNvPr>
          <p:cNvSpPr>
            <a:spLocks noGrp="1"/>
          </p:cNvSpPr>
          <p:nvPr/>
        </p:nvSpPr>
        <p:spPr>
          <a:xfrm>
            <a:off x="838200" y="2324100"/>
            <a:ext cx="819150" cy="819150"/>
          </a:xfrm>
          <a:prstGeom prst="ellipse">
            <a:avLst/>
          </a:prstGeom>
          <a:solidFill>
            <a:srgbClr val="DBEAFE"/>
          </a:solidFill>
          <a:ln w="9525">
            <a:solidFill>
              <a:srgbClr val="60A5FA"/>
            </a:solidFill>
            <a:prstDash val="solid"/>
          </a:ln>
        </p:spPr>
      </p:sp>
      <p:sp>
        <p:nvSpPr>
          <p:cNvPr id="7" name="Rectangle 6">
            <a:extLst>
              <a:ext uri="{FF2B5EF4-FFF2-40B4-BE49-F238E27FC236}">
                <a16:creationId xmlns:a16="http://schemas.microsoft.com/office/drawing/2014/main" id="{0F2CDA40-A9E9-4296-8E17-1884D1F66C12}"/>
              </a:ext>
            </a:extLst>
          </p:cNvPr>
          <p:cNvSpPr>
            <a:spLocks noGrp="1"/>
          </p:cNvSpPr>
          <p:nvPr/>
        </p:nvSpPr>
        <p:spPr>
          <a:xfrm>
            <a:off x="1104900" y="2514600"/>
            <a:ext cx="285750" cy="342900"/>
          </a:xfrm>
          <a:prstGeom prst="rect">
            <a:avLst/>
          </a:prstGeom>
          <a:noFill/>
          <a:ln w="0">
            <a:noFill/>
            <a:prstDash val="solid"/>
          </a:ln>
        </p:spPr>
        <p:txBody>
          <a:bodyPr/>
          <a:lstStyle/>
          <a:p>
            <a:pPr algn="ctr">
              <a:buNone/>
              <a:defRPr sz="2100" b="1">
                <a:solidFill>
                  <a:srgbClr val="0B2A6F"/>
                </a:solidFill>
              </a:defRPr>
            </a:pPr>
            <a:r>
              <a:rPr sz="2100" b="1">
                <a:solidFill>
                  <a:srgbClr val="0B2A6F"/>
                </a:solidFill>
              </a:rPr>
              <a:t>1</a:t>
            </a:r>
          </a:p>
        </p:txBody>
      </p:sp>
      <p:sp>
        <p:nvSpPr>
          <p:cNvPr id="8" name="Rectangle 7">
            <a:extLst>
              <a:ext uri="{FF2B5EF4-FFF2-40B4-BE49-F238E27FC236}">
                <a16:creationId xmlns:a16="http://schemas.microsoft.com/office/drawing/2014/main" id="{C2396DD0-7679-4A7D-82C0-65F0821E23E7}"/>
              </a:ext>
            </a:extLst>
          </p:cNvPr>
          <p:cNvSpPr>
            <a:spLocks noGrp="1"/>
          </p:cNvSpPr>
          <p:nvPr/>
        </p:nvSpPr>
        <p:spPr>
          <a:xfrm>
            <a:off x="533400" y="3333750"/>
            <a:ext cx="1428750" cy="819150"/>
          </a:xfrm>
          <a:prstGeom prst="rect">
            <a:avLst/>
          </a:prstGeom>
          <a:noFill/>
          <a:ln w="0">
            <a:noFill/>
            <a:prstDash val="solid"/>
          </a:ln>
        </p:spPr>
        <p:txBody>
          <a:bodyPr/>
          <a:lstStyle/>
          <a:p>
            <a:pPr algn="ctr">
              <a:buNone/>
              <a:defRPr sz="1500" b="1">
                <a:solidFill>
                  <a:srgbClr val="020618"/>
                </a:solidFill>
              </a:defRPr>
            </a:pPr>
            <a:r>
              <a:rPr sz="1500" b="1">
                <a:solidFill>
                  <a:srgbClr val="020618"/>
                </a:solidFill>
              </a:rPr>
              <a:t>Sửa main pass build/test</a:t>
            </a:r>
          </a:p>
        </p:txBody>
      </p:sp>
      <p:sp>
        <p:nvSpPr>
          <p:cNvPr id="9" name="Arrow: Right 8">
            <a:extLst>
              <a:ext uri="{FF2B5EF4-FFF2-40B4-BE49-F238E27FC236}">
                <a16:creationId xmlns:a16="http://schemas.microsoft.com/office/drawing/2014/main" id="{B22DE111-39DE-4954-BB24-DBDCE5257227}"/>
              </a:ext>
            </a:extLst>
          </p:cNvPr>
          <p:cNvSpPr>
            <a:spLocks noGrp="1"/>
          </p:cNvSpPr>
          <p:nvPr/>
        </p:nvSpPr>
        <p:spPr>
          <a:xfrm>
            <a:off x="1743075" y="2571750"/>
            <a:ext cx="552450" cy="323850"/>
          </a:xfrm>
          <a:prstGeom prst="rightArrow">
            <a:avLst/>
          </a:prstGeom>
          <a:solidFill>
            <a:srgbClr val="C9DAFF"/>
          </a:solidFill>
          <a:ln w="0">
            <a:solidFill>
              <a:srgbClr val="C9DAFF"/>
            </a:solidFill>
            <a:prstDash val="solid"/>
          </a:ln>
        </p:spPr>
      </p:sp>
      <p:sp>
        <p:nvSpPr>
          <p:cNvPr id="10" name="Oval 9">
            <a:extLst>
              <a:ext uri="{FF2B5EF4-FFF2-40B4-BE49-F238E27FC236}">
                <a16:creationId xmlns:a16="http://schemas.microsoft.com/office/drawing/2014/main" id="{619C5330-C922-47D4-92F0-68D5862C91D5}"/>
              </a:ext>
            </a:extLst>
          </p:cNvPr>
          <p:cNvSpPr>
            <a:spLocks noGrp="1"/>
          </p:cNvSpPr>
          <p:nvPr/>
        </p:nvSpPr>
        <p:spPr>
          <a:xfrm>
            <a:off x="2600325" y="2324100"/>
            <a:ext cx="819150" cy="819150"/>
          </a:xfrm>
          <a:prstGeom prst="ellipse">
            <a:avLst/>
          </a:prstGeom>
          <a:solidFill>
            <a:srgbClr val="FFFFFF"/>
          </a:solidFill>
          <a:ln w="9525">
            <a:solidFill>
              <a:srgbClr val="E2E8F0"/>
            </a:solidFill>
            <a:prstDash val="solid"/>
          </a:ln>
        </p:spPr>
      </p:sp>
      <p:sp>
        <p:nvSpPr>
          <p:cNvPr id="11" name="Rectangle 10">
            <a:extLst>
              <a:ext uri="{FF2B5EF4-FFF2-40B4-BE49-F238E27FC236}">
                <a16:creationId xmlns:a16="http://schemas.microsoft.com/office/drawing/2014/main" id="{20BCD3EF-7624-4ED5-B3C0-D4A37FC56731}"/>
              </a:ext>
            </a:extLst>
          </p:cNvPr>
          <p:cNvSpPr>
            <a:spLocks noGrp="1"/>
          </p:cNvSpPr>
          <p:nvPr/>
        </p:nvSpPr>
        <p:spPr>
          <a:xfrm>
            <a:off x="2867025" y="2514600"/>
            <a:ext cx="285750" cy="342900"/>
          </a:xfrm>
          <a:prstGeom prst="rect">
            <a:avLst/>
          </a:prstGeom>
          <a:noFill/>
          <a:ln w="0">
            <a:noFill/>
            <a:prstDash val="solid"/>
          </a:ln>
        </p:spPr>
        <p:txBody>
          <a:bodyPr/>
          <a:lstStyle/>
          <a:p>
            <a:pPr algn="ctr">
              <a:buNone/>
              <a:defRPr sz="2100" b="1">
                <a:solidFill>
                  <a:srgbClr val="0B2A6F"/>
                </a:solidFill>
              </a:defRPr>
            </a:pPr>
            <a:r>
              <a:rPr sz="2100" b="1">
                <a:solidFill>
                  <a:srgbClr val="0B2A6F"/>
                </a:solidFill>
              </a:rPr>
              <a:t>2</a:t>
            </a:r>
          </a:p>
        </p:txBody>
      </p:sp>
      <p:sp>
        <p:nvSpPr>
          <p:cNvPr id="12" name="Rectangle 11">
            <a:extLst>
              <a:ext uri="{FF2B5EF4-FFF2-40B4-BE49-F238E27FC236}">
                <a16:creationId xmlns:a16="http://schemas.microsoft.com/office/drawing/2014/main" id="{467DFD9B-C680-48EF-BC05-EE2D86052A94}"/>
              </a:ext>
            </a:extLst>
          </p:cNvPr>
          <p:cNvSpPr>
            <a:spLocks noGrp="1"/>
          </p:cNvSpPr>
          <p:nvPr/>
        </p:nvSpPr>
        <p:spPr>
          <a:xfrm>
            <a:off x="2295525" y="3333750"/>
            <a:ext cx="1428750" cy="819150"/>
          </a:xfrm>
          <a:prstGeom prst="rect">
            <a:avLst/>
          </a:prstGeom>
          <a:noFill/>
          <a:ln w="0">
            <a:noFill/>
            <a:prstDash val="solid"/>
          </a:ln>
        </p:spPr>
        <p:txBody>
          <a:bodyPr/>
          <a:lstStyle/>
          <a:p>
            <a:pPr algn="ctr">
              <a:buNone/>
              <a:defRPr sz="1500" b="0">
                <a:solidFill>
                  <a:srgbClr val="020618"/>
                </a:solidFill>
              </a:defRPr>
            </a:pPr>
            <a:r>
              <a:rPr sz="1500" b="0">
                <a:solidFill>
                  <a:srgbClr val="020618"/>
                </a:solidFill>
              </a:rPr>
              <a:t>Database</a:t>
            </a:r>
          </a:p>
        </p:txBody>
      </p:sp>
      <p:sp>
        <p:nvSpPr>
          <p:cNvPr id="13" name="Arrow: Right 12">
            <a:extLst>
              <a:ext uri="{FF2B5EF4-FFF2-40B4-BE49-F238E27FC236}">
                <a16:creationId xmlns:a16="http://schemas.microsoft.com/office/drawing/2014/main" id="{4825AF89-3293-4B17-9FA1-2CE1F5928333}"/>
              </a:ext>
            </a:extLst>
          </p:cNvPr>
          <p:cNvSpPr>
            <a:spLocks noGrp="1"/>
          </p:cNvSpPr>
          <p:nvPr/>
        </p:nvSpPr>
        <p:spPr>
          <a:xfrm>
            <a:off x="3505200" y="2571750"/>
            <a:ext cx="552450" cy="323850"/>
          </a:xfrm>
          <a:prstGeom prst="rightArrow">
            <a:avLst/>
          </a:prstGeom>
          <a:solidFill>
            <a:srgbClr val="C9DAFF"/>
          </a:solidFill>
          <a:ln w="0">
            <a:solidFill>
              <a:srgbClr val="C9DAFF"/>
            </a:solidFill>
            <a:prstDash val="solid"/>
          </a:ln>
        </p:spPr>
      </p:sp>
      <p:sp>
        <p:nvSpPr>
          <p:cNvPr id="14" name="Oval 13">
            <a:extLst>
              <a:ext uri="{FF2B5EF4-FFF2-40B4-BE49-F238E27FC236}">
                <a16:creationId xmlns:a16="http://schemas.microsoft.com/office/drawing/2014/main" id="{868E60E4-76C6-4C49-A3B8-A8EC2C935475}"/>
              </a:ext>
            </a:extLst>
          </p:cNvPr>
          <p:cNvSpPr>
            <a:spLocks noGrp="1"/>
          </p:cNvSpPr>
          <p:nvPr/>
        </p:nvSpPr>
        <p:spPr>
          <a:xfrm>
            <a:off x="4362450" y="2324100"/>
            <a:ext cx="819150" cy="819150"/>
          </a:xfrm>
          <a:prstGeom prst="ellipse">
            <a:avLst/>
          </a:prstGeom>
          <a:solidFill>
            <a:srgbClr val="FFFFFF"/>
          </a:solidFill>
          <a:ln w="9525">
            <a:solidFill>
              <a:srgbClr val="E2E8F0"/>
            </a:solidFill>
            <a:prstDash val="solid"/>
          </a:ln>
        </p:spPr>
      </p:sp>
      <p:sp>
        <p:nvSpPr>
          <p:cNvPr id="15" name="Rectangle 14">
            <a:extLst>
              <a:ext uri="{FF2B5EF4-FFF2-40B4-BE49-F238E27FC236}">
                <a16:creationId xmlns:a16="http://schemas.microsoft.com/office/drawing/2014/main" id="{F0AB9AF7-646E-43EA-81C1-970C769F4AFB}"/>
              </a:ext>
            </a:extLst>
          </p:cNvPr>
          <p:cNvSpPr>
            <a:spLocks noGrp="1"/>
          </p:cNvSpPr>
          <p:nvPr/>
        </p:nvSpPr>
        <p:spPr>
          <a:xfrm>
            <a:off x="4629150" y="2514600"/>
            <a:ext cx="285750" cy="342900"/>
          </a:xfrm>
          <a:prstGeom prst="rect">
            <a:avLst/>
          </a:prstGeom>
          <a:noFill/>
          <a:ln w="0">
            <a:noFill/>
            <a:prstDash val="solid"/>
          </a:ln>
        </p:spPr>
        <p:txBody>
          <a:bodyPr/>
          <a:lstStyle/>
          <a:p>
            <a:pPr algn="ctr">
              <a:buNone/>
              <a:defRPr sz="2100" b="1">
                <a:solidFill>
                  <a:srgbClr val="0B2A6F"/>
                </a:solidFill>
              </a:defRPr>
            </a:pPr>
            <a:r>
              <a:rPr sz="2100" b="1">
                <a:solidFill>
                  <a:srgbClr val="0B2A6F"/>
                </a:solidFill>
              </a:rPr>
              <a:t>3</a:t>
            </a:r>
          </a:p>
        </p:txBody>
      </p:sp>
      <p:sp>
        <p:nvSpPr>
          <p:cNvPr id="16" name="Rectangle 15">
            <a:extLst>
              <a:ext uri="{FF2B5EF4-FFF2-40B4-BE49-F238E27FC236}">
                <a16:creationId xmlns:a16="http://schemas.microsoft.com/office/drawing/2014/main" id="{7D32A02F-976C-42C3-A7DB-A8AE33001755}"/>
              </a:ext>
            </a:extLst>
          </p:cNvPr>
          <p:cNvSpPr>
            <a:spLocks noGrp="1"/>
          </p:cNvSpPr>
          <p:nvPr/>
        </p:nvSpPr>
        <p:spPr>
          <a:xfrm>
            <a:off x="4057650" y="3333750"/>
            <a:ext cx="1428750" cy="819150"/>
          </a:xfrm>
          <a:prstGeom prst="rect">
            <a:avLst/>
          </a:prstGeom>
          <a:noFill/>
          <a:ln w="0">
            <a:noFill/>
            <a:prstDash val="solid"/>
          </a:ln>
        </p:spPr>
        <p:txBody>
          <a:bodyPr/>
          <a:lstStyle/>
          <a:p>
            <a:pPr algn="ctr">
              <a:buNone/>
              <a:defRPr sz="1500" b="0">
                <a:solidFill>
                  <a:srgbClr val="020618"/>
                </a:solidFill>
              </a:defRPr>
            </a:pPr>
            <a:r>
              <a:rPr sz="1500" b="0">
                <a:solidFill>
                  <a:srgbClr val="020618"/>
                </a:solidFill>
              </a:rPr>
              <a:t>JWT/Spring Security</a:t>
            </a:r>
          </a:p>
        </p:txBody>
      </p:sp>
      <p:sp>
        <p:nvSpPr>
          <p:cNvPr id="17" name="Arrow: Right 16">
            <a:extLst>
              <a:ext uri="{FF2B5EF4-FFF2-40B4-BE49-F238E27FC236}">
                <a16:creationId xmlns:a16="http://schemas.microsoft.com/office/drawing/2014/main" id="{C6D82418-72C8-437E-82C5-507577B2849E}"/>
              </a:ext>
            </a:extLst>
          </p:cNvPr>
          <p:cNvSpPr>
            <a:spLocks noGrp="1"/>
          </p:cNvSpPr>
          <p:nvPr/>
        </p:nvSpPr>
        <p:spPr>
          <a:xfrm>
            <a:off x="5267325" y="2571750"/>
            <a:ext cx="552450" cy="323850"/>
          </a:xfrm>
          <a:prstGeom prst="rightArrow">
            <a:avLst/>
          </a:prstGeom>
          <a:solidFill>
            <a:srgbClr val="C9DAFF"/>
          </a:solidFill>
          <a:ln w="0">
            <a:solidFill>
              <a:srgbClr val="C9DAFF"/>
            </a:solidFill>
            <a:prstDash val="solid"/>
          </a:ln>
        </p:spPr>
      </p:sp>
      <p:sp>
        <p:nvSpPr>
          <p:cNvPr id="18" name="Oval 17">
            <a:extLst>
              <a:ext uri="{FF2B5EF4-FFF2-40B4-BE49-F238E27FC236}">
                <a16:creationId xmlns:a16="http://schemas.microsoft.com/office/drawing/2014/main" id="{8D02A5B4-8CE5-4EE2-9A33-6ABA3EEA9298}"/>
              </a:ext>
            </a:extLst>
          </p:cNvPr>
          <p:cNvSpPr>
            <a:spLocks noGrp="1"/>
          </p:cNvSpPr>
          <p:nvPr/>
        </p:nvSpPr>
        <p:spPr>
          <a:xfrm>
            <a:off x="6124575" y="2324100"/>
            <a:ext cx="819150" cy="819150"/>
          </a:xfrm>
          <a:prstGeom prst="ellipse">
            <a:avLst/>
          </a:prstGeom>
          <a:solidFill>
            <a:srgbClr val="FFFFFF"/>
          </a:solidFill>
          <a:ln w="9525">
            <a:solidFill>
              <a:srgbClr val="E2E8F0"/>
            </a:solidFill>
            <a:prstDash val="solid"/>
          </a:ln>
        </p:spPr>
      </p:sp>
      <p:sp>
        <p:nvSpPr>
          <p:cNvPr id="19" name="Rectangle 18">
            <a:extLst>
              <a:ext uri="{FF2B5EF4-FFF2-40B4-BE49-F238E27FC236}">
                <a16:creationId xmlns:a16="http://schemas.microsoft.com/office/drawing/2014/main" id="{2A887AE5-E021-499F-A9F1-81162F356BE1}"/>
              </a:ext>
            </a:extLst>
          </p:cNvPr>
          <p:cNvSpPr>
            <a:spLocks noGrp="1"/>
          </p:cNvSpPr>
          <p:nvPr/>
        </p:nvSpPr>
        <p:spPr>
          <a:xfrm>
            <a:off x="6391275" y="2514600"/>
            <a:ext cx="285750" cy="342900"/>
          </a:xfrm>
          <a:prstGeom prst="rect">
            <a:avLst/>
          </a:prstGeom>
          <a:noFill/>
          <a:ln w="0">
            <a:noFill/>
            <a:prstDash val="solid"/>
          </a:ln>
        </p:spPr>
        <p:txBody>
          <a:bodyPr/>
          <a:lstStyle/>
          <a:p>
            <a:pPr algn="ctr">
              <a:buNone/>
              <a:defRPr sz="2100" b="1">
                <a:solidFill>
                  <a:srgbClr val="0B2A6F"/>
                </a:solidFill>
              </a:defRPr>
            </a:pPr>
            <a:r>
              <a:rPr sz="2100" b="1">
                <a:solidFill>
                  <a:srgbClr val="0B2A6F"/>
                </a:solidFill>
              </a:rPr>
              <a:t>4</a:t>
            </a:r>
          </a:p>
        </p:txBody>
      </p:sp>
      <p:sp>
        <p:nvSpPr>
          <p:cNvPr id="20" name="Rectangle 19">
            <a:extLst>
              <a:ext uri="{FF2B5EF4-FFF2-40B4-BE49-F238E27FC236}">
                <a16:creationId xmlns:a16="http://schemas.microsoft.com/office/drawing/2014/main" id="{7BBA210D-F63C-4F6E-A919-604C03AE51A5}"/>
              </a:ext>
            </a:extLst>
          </p:cNvPr>
          <p:cNvSpPr>
            <a:spLocks noGrp="1"/>
          </p:cNvSpPr>
          <p:nvPr/>
        </p:nvSpPr>
        <p:spPr>
          <a:xfrm>
            <a:off x="5819775" y="3333750"/>
            <a:ext cx="1428750" cy="819150"/>
          </a:xfrm>
          <a:prstGeom prst="rect">
            <a:avLst/>
          </a:prstGeom>
          <a:noFill/>
          <a:ln w="0">
            <a:noFill/>
            <a:prstDash val="solid"/>
          </a:ln>
        </p:spPr>
        <p:txBody>
          <a:bodyPr/>
          <a:lstStyle/>
          <a:p>
            <a:pPr algn="ctr">
              <a:buNone/>
              <a:defRPr sz="1500" b="0">
                <a:solidFill>
                  <a:srgbClr val="020618"/>
                </a:solidFill>
              </a:defRPr>
            </a:pPr>
            <a:r>
              <a:rPr sz="1500" b="0">
                <a:solidFill>
                  <a:srgbClr val="020618"/>
                </a:solidFill>
              </a:rPr>
              <a:t>Phân quyền</a:t>
            </a:r>
          </a:p>
        </p:txBody>
      </p:sp>
      <p:sp>
        <p:nvSpPr>
          <p:cNvPr id="21" name="Arrow: Right 20">
            <a:extLst>
              <a:ext uri="{FF2B5EF4-FFF2-40B4-BE49-F238E27FC236}">
                <a16:creationId xmlns:a16="http://schemas.microsoft.com/office/drawing/2014/main" id="{744579CE-857B-47FD-BEB2-43678FB5CA57}"/>
              </a:ext>
            </a:extLst>
          </p:cNvPr>
          <p:cNvSpPr>
            <a:spLocks noGrp="1"/>
          </p:cNvSpPr>
          <p:nvPr/>
        </p:nvSpPr>
        <p:spPr>
          <a:xfrm>
            <a:off x="7029450" y="2571750"/>
            <a:ext cx="552450" cy="323850"/>
          </a:xfrm>
          <a:prstGeom prst="rightArrow">
            <a:avLst/>
          </a:prstGeom>
          <a:solidFill>
            <a:srgbClr val="C9DAFF"/>
          </a:solidFill>
          <a:ln w="0">
            <a:solidFill>
              <a:srgbClr val="C9DAFF"/>
            </a:solidFill>
            <a:prstDash val="solid"/>
          </a:ln>
        </p:spPr>
      </p:sp>
      <p:sp>
        <p:nvSpPr>
          <p:cNvPr id="22" name="Oval 21">
            <a:extLst>
              <a:ext uri="{FF2B5EF4-FFF2-40B4-BE49-F238E27FC236}">
                <a16:creationId xmlns:a16="http://schemas.microsoft.com/office/drawing/2014/main" id="{2ECFC277-C72C-46E2-B6BC-FAAB537976C9}"/>
              </a:ext>
            </a:extLst>
          </p:cNvPr>
          <p:cNvSpPr>
            <a:spLocks noGrp="1"/>
          </p:cNvSpPr>
          <p:nvPr/>
        </p:nvSpPr>
        <p:spPr>
          <a:xfrm>
            <a:off x="7886700" y="2324100"/>
            <a:ext cx="819150" cy="819150"/>
          </a:xfrm>
          <a:prstGeom prst="ellipse">
            <a:avLst/>
          </a:prstGeom>
          <a:solidFill>
            <a:srgbClr val="FFFFFF"/>
          </a:solidFill>
          <a:ln w="9525">
            <a:solidFill>
              <a:srgbClr val="E2E8F0"/>
            </a:solidFill>
            <a:prstDash val="solid"/>
          </a:ln>
        </p:spPr>
      </p:sp>
      <p:sp>
        <p:nvSpPr>
          <p:cNvPr id="23" name="Rectangle 22">
            <a:extLst>
              <a:ext uri="{FF2B5EF4-FFF2-40B4-BE49-F238E27FC236}">
                <a16:creationId xmlns:a16="http://schemas.microsoft.com/office/drawing/2014/main" id="{02751BFC-4E16-4BA7-A9D4-82EDD9B7C5E1}"/>
              </a:ext>
            </a:extLst>
          </p:cNvPr>
          <p:cNvSpPr>
            <a:spLocks noGrp="1"/>
          </p:cNvSpPr>
          <p:nvPr/>
        </p:nvSpPr>
        <p:spPr>
          <a:xfrm>
            <a:off x="8153400" y="2514600"/>
            <a:ext cx="285750" cy="342900"/>
          </a:xfrm>
          <a:prstGeom prst="rect">
            <a:avLst/>
          </a:prstGeom>
          <a:noFill/>
          <a:ln w="0">
            <a:noFill/>
            <a:prstDash val="solid"/>
          </a:ln>
        </p:spPr>
        <p:txBody>
          <a:bodyPr/>
          <a:lstStyle/>
          <a:p>
            <a:pPr algn="ctr">
              <a:buNone/>
              <a:defRPr sz="2100" b="1">
                <a:solidFill>
                  <a:srgbClr val="0B2A6F"/>
                </a:solidFill>
              </a:defRPr>
            </a:pPr>
            <a:r>
              <a:rPr sz="2100" b="1">
                <a:solidFill>
                  <a:srgbClr val="0B2A6F"/>
                </a:solidFill>
              </a:rPr>
              <a:t>5</a:t>
            </a:r>
          </a:p>
        </p:txBody>
      </p:sp>
      <p:sp>
        <p:nvSpPr>
          <p:cNvPr id="24" name="Rectangle 23">
            <a:extLst>
              <a:ext uri="{FF2B5EF4-FFF2-40B4-BE49-F238E27FC236}">
                <a16:creationId xmlns:a16="http://schemas.microsoft.com/office/drawing/2014/main" id="{76318A3F-586E-42B5-825E-70FEC0539F55}"/>
              </a:ext>
            </a:extLst>
          </p:cNvPr>
          <p:cNvSpPr>
            <a:spLocks noGrp="1"/>
          </p:cNvSpPr>
          <p:nvPr/>
        </p:nvSpPr>
        <p:spPr>
          <a:xfrm>
            <a:off x="7581900" y="3333750"/>
            <a:ext cx="1428750" cy="819150"/>
          </a:xfrm>
          <a:prstGeom prst="rect">
            <a:avLst/>
          </a:prstGeom>
          <a:noFill/>
          <a:ln w="0">
            <a:noFill/>
            <a:prstDash val="solid"/>
          </a:ln>
        </p:spPr>
        <p:txBody>
          <a:bodyPr/>
          <a:lstStyle/>
          <a:p>
            <a:pPr algn="ctr">
              <a:buNone/>
              <a:defRPr sz="1500" b="0">
                <a:solidFill>
                  <a:srgbClr val="020618"/>
                </a:solidFill>
              </a:defRPr>
            </a:pPr>
            <a:r>
              <a:rPr sz="1500" b="0">
                <a:solidFill>
                  <a:srgbClr val="020618"/>
                </a:solidFill>
              </a:rPr>
              <a:t>Lịch sử đăng ký</a:t>
            </a:r>
          </a:p>
        </p:txBody>
      </p:sp>
      <p:sp>
        <p:nvSpPr>
          <p:cNvPr id="25" name="Arrow: Right 24">
            <a:extLst>
              <a:ext uri="{FF2B5EF4-FFF2-40B4-BE49-F238E27FC236}">
                <a16:creationId xmlns:a16="http://schemas.microsoft.com/office/drawing/2014/main" id="{4413C8AF-D123-4EB3-9229-99D3BC6776C3}"/>
              </a:ext>
            </a:extLst>
          </p:cNvPr>
          <p:cNvSpPr>
            <a:spLocks noGrp="1"/>
          </p:cNvSpPr>
          <p:nvPr/>
        </p:nvSpPr>
        <p:spPr>
          <a:xfrm>
            <a:off x="8791575" y="2571750"/>
            <a:ext cx="552450" cy="323850"/>
          </a:xfrm>
          <a:prstGeom prst="rightArrow">
            <a:avLst/>
          </a:prstGeom>
          <a:solidFill>
            <a:srgbClr val="C9DAFF"/>
          </a:solidFill>
          <a:ln w="0">
            <a:solidFill>
              <a:srgbClr val="C9DAFF"/>
            </a:solidFill>
            <a:prstDash val="solid"/>
          </a:ln>
        </p:spPr>
      </p:sp>
      <p:sp>
        <p:nvSpPr>
          <p:cNvPr id="26" name="Oval 25">
            <a:extLst>
              <a:ext uri="{FF2B5EF4-FFF2-40B4-BE49-F238E27FC236}">
                <a16:creationId xmlns:a16="http://schemas.microsoft.com/office/drawing/2014/main" id="{10226F03-5A6C-4A8C-8E59-14351D7BEBD8}"/>
              </a:ext>
            </a:extLst>
          </p:cNvPr>
          <p:cNvSpPr>
            <a:spLocks noGrp="1"/>
          </p:cNvSpPr>
          <p:nvPr/>
        </p:nvSpPr>
        <p:spPr>
          <a:xfrm>
            <a:off x="9648825" y="2324100"/>
            <a:ext cx="819150" cy="819150"/>
          </a:xfrm>
          <a:prstGeom prst="ellipse">
            <a:avLst/>
          </a:prstGeom>
          <a:solidFill>
            <a:srgbClr val="FFFFFF"/>
          </a:solidFill>
          <a:ln w="9525">
            <a:solidFill>
              <a:srgbClr val="E2E8F0"/>
            </a:solidFill>
            <a:prstDash val="solid"/>
          </a:ln>
        </p:spPr>
      </p:sp>
      <p:sp>
        <p:nvSpPr>
          <p:cNvPr id="27" name="Rectangle 26">
            <a:extLst>
              <a:ext uri="{FF2B5EF4-FFF2-40B4-BE49-F238E27FC236}">
                <a16:creationId xmlns:a16="http://schemas.microsoft.com/office/drawing/2014/main" id="{BB5CBFDF-DCAB-4AE2-9D0E-E6033FB7450D}"/>
              </a:ext>
            </a:extLst>
          </p:cNvPr>
          <p:cNvSpPr>
            <a:spLocks noGrp="1"/>
          </p:cNvSpPr>
          <p:nvPr/>
        </p:nvSpPr>
        <p:spPr>
          <a:xfrm>
            <a:off x="9915525" y="2514600"/>
            <a:ext cx="285750" cy="342900"/>
          </a:xfrm>
          <a:prstGeom prst="rect">
            <a:avLst/>
          </a:prstGeom>
          <a:noFill/>
          <a:ln w="0">
            <a:noFill/>
            <a:prstDash val="solid"/>
          </a:ln>
        </p:spPr>
        <p:txBody>
          <a:bodyPr/>
          <a:lstStyle/>
          <a:p>
            <a:pPr algn="ctr">
              <a:buNone/>
              <a:defRPr sz="2100" b="1">
                <a:solidFill>
                  <a:srgbClr val="0B2A6F"/>
                </a:solidFill>
              </a:defRPr>
            </a:pPr>
            <a:r>
              <a:rPr sz="2100" b="1">
                <a:solidFill>
                  <a:srgbClr val="0B2A6F"/>
                </a:solidFill>
              </a:rPr>
              <a:t>6</a:t>
            </a:r>
          </a:p>
        </p:txBody>
      </p:sp>
      <p:sp>
        <p:nvSpPr>
          <p:cNvPr id="28" name="Rectangle 27">
            <a:extLst>
              <a:ext uri="{FF2B5EF4-FFF2-40B4-BE49-F238E27FC236}">
                <a16:creationId xmlns:a16="http://schemas.microsoft.com/office/drawing/2014/main" id="{61EDE631-47C2-406F-AA8D-EB8E5D0C614A}"/>
              </a:ext>
            </a:extLst>
          </p:cNvPr>
          <p:cNvSpPr>
            <a:spLocks noGrp="1"/>
          </p:cNvSpPr>
          <p:nvPr/>
        </p:nvSpPr>
        <p:spPr>
          <a:xfrm>
            <a:off x="9344025" y="3333750"/>
            <a:ext cx="1428750" cy="819150"/>
          </a:xfrm>
          <a:prstGeom prst="rect">
            <a:avLst/>
          </a:prstGeom>
          <a:noFill/>
          <a:ln w="0">
            <a:noFill/>
            <a:prstDash val="solid"/>
          </a:ln>
        </p:spPr>
        <p:txBody>
          <a:bodyPr/>
          <a:lstStyle/>
          <a:p>
            <a:pPr algn="ctr">
              <a:buNone/>
              <a:defRPr sz="1500" b="0">
                <a:solidFill>
                  <a:srgbClr val="020618"/>
                </a:solidFill>
              </a:defRPr>
            </a:pPr>
            <a:r>
              <a:rPr sz="1500" b="0">
                <a:solidFill>
                  <a:srgbClr val="020618"/>
                </a:solidFill>
              </a:rPr>
              <a:t>Export thời khóa biểu</a:t>
            </a:r>
          </a:p>
        </p:txBody>
      </p:sp>
    </p:spTree>
    <p:extLst>
      <p:ext uri="{BB962C8B-B14F-4D97-AF65-F5344CB8AC3E}">
        <p14:creationId xmlns:p14="http://schemas.microsoft.com/office/powerpoint/2010/main" val="14785236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2A6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6BC4F5E-504C-485E-B98C-6CAAB41539AE}"/>
              </a:ext>
            </a:extLst>
          </p:cNvPr>
          <p:cNvSpPr>
            <a:spLocks noGrp="1"/>
          </p:cNvSpPr>
          <p:nvPr/>
        </p:nvSpPr>
        <p:spPr>
          <a:xfrm>
            <a:off x="1047750" y="1809750"/>
            <a:ext cx="10096500" cy="762000"/>
          </a:xfrm>
          <a:prstGeom prst="rect">
            <a:avLst/>
          </a:prstGeom>
          <a:noFill/>
          <a:ln w="0">
            <a:noFill/>
            <a:prstDash val="solid"/>
          </a:ln>
        </p:spPr>
        <p:txBody>
          <a:bodyPr/>
          <a:lstStyle/>
          <a:p>
            <a:pPr algn="ctr">
              <a:buNone/>
              <a:defRPr sz="3750" b="1">
                <a:solidFill>
                  <a:srgbClr val="FFFFFF"/>
                </a:solidFill>
              </a:defRPr>
            </a:pPr>
            <a:r>
              <a:rPr sz="3750" b="1">
                <a:solidFill>
                  <a:srgbClr val="FFFFFF"/>
                </a:solidFill>
              </a:rPr>
              <a:t>Cảm ơn thầy và các bạn đã lắng nghe</a:t>
            </a:r>
          </a:p>
        </p:txBody>
      </p:sp>
      <p:sp>
        <p:nvSpPr>
          <p:cNvPr id="2" name="Rectangle 1">
            <a:extLst>
              <a:ext uri="{FF2B5EF4-FFF2-40B4-BE49-F238E27FC236}">
                <a16:creationId xmlns:a16="http://schemas.microsoft.com/office/drawing/2014/main" id="{8F265BB7-A2BE-48E6-92F9-F35273C970D3}"/>
              </a:ext>
            </a:extLst>
          </p:cNvPr>
          <p:cNvSpPr>
            <a:spLocks noGrp="1"/>
          </p:cNvSpPr>
          <p:nvPr/>
        </p:nvSpPr>
        <p:spPr>
          <a:xfrm>
            <a:off x="2000250" y="2857500"/>
            <a:ext cx="8191500" cy="381000"/>
          </a:xfrm>
          <a:prstGeom prst="rect">
            <a:avLst/>
          </a:prstGeom>
          <a:noFill/>
          <a:ln w="0">
            <a:noFill/>
            <a:prstDash val="solid"/>
          </a:ln>
        </p:spPr>
        <p:txBody>
          <a:bodyPr/>
          <a:lstStyle/>
          <a:p>
            <a:pPr algn="ctr">
              <a:buNone/>
              <a:defRPr sz="1950" b="0">
                <a:solidFill>
                  <a:srgbClr val="DBEAFE"/>
                </a:solidFill>
              </a:defRPr>
            </a:pPr>
            <a:r>
              <a:rPr sz="1950" b="0">
                <a:solidFill>
                  <a:srgbClr val="DBEAFE"/>
                </a:solidFill>
              </a:rPr>
              <a:t>Nhóm 2 | Hệ thống đăng ký môn học cho sinh viên</a:t>
            </a:r>
          </a:p>
        </p:txBody>
      </p:sp>
      <p:sp>
        <p:nvSpPr>
          <p:cNvPr id="3" name="Rectangle 2">
            <a:extLst>
              <a:ext uri="{FF2B5EF4-FFF2-40B4-BE49-F238E27FC236}">
                <a16:creationId xmlns:a16="http://schemas.microsoft.com/office/drawing/2014/main" id="{8F378C92-DEFA-4BDB-B4E4-D1E68C38A127}"/>
              </a:ext>
            </a:extLst>
          </p:cNvPr>
          <p:cNvSpPr>
            <a:spLocks noGrp="1"/>
          </p:cNvSpPr>
          <p:nvPr/>
        </p:nvSpPr>
        <p:spPr>
          <a:xfrm>
            <a:off x="5048250" y="4000500"/>
            <a:ext cx="2095500" cy="666750"/>
          </a:xfrm>
          <a:prstGeom prst="rect">
            <a:avLst/>
          </a:prstGeom>
          <a:noFill/>
          <a:ln w="0">
            <a:noFill/>
            <a:prstDash val="solid"/>
          </a:ln>
        </p:spPr>
        <p:txBody>
          <a:bodyPr/>
          <a:lstStyle/>
          <a:p>
            <a:pPr algn="ctr">
              <a:buNone/>
              <a:defRPr sz="4050" b="1">
                <a:solidFill>
                  <a:srgbClr val="FFFFFF"/>
                </a:solidFill>
              </a:defRPr>
            </a:pPr>
            <a:r>
              <a:rPr sz="4050" b="1">
                <a:solidFill>
                  <a:srgbClr val="FFFFFF"/>
                </a:solidFill>
              </a:rPr>
              <a:t>Q&amp;A</a:t>
            </a:r>
          </a:p>
        </p:txBody>
      </p:sp>
    </p:spTree>
    <p:extLst>
      <p:ext uri="{BB962C8B-B14F-4D97-AF65-F5344CB8AC3E}">
        <p14:creationId xmlns:p14="http://schemas.microsoft.com/office/powerpoint/2010/main" val="669919438"/>
      </p:ext>
    </p:extLst>
  </p:cSld>
  <p:clrMapOvr>
    <a:masterClrMapping/>
  </p:clrMapOvr>
</p:sld>
</file>

<file path=ppt/theme/theme1.xml><?xml version="1.0" encoding="utf-8"?>
<a:theme xmlns:a="http://schemas.openxmlformats.org/drawingml/2006/main" name="Phenikaa BTL">
  <a:themeElements>
    <a:clrScheme name="Phenikaa BTL">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Phenikaa BT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Phenikaa BTL">
  <a:themeElements>
    <a:clrScheme name="Phenikaa BTL">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Phenikaa BT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5130</Words>
  <Application>Microsoft Office PowerPoint</Application>
  <DocSecurity>0</DocSecurity>
  <PresentationFormat>Widescreen</PresentationFormat>
  <Paragraphs>657</Paragraphs>
  <Slides>28</Slides>
  <Notes>28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28</vt:i4>
      </vt:variant>
    </vt:vector>
  </HeadingPairs>
  <TitlesOfParts>
    <vt:vector size="30" baseType="lpstr">
      <vt:lpstr>Calibri</vt:lpstr>
      <vt:lpstr>Phenikaa BTL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NT Fong</cp:lastModifiedBy>
  <cp:revision>2</cp:revision>
  <dcterms:created xsi:type="dcterms:W3CDTF">2026-08-15T03:16:42Z</dcterms:created>
  <dcterms:modified xsi:type="dcterms:W3CDTF">2026-08-15T03:33:14Z</dcterms:modified>
</cp:coreProperties>
</file>